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Δσθ frontal (SD menos NS)</c:v>
                </c:pt>
              </c:strCache>
            </c:strRef>
          </c:tx>
          <c:invertIfNegative val="0"/>
          <c:dPt>
            <c:idx val="0"/>
            <c:spPr>
              <a:solidFill>
                <a:srgbClr val="3DD6F5"/>
              </a:solidFill>
              <a:ln>
                <a:noFill/>
              </a:ln>
            </c:spPr>
          </c:dPt>
          <c:dPt>
            <c:idx val="1"/>
            <c:spPr>
              <a:solidFill>
                <a:srgbClr val="3DD6F5"/>
              </a:solidFill>
              <a:ln>
                <a:noFill/>
              </a:ln>
            </c:spPr>
          </c:dPt>
          <c:dPt>
            <c:idx val="2"/>
            <c:spPr>
              <a:solidFill>
                <a:srgbClr val="3DD6F5"/>
              </a:solidFill>
              <a:ln>
                <a:noFill/>
              </a:ln>
            </c:spPr>
          </c:dPt>
          <c:dPt>
            <c:idx val="3"/>
            <c:spPr>
              <a:solidFill>
                <a:srgbClr val="3DD6F5"/>
              </a:solidFill>
              <a:ln>
                <a:noFill/>
              </a:ln>
            </c:spPr>
          </c:dPt>
          <c:dPt>
            <c:idx val="4"/>
            <c:spPr>
              <a:solidFill>
                <a:srgbClr val="3DD6F5"/>
              </a:solidFill>
              <a:ln>
                <a:noFill/>
              </a:ln>
            </c:spPr>
          </c:dPt>
          <c:dPt>
            <c:idx val="5"/>
            <c:spPr>
              <a:solidFill>
                <a:srgbClr val="3DD6F5"/>
              </a:solidFill>
              <a:ln>
                <a:noFill/>
              </a:ln>
            </c:spPr>
          </c:dPt>
          <c:dPt>
            <c:idx val="6"/>
            <c:spPr>
              <a:solidFill>
                <a:srgbClr val="3DD6F5"/>
              </a:solidFill>
              <a:ln>
                <a:noFill/>
              </a:ln>
            </c:spPr>
          </c:dPt>
          <c:dPt>
            <c:idx val="7"/>
            <c:spPr>
              <a:solidFill>
                <a:srgbClr val="3DD6F5"/>
              </a:solidFill>
              <a:ln>
                <a:noFill/>
              </a:ln>
            </c:spPr>
          </c:dPt>
          <c:dPt>
            <c:idx val="8"/>
            <c:spPr>
              <a:solidFill>
                <a:srgbClr val="3DD6F5"/>
              </a:solidFill>
              <a:ln>
                <a:noFill/>
              </a:ln>
            </c:spPr>
          </c:dPt>
          <c:dPt>
            <c:idx val="9"/>
            <c:spPr>
              <a:solidFill>
                <a:srgbClr val="3DD6F5"/>
              </a:solidFill>
              <a:ln>
                <a:noFill/>
              </a:ln>
            </c:spPr>
          </c:dPt>
          <c:dPt>
            <c:idx val="10"/>
            <c:spPr>
              <a:solidFill>
                <a:srgbClr val="3DD6F5"/>
              </a:solidFill>
              <a:ln>
                <a:noFill/>
              </a:ln>
            </c:spPr>
          </c:dPt>
          <c:dPt>
            <c:idx val="11"/>
            <c:spPr>
              <a:solidFill>
                <a:srgbClr val="3DD6F5"/>
              </a:solidFill>
              <a:ln>
                <a:noFill/>
              </a:ln>
            </c:spPr>
          </c:dPt>
          <c:dPt>
            <c:idx val="12"/>
            <c:spPr>
              <a:solidFill>
                <a:srgbClr val="3DD6F5"/>
              </a:solidFill>
              <a:ln>
                <a:noFill/>
              </a:ln>
            </c:spPr>
          </c:dPt>
          <c:dPt>
            <c:idx val="13"/>
            <c:spPr>
              <a:solidFill>
                <a:srgbClr val="3DD6F5"/>
              </a:solidFill>
              <a:ln>
                <a:noFill/>
              </a:ln>
            </c:spPr>
          </c:dPt>
          <c:dPt>
            <c:idx val="14"/>
            <c:spPr>
              <a:solidFill>
                <a:srgbClr val="3DD6F5"/>
              </a:solidFill>
              <a:ln>
                <a:noFill/>
              </a:ln>
            </c:spPr>
          </c:dPt>
          <c:dPt>
            <c:idx val="15"/>
            <c:spPr>
              <a:solidFill>
                <a:srgbClr val="3DD6F5"/>
              </a:solidFill>
              <a:ln>
                <a:noFill/>
              </a:ln>
            </c:spPr>
          </c:dPt>
          <c:dPt>
            <c:idx val="16"/>
            <c:spPr>
              <a:solidFill>
                <a:srgbClr val="3DD6F5"/>
              </a:solidFill>
              <a:ln>
                <a:noFill/>
              </a:ln>
            </c:spPr>
          </c:dPt>
          <c:dPt>
            <c:idx val="17"/>
            <c:spPr>
              <a:solidFill>
                <a:srgbClr val="3DD6F5"/>
              </a:solidFill>
              <a:ln>
                <a:noFill/>
              </a:ln>
            </c:spPr>
          </c:dPt>
          <c:dPt>
            <c:idx val="18"/>
            <c:spPr>
              <a:solidFill>
                <a:srgbClr val="3DD6F5"/>
              </a:solidFill>
              <a:ln>
                <a:noFill/>
              </a:ln>
            </c:spPr>
          </c:dPt>
          <c:dPt>
            <c:idx val="19"/>
            <c:spPr>
              <a:solidFill>
                <a:srgbClr val="3DD6F5"/>
              </a:solidFill>
              <a:ln>
                <a:noFill/>
              </a:ln>
            </c:spPr>
          </c:dPt>
          <c:dPt>
            <c:idx val="20"/>
            <c:spPr>
              <a:solidFill>
                <a:srgbClr val="3DD6F5"/>
              </a:solidFill>
              <a:ln>
                <a:noFill/>
              </a:ln>
            </c:spPr>
          </c:dPt>
          <c:dPt>
            <c:idx val="21"/>
            <c:spPr>
              <a:solidFill>
                <a:srgbClr val="3DD6F5"/>
              </a:solidFill>
              <a:ln>
                <a:noFill/>
              </a:ln>
            </c:spPr>
          </c:dPt>
          <c:dPt>
            <c:idx val="22"/>
            <c:spPr>
              <a:solidFill>
                <a:srgbClr val="3DD6F5"/>
              </a:solidFill>
              <a:ln>
                <a:noFill/>
              </a:ln>
            </c:spPr>
          </c:dPt>
          <c:dPt>
            <c:idx val="23"/>
            <c:spPr>
              <a:solidFill>
                <a:srgbClr val="3DD6F5"/>
              </a:solidFill>
              <a:ln>
                <a:noFill/>
              </a:ln>
            </c:spPr>
          </c:dPt>
          <c:dPt>
            <c:idx val="24"/>
            <c:spPr>
              <a:solidFill>
                <a:srgbClr val="3DD6F5"/>
              </a:solidFill>
              <a:ln>
                <a:noFill/>
              </a:ln>
            </c:spPr>
          </c:dPt>
          <c:dPt>
            <c:idx val="25"/>
            <c:spPr>
              <a:solidFill>
                <a:srgbClr val="3DD6F5"/>
              </a:solidFill>
              <a:ln>
                <a:noFill/>
              </a:ln>
            </c:spPr>
          </c:dPt>
          <c:dPt>
            <c:idx val="26"/>
            <c:spPr>
              <a:solidFill>
                <a:srgbClr val="3DD6F5"/>
              </a:solidFill>
              <a:ln>
                <a:noFill/>
              </a:ln>
            </c:spPr>
          </c:dPt>
          <c:dPt>
            <c:idx val="27"/>
            <c:spPr>
              <a:solidFill>
                <a:srgbClr val="3DD6F5"/>
              </a:solidFill>
              <a:ln>
                <a:noFill/>
              </a:ln>
            </c:spPr>
          </c:dPt>
          <c:dPt>
            <c:idx val="28"/>
            <c:spPr>
              <a:solidFill>
                <a:srgbClr val="3DD6F5"/>
              </a:solidFill>
              <a:ln>
                <a:noFill/>
              </a:ln>
            </c:spPr>
          </c:dPt>
          <c:dPt>
            <c:idx val="29"/>
            <c:spPr>
              <a:solidFill>
                <a:srgbClr val="FF5C8A"/>
              </a:solidFill>
              <a:ln>
                <a:noFill/>
              </a:ln>
            </c:spPr>
          </c:dPt>
          <c:dPt>
            <c:idx val="30"/>
            <c:spPr>
              <a:solidFill>
                <a:srgbClr val="FF5C8A"/>
              </a:solidFill>
              <a:ln>
                <a:noFill/>
              </a:ln>
            </c:spPr>
          </c:dPt>
          <c:dPt>
            <c:idx val="31"/>
            <c:spPr>
              <a:solidFill>
                <a:srgbClr val="FF5C8A"/>
              </a:solidFill>
              <a:ln>
                <a:noFill/>
              </a:ln>
            </c:spPr>
          </c:dPt>
          <c:dPt>
            <c:idx val="32"/>
            <c:spPr>
              <a:solidFill>
                <a:srgbClr val="FF5C8A"/>
              </a:solidFill>
              <a:ln>
                <a:noFill/>
              </a:ln>
            </c:spPr>
          </c:dPt>
          <c:dPt>
            <c:idx val="33"/>
            <c:spPr>
              <a:solidFill>
                <a:srgbClr val="FF5C8A"/>
              </a:solidFill>
              <a:ln>
                <a:noFill/>
              </a:ln>
            </c:spPr>
          </c:dPt>
          <c:dPt>
            <c:idx val="34"/>
            <c:spPr>
              <a:solidFill>
                <a:srgbClr val="FF5C8A"/>
              </a:solidFill>
              <a:ln>
                <a:noFill/>
              </a:ln>
            </c:spPr>
          </c:dPt>
          <c:dPt>
            <c:idx val="35"/>
            <c:spPr>
              <a:solidFill>
                <a:srgbClr val="FF5C8A"/>
              </a:solidFill>
              <a:ln>
                <a:noFill/>
              </a:ln>
            </c:spPr>
          </c:dPt>
          <c:dPt>
            <c:idx val="36"/>
            <c:spPr>
              <a:solidFill>
                <a:srgbClr val="FF5C8A"/>
              </a:solidFill>
              <a:ln>
                <a:noFill/>
              </a:ln>
            </c:spPr>
          </c:dPt>
          <c:dPt>
            <c:idx val="37"/>
            <c:spPr>
              <a:solidFill>
                <a:srgbClr val="FF5C8A"/>
              </a:solidFill>
              <a:ln>
                <a:noFill/>
              </a:ln>
            </c:spPr>
          </c:dPt>
          <c:dPt>
            <c:idx val="38"/>
            <c:spPr>
              <a:solidFill>
                <a:srgbClr val="FF5C8A"/>
              </a:solidFill>
              <a:ln>
                <a:noFill/>
              </a:ln>
            </c:spPr>
          </c:dPt>
          <c:dPt>
            <c:idx val="39"/>
            <c:spPr>
              <a:solidFill>
                <a:srgbClr val="FF5C8A"/>
              </a:solidFill>
              <a:ln>
                <a:noFill/>
              </a:ln>
            </c:spPr>
          </c:dPt>
          <c:dPt>
            <c:idx val="40"/>
            <c:spPr>
              <a:solidFill>
                <a:srgbClr val="FF5C8A"/>
              </a:solidFill>
              <a:ln>
                <a:noFill/>
              </a:ln>
            </c:spPr>
          </c:dPt>
          <c:dPt>
            <c:idx val="41"/>
            <c:spPr>
              <a:solidFill>
                <a:srgbClr val="FF5C8A"/>
              </a:solidFill>
              <a:ln>
                <a:noFill/>
              </a:ln>
            </c:spPr>
          </c:dPt>
          <c:dPt>
            <c:idx val="42"/>
            <c:spPr>
              <a:solidFill>
                <a:srgbClr val="FF5C8A"/>
              </a:solidFill>
              <a:ln>
                <a:noFill/>
              </a:ln>
            </c:spPr>
          </c:dPt>
          <c:dPt>
            <c:idx val="43"/>
            <c:spPr>
              <a:solidFill>
                <a:srgbClr val="FF5C8A"/>
              </a:solidFill>
              <a:ln>
                <a:noFill/>
              </a:ln>
            </c:spPr>
          </c:dPt>
          <c:dPt>
            <c:idx val="44"/>
            <c:spPr>
              <a:solidFill>
                <a:srgbClr val="FF5C8A"/>
              </a:solidFill>
              <a:ln>
                <a:noFill/>
              </a:ln>
            </c:spPr>
          </c:dPt>
          <c:dPt>
            <c:idx val="45"/>
            <c:spPr>
              <a:solidFill>
                <a:srgbClr val="FF5C8A"/>
              </a:solidFill>
              <a:ln>
                <a:noFill/>
              </a:ln>
            </c:spPr>
          </c:dPt>
          <c:dPt>
            <c:idx val="46"/>
            <c:spPr>
              <a:solidFill>
                <a:srgbClr val="FF5C8A"/>
              </a:solidFill>
              <a:ln>
                <a:noFill/>
              </a:ln>
            </c:spPr>
          </c:dPt>
          <c:dPt>
            <c:idx val="47"/>
            <c:spPr>
              <a:solidFill>
                <a:srgbClr val="FF5C8A"/>
              </a:solidFill>
              <a:ln>
                <a:noFill/>
              </a:ln>
            </c:spPr>
          </c:dPt>
          <c:dPt>
            <c:idx val="48"/>
            <c:spPr>
              <a:solidFill>
                <a:srgbClr val="FF5C8A"/>
              </a:solidFill>
              <a:ln>
                <a:noFill/>
              </a:ln>
            </c:spPr>
          </c:dPt>
          <c:dPt>
            <c:idx val="49"/>
            <c:spPr>
              <a:solidFill>
                <a:srgbClr val="FF5C8A"/>
              </a:solidFill>
              <a:ln>
                <a:noFill/>
              </a:ln>
            </c:spPr>
          </c:dPt>
          <c:dPt>
            <c:idx val="50"/>
            <c:spPr>
              <a:solidFill>
                <a:srgbClr val="FF5C8A"/>
              </a:solidFill>
              <a:ln>
                <a:noFill/>
              </a:ln>
            </c:spPr>
          </c:dPt>
          <c:dPt>
            <c:idx val="51"/>
            <c:spPr>
              <a:solidFill>
                <a:srgbClr val="FF5C8A"/>
              </a:solidFill>
              <a:ln>
                <a:noFill/>
              </a:ln>
            </c:spPr>
          </c:dPt>
          <c:dPt>
            <c:idx val="52"/>
            <c:spPr>
              <a:solidFill>
                <a:srgbClr val="FF5C8A"/>
              </a:solidFill>
              <a:ln>
                <a:noFill/>
              </a:ln>
            </c:spPr>
          </c:dPt>
          <c:dPt>
            <c:idx val="53"/>
            <c:spPr>
              <a:solidFill>
                <a:srgbClr val="FF5C8A"/>
              </a:solidFill>
              <a:ln>
                <a:noFill/>
              </a:ln>
            </c:spPr>
          </c:dPt>
          <c:dPt>
            <c:idx val="54"/>
            <c:spPr>
              <a:solidFill>
                <a:srgbClr val="FF5C8A"/>
              </a:solidFill>
              <a:ln>
                <a:noFill/>
              </a:ln>
            </c:spPr>
          </c:dPt>
          <c:dPt>
            <c:idx val="55"/>
            <c:spPr>
              <a:solidFill>
                <a:srgbClr val="FF5C8A"/>
              </a:solidFill>
              <a:ln>
                <a:noFill/>
              </a:ln>
            </c:spPr>
          </c:dPt>
          <c:dPt>
            <c:idx val="56"/>
            <c:spPr>
              <a:solidFill>
                <a:srgbClr val="FF5C8A"/>
              </a:solidFill>
              <a:ln>
                <a:noFill/>
              </a:ln>
            </c:spPr>
          </c:dPt>
          <c:dPt>
            <c:idx val="57"/>
            <c:spPr>
              <a:solidFill>
                <a:srgbClr val="FF5C8A"/>
              </a:solidFill>
              <a:ln>
                <a:noFill/>
              </a:ln>
            </c:spPr>
          </c:dPt>
          <c:dPt>
            <c:idx val="58"/>
            <c:spPr>
              <a:solidFill>
                <a:srgbClr val="FF5C8A"/>
              </a:solidFill>
              <a:ln>
                <a:noFill/>
              </a:ln>
            </c:spPr>
          </c:dPt>
          <c:dPt>
            <c:idx val="59"/>
            <c:spPr>
              <a:solidFill>
                <a:srgbClr val="FF5C8A"/>
              </a:solidFill>
              <a:ln>
                <a:noFill/>
              </a:ln>
            </c:spPr>
          </c:dPt>
          <c:dPt>
            <c:idx val="60"/>
            <c:spPr>
              <a:solidFill>
                <a:srgbClr val="FF5C8A"/>
              </a:solidFill>
              <a:ln>
                <a:noFill/>
              </a:ln>
            </c:spPr>
          </c:dPt>
          <c:dPt>
            <c:idx val="61"/>
            <c:spPr>
              <a:solidFill>
                <a:srgbClr val="FF5C8A"/>
              </a:solidFill>
              <a:ln>
                <a:noFill/>
              </a:ln>
            </c:spPr>
          </c:dPt>
          <c:dPt>
            <c:idx val="62"/>
            <c:spPr>
              <a:solidFill>
                <a:srgbClr val="FF5C8A"/>
              </a:solidFill>
              <a:ln>
                <a:noFill/>
              </a:ln>
            </c:spPr>
          </c:dPt>
          <c:dPt>
            <c:idx val="63"/>
            <c:spPr>
              <a:solidFill>
                <a:srgbClr val="FF5C8A"/>
              </a:solidFill>
              <a:ln>
                <a:noFill/>
              </a:ln>
            </c:spPr>
          </c:dPt>
          <c:dPt>
            <c:idx val="64"/>
            <c:spPr>
              <a:solidFill>
                <a:srgbClr val="FF5C8A"/>
              </a:solidFill>
              <a:ln>
                <a:noFill/>
              </a:ln>
            </c:spPr>
          </c:dPt>
          <c:dPt>
            <c:idx val="65"/>
            <c:spPr>
              <a:solidFill>
                <a:srgbClr val="FF5C8A"/>
              </a:solidFill>
              <a:ln>
                <a:noFill/>
              </a:ln>
            </c:spPr>
          </c:dPt>
          <c:dPt>
            <c:idx val="66"/>
            <c:spPr>
              <a:solidFill>
                <a:srgbClr val="FF5C8A"/>
              </a:solidFill>
              <a:ln>
                <a:noFill/>
              </a:ln>
            </c:spPr>
          </c:dPt>
          <c:dPt>
            <c:idx val="67"/>
            <c:spPr>
              <a:solidFill>
                <a:srgbClr val="FF5C8A"/>
              </a:solidFill>
              <a:ln>
                <a:noFill/>
              </a:ln>
            </c:spPr>
          </c:dPt>
          <c:cat>
            <c:strRef>
              <c:f>Sheet1!$A$2:$A$69</c:f>
              <c:strCache>
                <c:ptCount val="6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strCache>
            </c:strRef>
          </c:cat>
          <c:val>
            <c:numRef>
              <c:f>Sheet1!$B$2:$B$69</c:f>
              <c:numCache>
                <c:formatCode>General</c:formatCode>
                <c:ptCount val="68"/>
                <c:pt idx="0">
                  <c:v>-0.05526206701602929</c:v>
                </c:pt>
                <c:pt idx="1">
                  <c:v>-0.04655901453023721</c:v>
                </c:pt>
                <c:pt idx="2">
                  <c:v>-0.03288667976208293</c:v>
                </c:pt>
                <c:pt idx="3">
                  <c:v>-0.02728160492767212</c:v>
                </c:pt>
                <c:pt idx="4">
                  <c:v>-0.025215610874185113</c:v>
                </c:pt>
                <c:pt idx="5">
                  <c:v>-0.024922910747972107</c:v>
                </c:pt>
                <c:pt idx="6">
                  <c:v>-0.022380858026350647</c:v>
                </c:pt>
                <c:pt idx="7">
                  <c:v>-0.020227692782082432</c:v>
                </c:pt>
                <c:pt idx="8">
                  <c:v>-0.020090030852295174</c:v>
                </c:pt>
                <c:pt idx="9">
                  <c:v>-0.01854849144177572</c:v>
                </c:pt>
                <c:pt idx="10">
                  <c:v>-0.018209047268156364</c:v>
                </c:pt>
                <c:pt idx="11">
                  <c:v>-0.013828923023281092</c:v>
                </c:pt>
                <c:pt idx="12">
                  <c:v>-0.01279759735523825</c:v>
                </c:pt>
                <c:pt idx="13">
                  <c:v>-0.012726421066615312</c:v>
                </c:pt>
                <c:pt idx="14">
                  <c:v>-0.012200963271291027</c:v>
                </c:pt>
                <c:pt idx="15">
                  <c:v>-0.011656356789972733</c:v>
                </c:pt>
                <c:pt idx="16">
                  <c:v>-0.0115530207016106</c:v>
                </c:pt>
                <c:pt idx="17">
                  <c:v>-0.009025335712591363</c:v>
                </c:pt>
                <c:pt idx="18">
                  <c:v>-0.007047133195225375</c:v>
                </c:pt>
                <c:pt idx="19">
                  <c:v>-0.006211061918253942</c:v>
                </c:pt>
                <c:pt idx="20">
                  <c:v>-0.005520282522584019</c:v>
                </c:pt>
                <c:pt idx="21">
                  <c:v>-0.005510538097946979</c:v>
                </c:pt>
                <c:pt idx="22">
                  <c:v>-0.004053584921526229</c:v>
                </c:pt>
                <c:pt idx="23">
                  <c:v>-0.0037987877395379704</c:v>
                </c:pt>
                <c:pt idx="24">
                  <c:v>-0.0032698818083172904</c:v>
                </c:pt>
                <c:pt idx="25">
                  <c:v>-0.003071473690171231</c:v>
                </c:pt>
                <c:pt idx="26">
                  <c:v>-0.0027073569257081154</c:v>
                </c:pt>
                <c:pt idx="27">
                  <c:v>-0.0020380805962360304</c:v>
                </c:pt>
                <c:pt idx="28">
                  <c:v>-0.00018247472344423699</c:v>
                </c:pt>
                <c:pt idx="29">
                  <c:v>0.000610287664772155</c:v>
                </c:pt>
                <c:pt idx="30">
                  <c:v>0.0015529337205894972</c:v>
                </c:pt>
                <c:pt idx="31">
                  <c:v>0.0029448242394061602</c:v>
                </c:pt>
                <c:pt idx="32">
                  <c:v>0.0032421059413787062</c:v>
                </c:pt>
                <c:pt idx="33">
                  <c:v>0.003335583386060631</c:v>
                </c:pt>
                <c:pt idx="34">
                  <c:v>0.004048976547847222</c:v>
                </c:pt>
                <c:pt idx="35">
                  <c:v>0.004866831461820355</c:v>
                </c:pt>
                <c:pt idx="36">
                  <c:v>0.0048743431645546995</c:v>
                </c:pt>
                <c:pt idx="37">
                  <c:v>0.005457857202825808</c:v>
                </c:pt>
                <c:pt idx="38">
                  <c:v>0.005768784532142329</c:v>
                </c:pt>
                <c:pt idx="39">
                  <c:v>0.006008355008891769</c:v>
                </c:pt>
                <c:pt idx="40">
                  <c:v>0.006147624857638048</c:v>
                </c:pt>
                <c:pt idx="41">
                  <c:v>0.00695140667592474</c:v>
                </c:pt>
                <c:pt idx="42">
                  <c:v>0.007205865942458346</c:v>
                </c:pt>
                <c:pt idx="43">
                  <c:v>0.007348672563893113</c:v>
                </c:pt>
                <c:pt idx="44">
                  <c:v>0.007553481893321973</c:v>
                </c:pt>
                <c:pt idx="45">
                  <c:v>0.00903842126655667</c:v>
                </c:pt>
                <c:pt idx="46">
                  <c:v>0.011695451548489957</c:v>
                </c:pt>
                <c:pt idx="47">
                  <c:v>0.012404449848894064</c:v>
                </c:pt>
                <c:pt idx="48">
                  <c:v>0.01263003349051451</c:v>
                </c:pt>
                <c:pt idx="49">
                  <c:v>0.012993334024467555</c:v>
                </c:pt>
                <c:pt idx="50">
                  <c:v>0.01566328375382195</c:v>
                </c:pt>
                <c:pt idx="51">
                  <c:v>0.0167973662586718</c:v>
                </c:pt>
                <c:pt idx="52">
                  <c:v>0.017838941902341254</c:v>
                </c:pt>
                <c:pt idx="53">
                  <c:v>0.01800196048495184</c:v>
                </c:pt>
                <c:pt idx="54">
                  <c:v>0.018547029273044566</c:v>
                </c:pt>
                <c:pt idx="55">
                  <c:v>0.02168691438146994</c:v>
                </c:pt>
                <c:pt idx="56">
                  <c:v>0.022165998577916915</c:v>
                </c:pt>
                <c:pt idx="57">
                  <c:v>0.023433164056376507</c:v>
                </c:pt>
                <c:pt idx="58">
                  <c:v>0.026146236463970317</c:v>
                </c:pt>
                <c:pt idx="59">
                  <c:v>0.03368111491469558</c:v>
                </c:pt>
                <c:pt idx="60">
                  <c:v>0.0348385928620686</c:v>
                </c:pt>
                <c:pt idx="61">
                  <c:v>0.036847321889130404</c:v>
                </c:pt>
                <c:pt idx="62">
                  <c:v>0.03797183786393925</c:v>
                </c:pt>
                <c:pt idx="63">
                  <c:v>0.04057727751169125</c:v>
                </c:pt>
                <c:pt idx="64">
                  <c:v>0.041114159128319006</c:v>
                </c:pt>
                <c:pt idx="65">
                  <c:v>0.051640633136140146</c:v>
                </c:pt>
                <c:pt idx="66">
                  <c:v>0.06679993279844611</c:v>
                </c:pt>
                <c:pt idx="67">
                  <c:v>0.07113338349621269</c:v>
                </c:pt>
              </c:numCache>
            </c:numRef>
          </c:val>
        </c:ser>
        <c:gapWidth val="35"/>
        <c:axId val="-2068027336"/>
        <c:axId val="-2113994440"/>
      </c:barChart>
      <c:catAx>
        <c:axId val="-2068027336"/>
        <c:scaling>
          <c:orientation val="minMax"/>
        </c:scaling>
        <c:delete val="0"/>
        <c:axPos val="b"/>
        <c:majorTickMark val="none"/>
        <c:minorTickMark val="none"/>
        <c:tickLblPos val="none"/>
        <c:spPr>
          <a:ln w="9525">
            <a:solidFill>
              <a:srgbClr val="8C93A1"/>
            </a:solidFill>
          </a:ln>
        </c:spPr>
        <c:crossAx val="-2113994440"/>
        <c:crosses val="autoZero"/>
        <c:auto val="1"/>
        <c:lblAlgn val="ctr"/>
        <c:lblOffset val="100"/>
        <c:noMultiLvlLbl val="0"/>
      </c:catAx>
      <c:valAx>
        <c:axId val="-2113994440"/>
        <c:scaling>
          <c:max val="0.075"/>
          <c:min val="-0.06"/>
        </c:scaling>
        <c:delete/>
        <c:axPos val="l"/>
        <c:majorTickMark val="out"/>
        <c:minorTickMark val="none"/>
        <c:tickLblPos val="nextTo"/>
        <c:crossAx val="-2068027336"/>
        <c:crosses val="autoZero"/>
      </c:valAx>
    </c:plotArea>
    <c:dispBlanksAs val="gap"/>
  </c:chart>
  <c:spPr>
    <a:noFill/>
    <a:ln>
      <a:noFill/>
    </a:ln>
  </c:spPr>
  <c:txPr>
    <a:bodyPr/>
    <a:lstStyle/>
    <a:p>
      <a:pPr>
        <a:defRPr sz="10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NS</c:v>
                </c:pt>
              </c:strCache>
            </c:strRef>
          </c:tx>
          <c:spPr>
            <a:ln w="19050">
              <a:solidFill>
                <a:srgbClr val="3DD6F5"/>
              </a:solidFill>
            </a:ln>
          </c:spPr>
          <c:marker>
            <c:symbol val="none"/>
          </c:marker>
          <c:cat>
            <c:strRef>
              <c:f>Sheet1!$A$2:$A$76</c:f>
              <c:strCache>
                <c:ptCount val="75"/>
                <c:pt idx="0">
                  <c:v>0</c:v>
                </c:pt>
                <c:pt idx="1">
                  <c:v>4</c:v>
                </c:pt>
                <c:pt idx="2">
                  <c:v>8</c:v>
                </c:pt>
                <c:pt idx="3">
                  <c:v>12</c:v>
                </c:pt>
                <c:pt idx="4">
                  <c:v>16</c:v>
                </c:pt>
                <c:pt idx="5">
                  <c:v>20</c:v>
                </c:pt>
                <c:pt idx="6">
                  <c:v>24</c:v>
                </c:pt>
                <c:pt idx="7">
                  <c:v>28</c:v>
                </c:pt>
                <c:pt idx="8">
                  <c:v>32</c:v>
                </c:pt>
                <c:pt idx="9">
                  <c:v>36</c:v>
                </c:pt>
                <c:pt idx="10">
                  <c:v>40</c:v>
                </c:pt>
                <c:pt idx="11">
                  <c:v>44</c:v>
                </c:pt>
                <c:pt idx="12">
                  <c:v>48</c:v>
                </c:pt>
                <c:pt idx="13">
                  <c:v>52</c:v>
                </c:pt>
                <c:pt idx="14">
                  <c:v>56</c:v>
                </c:pt>
                <c:pt idx="15">
                  <c:v>60</c:v>
                </c:pt>
                <c:pt idx="16">
                  <c:v>64</c:v>
                </c:pt>
                <c:pt idx="17">
                  <c:v>68</c:v>
                </c:pt>
                <c:pt idx="18">
                  <c:v>72</c:v>
                </c:pt>
                <c:pt idx="19">
                  <c:v>76</c:v>
                </c:pt>
                <c:pt idx="20">
                  <c:v>80</c:v>
                </c:pt>
                <c:pt idx="21">
                  <c:v>84</c:v>
                </c:pt>
                <c:pt idx="22">
                  <c:v>88</c:v>
                </c:pt>
                <c:pt idx="23">
                  <c:v>92</c:v>
                </c:pt>
                <c:pt idx="24">
                  <c:v>96</c:v>
                </c:pt>
                <c:pt idx="25">
                  <c:v>100</c:v>
                </c:pt>
                <c:pt idx="26">
                  <c:v>104</c:v>
                </c:pt>
                <c:pt idx="27">
                  <c:v>108</c:v>
                </c:pt>
                <c:pt idx="28">
                  <c:v>112</c:v>
                </c:pt>
                <c:pt idx="29">
                  <c:v>116</c:v>
                </c:pt>
                <c:pt idx="30">
                  <c:v>120</c:v>
                </c:pt>
                <c:pt idx="31">
                  <c:v>124</c:v>
                </c:pt>
                <c:pt idx="32">
                  <c:v>128</c:v>
                </c:pt>
                <c:pt idx="33">
                  <c:v>132</c:v>
                </c:pt>
                <c:pt idx="34">
                  <c:v>136</c:v>
                </c:pt>
                <c:pt idx="35">
                  <c:v>140</c:v>
                </c:pt>
                <c:pt idx="36">
                  <c:v>144</c:v>
                </c:pt>
                <c:pt idx="37">
                  <c:v>148</c:v>
                </c:pt>
                <c:pt idx="38">
                  <c:v>152</c:v>
                </c:pt>
                <c:pt idx="39">
                  <c:v>156</c:v>
                </c:pt>
                <c:pt idx="40">
                  <c:v>160</c:v>
                </c:pt>
                <c:pt idx="41">
                  <c:v>164</c:v>
                </c:pt>
                <c:pt idx="42">
                  <c:v>168</c:v>
                </c:pt>
                <c:pt idx="43">
                  <c:v>172</c:v>
                </c:pt>
                <c:pt idx="44">
                  <c:v>176</c:v>
                </c:pt>
                <c:pt idx="45">
                  <c:v>180</c:v>
                </c:pt>
                <c:pt idx="46">
                  <c:v>184</c:v>
                </c:pt>
                <c:pt idx="47">
                  <c:v>188</c:v>
                </c:pt>
                <c:pt idx="48">
                  <c:v>192</c:v>
                </c:pt>
                <c:pt idx="49">
                  <c:v>196</c:v>
                </c:pt>
                <c:pt idx="50">
                  <c:v>200</c:v>
                </c:pt>
                <c:pt idx="51">
                  <c:v>204</c:v>
                </c:pt>
                <c:pt idx="52">
                  <c:v>208</c:v>
                </c:pt>
                <c:pt idx="53">
                  <c:v>212</c:v>
                </c:pt>
                <c:pt idx="54">
                  <c:v>216</c:v>
                </c:pt>
                <c:pt idx="55">
                  <c:v>220</c:v>
                </c:pt>
                <c:pt idx="56">
                  <c:v>224</c:v>
                </c:pt>
                <c:pt idx="57">
                  <c:v>228</c:v>
                </c:pt>
                <c:pt idx="58">
                  <c:v>232</c:v>
                </c:pt>
                <c:pt idx="59">
                  <c:v>236</c:v>
                </c:pt>
                <c:pt idx="60">
                  <c:v>240</c:v>
                </c:pt>
                <c:pt idx="61">
                  <c:v>244</c:v>
                </c:pt>
                <c:pt idx="62">
                  <c:v>248</c:v>
                </c:pt>
                <c:pt idx="63">
                  <c:v>252</c:v>
                </c:pt>
                <c:pt idx="64">
                  <c:v>256</c:v>
                </c:pt>
                <c:pt idx="65">
                  <c:v>260</c:v>
                </c:pt>
                <c:pt idx="66">
                  <c:v>264</c:v>
                </c:pt>
                <c:pt idx="67">
                  <c:v>268</c:v>
                </c:pt>
                <c:pt idx="68">
                  <c:v>272</c:v>
                </c:pt>
                <c:pt idx="69">
                  <c:v>276</c:v>
                </c:pt>
                <c:pt idx="70">
                  <c:v>280</c:v>
                </c:pt>
                <c:pt idx="71">
                  <c:v>284</c:v>
                </c:pt>
                <c:pt idx="72">
                  <c:v>288</c:v>
                </c:pt>
                <c:pt idx="73">
                  <c:v>292</c:v>
                </c:pt>
                <c:pt idx="74">
                  <c:v>296</c:v>
                </c:pt>
              </c:strCache>
            </c:strRef>
          </c:cat>
          <c:val>
            <c:numRef>
              <c:f>Sheet1!$B$2:$B$76</c:f>
              <c:numCache>
                <c:formatCode>General</c:formatCode>
                <c:ptCount val="75"/>
                <c:pt idx="0">
                  <c:v>0.15285</c:v>
                </c:pt>
                <c:pt idx="1">
                  <c:v>0.1663455882352941</c:v>
                </c:pt>
                <c:pt idx="2">
                  <c:v>0.15115588235294117</c:v>
                </c:pt>
                <c:pt idx="3">
                  <c:v>0.1608529411764706</c:v>
                </c:pt>
                <c:pt idx="4">
                  <c:v>0.17421911764705883</c:v>
                </c:pt>
                <c:pt idx="5">
                  <c:v>0.16512058823529413</c:v>
                </c:pt>
                <c:pt idx="6">
                  <c:v>0.16492794117647058</c:v>
                </c:pt>
                <c:pt idx="7">
                  <c:v>0.16625588235294117</c:v>
                </c:pt>
                <c:pt idx="8">
                  <c:v>0.16235588235294118</c:v>
                </c:pt>
                <c:pt idx="9">
                  <c:v>0.17299558823529412</c:v>
                </c:pt>
                <c:pt idx="10">
                  <c:v>0.16369411764705882</c:v>
                </c:pt>
                <c:pt idx="11">
                  <c:v>0.15851029411764705</c:v>
                </c:pt>
                <c:pt idx="12">
                  <c:v>0.17163235294117646</c:v>
                </c:pt>
                <c:pt idx="13">
                  <c:v>0.1613</c:v>
                </c:pt>
                <c:pt idx="14">
                  <c:v>0.1620264705882353</c:v>
                </c:pt>
                <c:pt idx="15">
                  <c:v>0.1613014705882353</c:v>
                </c:pt>
                <c:pt idx="16">
                  <c:v>0.1580279411764706</c:v>
                </c:pt>
                <c:pt idx="17">
                  <c:v>0.16263382352941178</c:v>
                </c:pt>
                <c:pt idx="18">
                  <c:v>0.1715</c:v>
                </c:pt>
                <c:pt idx="19">
                  <c:v>0.17122058823529412</c:v>
                </c:pt>
                <c:pt idx="20">
                  <c:v>0.16351029411764706</c:v>
                </c:pt>
                <c:pt idx="21">
                  <c:v>0.1534720588235294</c:v>
                </c:pt>
                <c:pt idx="22">
                  <c:v>0.16665882352941178</c:v>
                </c:pt>
                <c:pt idx="23">
                  <c:v>0.17299705882352942</c:v>
                </c:pt>
                <c:pt idx="24">
                  <c:v>0.16551029411764706</c:v>
                </c:pt>
                <c:pt idx="25">
                  <c:v>0.15958529411764705</c:v>
                </c:pt>
                <c:pt idx="26">
                  <c:v>0.18682058823529413</c:v>
                </c:pt>
                <c:pt idx="27">
                  <c:v>0.15207058823529412</c:v>
                </c:pt>
                <c:pt idx="28">
                  <c:v>0.15839999999999999</c:v>
                </c:pt>
                <c:pt idx="29">
                  <c:v>0.16586029411764705</c:v>
                </c:pt>
                <c:pt idx="30">
                  <c:v>0.15138970588235293</c:v>
                </c:pt>
                <c:pt idx="31">
                  <c:v>0.1526735294117647</c:v>
                </c:pt>
                <c:pt idx="32">
                  <c:v>0.1473764705882353</c:v>
                </c:pt>
                <c:pt idx="33">
                  <c:v>0.15505735294117648</c:v>
                </c:pt>
                <c:pt idx="34">
                  <c:v>0.16288235294117648</c:v>
                </c:pt>
                <c:pt idx="35">
                  <c:v>0.15639852941176471</c:v>
                </c:pt>
                <c:pt idx="36">
                  <c:v>0.15143235294117646</c:v>
                </c:pt>
                <c:pt idx="37">
                  <c:v>0.1582779411764706</c:v>
                </c:pt>
                <c:pt idx="38">
                  <c:v>0.1608514705882353</c:v>
                </c:pt>
                <c:pt idx="39">
                  <c:v>0.16408529411764705</c:v>
                </c:pt>
                <c:pt idx="40">
                  <c:v>0.16296029411764706</c:v>
                </c:pt>
                <c:pt idx="41">
                  <c:v>0.1603058823529412</c:v>
                </c:pt>
                <c:pt idx="42">
                  <c:v>0.15624117647058824</c:v>
                </c:pt>
                <c:pt idx="43">
                  <c:v>0.16070882352941177</c:v>
                </c:pt>
                <c:pt idx="44">
                  <c:v>0.15858382352941178</c:v>
                </c:pt>
                <c:pt idx="45">
                  <c:v>0.15074558823529413</c:v>
                </c:pt>
                <c:pt idx="46">
                  <c:v>0.14580882352941177</c:v>
                </c:pt>
                <c:pt idx="47">
                  <c:v>0.15653676470588235</c:v>
                </c:pt>
                <c:pt idx="48">
                  <c:v>0.16368382352941177</c:v>
                </c:pt>
                <c:pt idx="49">
                  <c:v>0.15059411764705882</c:v>
                </c:pt>
                <c:pt idx="50">
                  <c:v>0.15013529411764706</c:v>
                </c:pt>
                <c:pt idx="51">
                  <c:v>0.14514117647058825</c:v>
                </c:pt>
                <c:pt idx="52">
                  <c:v>0.1492029411764706</c:v>
                </c:pt>
                <c:pt idx="53">
                  <c:v>0.1515044117647059</c:v>
                </c:pt>
                <c:pt idx="54">
                  <c:v>0.15009705882352942</c:v>
                </c:pt>
                <c:pt idx="55">
                  <c:v>0.14005</c:v>
                </c:pt>
                <c:pt idx="56">
                  <c:v>0.14378382352941177</c:v>
                </c:pt>
                <c:pt idx="57">
                  <c:v>0.15441911764705882</c:v>
                </c:pt>
                <c:pt idx="58">
                  <c:v>0.14723088235294118</c:v>
                </c:pt>
                <c:pt idx="59">
                  <c:v>0.14790597014925375</c:v>
                </c:pt>
                <c:pt idx="60">
                  <c:v>0.15136119402985074</c:v>
                </c:pt>
                <c:pt idx="61">
                  <c:v>0.14535373134328358</c:v>
                </c:pt>
                <c:pt idx="62">
                  <c:v>0.14906363636363637</c:v>
                </c:pt>
                <c:pt idx="63">
                  <c:v>0.14370757575757576</c:v>
                </c:pt>
                <c:pt idx="64">
                  <c:v>0.14201666666666668</c:v>
                </c:pt>
                <c:pt idx="65">
                  <c:v>0.16128787878787879</c:v>
                </c:pt>
                <c:pt idx="66">
                  <c:v>0.15596212121212122</c:v>
                </c:pt>
                <c:pt idx="67">
                  <c:v>0.16280454545454545</c:v>
                </c:pt>
                <c:pt idx="68">
                  <c:v>0.15280151515151516</c:v>
                </c:pt>
                <c:pt idx="69">
                  <c:v>0.14923636363636364</c:v>
                </c:pt>
                <c:pt idx="70">
                  <c:v>0.14392121212121212</c:v>
                </c:pt>
                <c:pt idx="71">
                  <c:v>0.14155454545454546</c:v>
                </c:pt>
                <c:pt idx="72">
                  <c:v>0.1418646153846154</c:v>
                </c:pt>
                <c:pt idx="73">
                  <c:v>0.14675538461538462</c:v>
                </c:pt>
                <c:pt idx="74">
                  <c:v>0.14248</c:v>
                </c:pt>
              </c:numCache>
            </c:numRef>
          </c:val>
          <c:smooth val="0"/>
        </c:ser>
        <c:ser>
          <c:idx val="1"/>
          <c:order val="1"/>
          <c:tx>
            <c:strRef>
              <c:f>Sheet1!$C$1</c:f>
              <c:strCache>
                <c:ptCount val="1"/>
                <c:pt idx="0">
                  <c:v>SD</c:v>
                </c:pt>
              </c:strCache>
            </c:strRef>
          </c:tx>
          <c:spPr>
            <a:ln w="19050">
              <a:solidFill>
                <a:srgbClr val="FF5C8A"/>
              </a:solidFill>
            </a:ln>
          </c:spPr>
          <c:marker>
            <c:symbol val="none"/>
          </c:marker>
          <c:cat>
            <c:strRef>
              <c:f>Sheet1!$A$2:$A$76</c:f>
              <c:strCache>
                <c:ptCount val="75"/>
                <c:pt idx="0">
                  <c:v>0</c:v>
                </c:pt>
                <c:pt idx="1">
                  <c:v>4</c:v>
                </c:pt>
                <c:pt idx="2">
                  <c:v>8</c:v>
                </c:pt>
                <c:pt idx="3">
                  <c:v>12</c:v>
                </c:pt>
                <c:pt idx="4">
                  <c:v>16</c:v>
                </c:pt>
                <c:pt idx="5">
                  <c:v>20</c:v>
                </c:pt>
                <c:pt idx="6">
                  <c:v>24</c:v>
                </c:pt>
                <c:pt idx="7">
                  <c:v>28</c:v>
                </c:pt>
                <c:pt idx="8">
                  <c:v>32</c:v>
                </c:pt>
                <c:pt idx="9">
                  <c:v>36</c:v>
                </c:pt>
                <c:pt idx="10">
                  <c:v>40</c:v>
                </c:pt>
                <c:pt idx="11">
                  <c:v>44</c:v>
                </c:pt>
                <c:pt idx="12">
                  <c:v>48</c:v>
                </c:pt>
                <c:pt idx="13">
                  <c:v>52</c:v>
                </c:pt>
                <c:pt idx="14">
                  <c:v>56</c:v>
                </c:pt>
                <c:pt idx="15">
                  <c:v>60</c:v>
                </c:pt>
                <c:pt idx="16">
                  <c:v>64</c:v>
                </c:pt>
                <c:pt idx="17">
                  <c:v>68</c:v>
                </c:pt>
                <c:pt idx="18">
                  <c:v>72</c:v>
                </c:pt>
                <c:pt idx="19">
                  <c:v>76</c:v>
                </c:pt>
                <c:pt idx="20">
                  <c:v>80</c:v>
                </c:pt>
                <c:pt idx="21">
                  <c:v>84</c:v>
                </c:pt>
                <c:pt idx="22">
                  <c:v>88</c:v>
                </c:pt>
                <c:pt idx="23">
                  <c:v>92</c:v>
                </c:pt>
                <c:pt idx="24">
                  <c:v>96</c:v>
                </c:pt>
                <c:pt idx="25">
                  <c:v>100</c:v>
                </c:pt>
                <c:pt idx="26">
                  <c:v>104</c:v>
                </c:pt>
                <c:pt idx="27">
                  <c:v>108</c:v>
                </c:pt>
                <c:pt idx="28">
                  <c:v>112</c:v>
                </c:pt>
                <c:pt idx="29">
                  <c:v>116</c:v>
                </c:pt>
                <c:pt idx="30">
                  <c:v>120</c:v>
                </c:pt>
                <c:pt idx="31">
                  <c:v>124</c:v>
                </c:pt>
                <c:pt idx="32">
                  <c:v>128</c:v>
                </c:pt>
                <c:pt idx="33">
                  <c:v>132</c:v>
                </c:pt>
                <c:pt idx="34">
                  <c:v>136</c:v>
                </c:pt>
                <c:pt idx="35">
                  <c:v>140</c:v>
                </c:pt>
                <c:pt idx="36">
                  <c:v>144</c:v>
                </c:pt>
                <c:pt idx="37">
                  <c:v>148</c:v>
                </c:pt>
                <c:pt idx="38">
                  <c:v>152</c:v>
                </c:pt>
                <c:pt idx="39">
                  <c:v>156</c:v>
                </c:pt>
                <c:pt idx="40">
                  <c:v>160</c:v>
                </c:pt>
                <c:pt idx="41">
                  <c:v>164</c:v>
                </c:pt>
                <c:pt idx="42">
                  <c:v>168</c:v>
                </c:pt>
                <c:pt idx="43">
                  <c:v>172</c:v>
                </c:pt>
                <c:pt idx="44">
                  <c:v>176</c:v>
                </c:pt>
                <c:pt idx="45">
                  <c:v>180</c:v>
                </c:pt>
                <c:pt idx="46">
                  <c:v>184</c:v>
                </c:pt>
                <c:pt idx="47">
                  <c:v>188</c:v>
                </c:pt>
                <c:pt idx="48">
                  <c:v>192</c:v>
                </c:pt>
                <c:pt idx="49">
                  <c:v>196</c:v>
                </c:pt>
                <c:pt idx="50">
                  <c:v>200</c:v>
                </c:pt>
                <c:pt idx="51">
                  <c:v>204</c:v>
                </c:pt>
                <c:pt idx="52">
                  <c:v>208</c:v>
                </c:pt>
                <c:pt idx="53">
                  <c:v>212</c:v>
                </c:pt>
                <c:pt idx="54">
                  <c:v>216</c:v>
                </c:pt>
                <c:pt idx="55">
                  <c:v>220</c:v>
                </c:pt>
                <c:pt idx="56">
                  <c:v>224</c:v>
                </c:pt>
                <c:pt idx="57">
                  <c:v>228</c:v>
                </c:pt>
                <c:pt idx="58">
                  <c:v>232</c:v>
                </c:pt>
                <c:pt idx="59">
                  <c:v>236</c:v>
                </c:pt>
                <c:pt idx="60">
                  <c:v>240</c:v>
                </c:pt>
                <c:pt idx="61">
                  <c:v>244</c:v>
                </c:pt>
                <c:pt idx="62">
                  <c:v>248</c:v>
                </c:pt>
                <c:pt idx="63">
                  <c:v>252</c:v>
                </c:pt>
                <c:pt idx="64">
                  <c:v>256</c:v>
                </c:pt>
                <c:pt idx="65">
                  <c:v>260</c:v>
                </c:pt>
                <c:pt idx="66">
                  <c:v>264</c:v>
                </c:pt>
                <c:pt idx="67">
                  <c:v>268</c:v>
                </c:pt>
                <c:pt idx="68">
                  <c:v>272</c:v>
                </c:pt>
                <c:pt idx="69">
                  <c:v>276</c:v>
                </c:pt>
                <c:pt idx="70">
                  <c:v>280</c:v>
                </c:pt>
                <c:pt idx="71">
                  <c:v>284</c:v>
                </c:pt>
                <c:pt idx="72">
                  <c:v>288</c:v>
                </c:pt>
                <c:pt idx="73">
                  <c:v>292</c:v>
                </c:pt>
                <c:pt idx="74">
                  <c:v>296</c:v>
                </c:pt>
              </c:strCache>
            </c:strRef>
          </c:cat>
          <c:val>
            <c:numRef>
              <c:f>Sheet1!$C$2:$C$76</c:f>
              <c:numCache>
                <c:formatCode>General</c:formatCode>
                <c:ptCount val="75"/>
                <c:pt idx="0">
                  <c:v>0.15062794117647058</c:v>
                </c:pt>
                <c:pt idx="1">
                  <c:v>0.1590514705882353</c:v>
                </c:pt>
                <c:pt idx="2">
                  <c:v>0.16233676470588235</c:v>
                </c:pt>
                <c:pt idx="3">
                  <c:v>0.17193382352941178</c:v>
                </c:pt>
                <c:pt idx="4">
                  <c:v>0.1657720588235294</c:v>
                </c:pt>
                <c:pt idx="5">
                  <c:v>0.16428676470588235</c:v>
                </c:pt>
                <c:pt idx="6">
                  <c:v>0.1608235294117647</c:v>
                </c:pt>
                <c:pt idx="7">
                  <c:v>0.1545485294117647</c:v>
                </c:pt>
                <c:pt idx="8">
                  <c:v>0.16684411764705884</c:v>
                </c:pt>
                <c:pt idx="9">
                  <c:v>0.1625014705882353</c:v>
                </c:pt>
                <c:pt idx="10">
                  <c:v>0.17197205882352942</c:v>
                </c:pt>
                <c:pt idx="11">
                  <c:v>0.17706470588235293</c:v>
                </c:pt>
                <c:pt idx="12">
                  <c:v>0.1870044117647059</c:v>
                </c:pt>
                <c:pt idx="13">
                  <c:v>0.16217794117647058</c:v>
                </c:pt>
                <c:pt idx="14">
                  <c:v>0.17095</c:v>
                </c:pt>
                <c:pt idx="15">
                  <c:v>0.17243676470588234</c:v>
                </c:pt>
                <c:pt idx="16">
                  <c:v>0.16191029411764707</c:v>
                </c:pt>
                <c:pt idx="17">
                  <c:v>0.16745441176470588</c:v>
                </c:pt>
                <c:pt idx="18">
                  <c:v>0.1686029411764706</c:v>
                </c:pt>
                <c:pt idx="19">
                  <c:v>0.17647941176470588</c:v>
                </c:pt>
                <c:pt idx="20">
                  <c:v>0.17053088235294117</c:v>
                </c:pt>
                <c:pt idx="21">
                  <c:v>0.16171176470588236</c:v>
                </c:pt>
                <c:pt idx="22">
                  <c:v>0.15958529411764705</c:v>
                </c:pt>
                <c:pt idx="23">
                  <c:v>0.17174117647058823</c:v>
                </c:pt>
                <c:pt idx="24">
                  <c:v>0.15018676470588235</c:v>
                </c:pt>
                <c:pt idx="25">
                  <c:v>0.15307058823529412</c:v>
                </c:pt>
                <c:pt idx="26">
                  <c:v>0.16670147058823528</c:v>
                </c:pt>
                <c:pt idx="27">
                  <c:v>0.15381323529411764</c:v>
                </c:pt>
                <c:pt idx="28">
                  <c:v>0.15184852941176472</c:v>
                </c:pt>
                <c:pt idx="29">
                  <c:v>0.15997058823529411</c:v>
                </c:pt>
                <c:pt idx="30">
                  <c:v>0.18220882352941176</c:v>
                </c:pt>
                <c:pt idx="31">
                  <c:v>0.15928529411764705</c:v>
                </c:pt>
                <c:pt idx="32">
                  <c:v>0.17565</c:v>
                </c:pt>
                <c:pt idx="33">
                  <c:v>0.16659117647058824</c:v>
                </c:pt>
                <c:pt idx="34">
                  <c:v>0.16441911764705883</c:v>
                </c:pt>
                <c:pt idx="35">
                  <c:v>0.15186617647058823</c:v>
                </c:pt>
                <c:pt idx="36">
                  <c:v>0.1615294117647059</c:v>
                </c:pt>
                <c:pt idx="37">
                  <c:v>0.17527500000000001</c:v>
                </c:pt>
                <c:pt idx="38">
                  <c:v>0.1705764705882353</c:v>
                </c:pt>
                <c:pt idx="39">
                  <c:v>0.15987941176470588</c:v>
                </c:pt>
                <c:pt idx="40">
                  <c:v>0.15291176470588236</c:v>
                </c:pt>
                <c:pt idx="41">
                  <c:v>0.17709264705882352</c:v>
                </c:pt>
                <c:pt idx="42">
                  <c:v>0.15860441176470588</c:v>
                </c:pt>
                <c:pt idx="43">
                  <c:v>0.16495588235294117</c:v>
                </c:pt>
                <c:pt idx="44">
                  <c:v>0.15487647058823528</c:v>
                </c:pt>
                <c:pt idx="45">
                  <c:v>0.15007647058823528</c:v>
                </c:pt>
                <c:pt idx="46">
                  <c:v>0.1662985294117647</c:v>
                </c:pt>
                <c:pt idx="47">
                  <c:v>0.1499294117647059</c:v>
                </c:pt>
                <c:pt idx="48">
                  <c:v>0.1641029411764706</c:v>
                </c:pt>
                <c:pt idx="49">
                  <c:v>0.16826764705882352</c:v>
                </c:pt>
                <c:pt idx="50">
                  <c:v>0.15871764705882352</c:v>
                </c:pt>
                <c:pt idx="51">
                  <c:v>0.15665294117647058</c:v>
                </c:pt>
                <c:pt idx="52">
                  <c:v>0.13869264705882353</c:v>
                </c:pt>
                <c:pt idx="53">
                  <c:v>0.1542529411764706</c:v>
                </c:pt>
                <c:pt idx="54">
                  <c:v>0.16988823529411765</c:v>
                </c:pt>
                <c:pt idx="55">
                  <c:v>0.160725</c:v>
                </c:pt>
                <c:pt idx="56">
                  <c:v>0.1600044117647059</c:v>
                </c:pt>
                <c:pt idx="57">
                  <c:v>0.15535735294117647</c:v>
                </c:pt>
                <c:pt idx="58">
                  <c:v>0.15187058823529412</c:v>
                </c:pt>
                <c:pt idx="59">
                  <c:v>0.16131176470588235</c:v>
                </c:pt>
                <c:pt idx="60">
                  <c:v>0.15636176470588234</c:v>
                </c:pt>
                <c:pt idx="61">
                  <c:v>0.1460970588235294</c:v>
                </c:pt>
                <c:pt idx="62">
                  <c:v>0.1638686567164179</c:v>
                </c:pt>
                <c:pt idx="63">
                  <c:v>0.1520955223880597</c:v>
                </c:pt>
                <c:pt idx="64">
                  <c:v>0.15265373134328358</c:v>
                </c:pt>
                <c:pt idx="65">
                  <c:v>0.16539253731343284</c:v>
                </c:pt>
                <c:pt idx="66">
                  <c:v>0.15199545454545454</c:v>
                </c:pt>
                <c:pt idx="67">
                  <c:v>0.1685469696969697</c:v>
                </c:pt>
                <c:pt idx="68">
                  <c:v>0.17062575757575757</c:v>
                </c:pt>
                <c:pt idx="69">
                  <c:v>0.15468333333333334</c:v>
                </c:pt>
                <c:pt idx="70">
                  <c:v>0.15522461538461538</c:v>
                </c:pt>
                <c:pt idx="71">
                  <c:v>0.15418615384615383</c:v>
                </c:pt>
                <c:pt idx="72">
                  <c:v>0.156415625</c:v>
                </c:pt>
                <c:pt idx="73">
                  <c:v>0.1618111111111111</c:v>
                </c:pt>
                <c:pt idx="74">
                  <c:v>0.15913492063492063</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a:solidFill>
              <a:srgbClr val="4A5160"/>
            </a:solidFill>
          </a:ln>
        </c:spPr>
        <c:crossAx val="2140495176"/>
        <c:crosses val="autoZero"/>
        <c:auto val="1"/>
        <c:lblAlgn val="ctr"/>
        <c:lblOffset val="100"/>
        <c:tickLblSkip val="15"/>
        <c:tickMarkSkip val="15"/>
        <c:noMultiLvlLbl val="0"/>
      </c:catAx>
      <c:valAx>
        <c:axId val="2140495176"/>
        <c:scaling>
          <c:max val="0.19"/>
          <c:min val="0.13"/>
        </c:scaling>
        <c:delete val="0"/>
        <c:axPos val="l"/>
        <c:majorGridlines>
          <c:spPr>
            <a:ln w="6350">
              <a:solidFill>
                <a:srgbClr val="2B3140"/>
              </a:solidFill>
            </a:ln>
          </c:spPr>
        </c:majorGridlines>
        <c:numFmt formatCode="0.00" sourceLinked="0"/>
        <c:majorTickMark val="none"/>
        <c:minorTickMark val="none"/>
        <c:tickLblPos val="nextTo"/>
        <c:spPr>
          <a:ln>
            <a:noFill/>
          </a:ln>
        </c:spPr>
        <c:crossAx val="2118791784"/>
        <c:crosses val="autoZero"/>
        <c:majorUnit val="0.02"/>
      </c:valAx>
    </c:plotArea>
    <c:plotVisOnly val="1"/>
    <c:dispBlanksAs val="gap"/>
    <c:showDLblsOverMax val="0"/>
  </c:chart>
  <c:spPr>
    <a:noFill/>
    <a:ln>
      <a:noFill/>
    </a:ln>
  </c:spPr>
  <c:txPr>
    <a:bodyPr/>
    <a:lstStyle/>
    <a:p>
      <a:pPr>
        <a:defRPr sz="1000">
          <a:solidFill>
            <a:srgbClr val="8C93A1"/>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PE"/>
              <a:t>Buenos días. Somos BATIMIX: Jimena Gurbillon, Andrea Coa y Paolo Medrano, del curso DS5343 de Visualización de Datos. Nuestro proyecto estudia qué le pasa al EEG en reposo de una persona después de una noche sin dormir. El título resume la idea central: la privación de sueño no le pasa igual a todos. Desde ahora, el morado siempre significa sueño normal y el coral, privación de sueño. Mostraremos el prototipo, cuatro hallazgos, el multiverso y el plan final.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PE"/>
              <a:t>El punto de partida es un hecho conocido: ante la misma privación de sueño, unas personas se deterioran mucho y otras casi nada, y esa vulnerabilidad es estable en el tiempo, como mostraron Van Dongen y colegas en 2004. Nos preguntamos si el ritmo theta del EEG en reposo refleja esa diferencia. Nuestra audiencia es un investigador en fisiología del sueño que explora datos públicos antes de diseñar un estudio: la herramienta le ayuda a decidir qué electrodos, regiones y covariables merecen una prueba formal.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PE"/>
              <a:t>Usamos el dataset público ds004902 de OpenNeuro, de Xiang y colegas, con licencia CC0. Cada persona tiene cinco minutos de EEG en reposo con ojos abiertos, una vez tras dormir normal y otra tras 24 a 30 horas sin dormir. De 71 participantes, 68 tienen EEG pareado; la conducta está incompleta: PVT en 30, KSS en 32, SSS en 33 y PANAS en 65. Calculamos la theta relativa en cada época de 4 segundos, su desviación estándar entre 75 épocas y el cambio, SD menos 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PE"/>
              <a:t>En la revisión de diseño de la Semana 10 el profesor pidió cinco cosas: ningún espacio en blanco, una sola vista, sin animaciones, sin ruido visual y sin textos solapados. La versión final responde punto por punto. Un único header reúne el título y todos los controles: región, métrica, grupo, eje Y, Limpiar y Acerca de. Debajo, cuatro paneles pegados, separados por líneas de un píxel; el título de cada panel es su hallazgo, y la introducción y el método viven en Acerca de. Todo cabe en 1365 por 768.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PE"/>
              <a:t>Cada panel responde tareas explícitas, según la tipología de Brehmer y Munzner. La matriz de mapas, con columnas NS, SD y Δ y filas σθ y μθ, sirve para localizar el cambio y comparar las dos métricas. La dispersión identifica vulnerables con el cuadrante, el lazo y la franja de las 68 personas, y correlaciona con el marcador del eje Y, con el n visible. Con dos clics, la matriz compara a las personas A y B. El selector de grupo filtra por moderadores y el multiverso verifica la robustez.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PE"/>
              <a:t>Los títulos de los paneles responden cinco preguntas; aquí van las tres primeras. ¿Todos cambian igual? No: sin dormir, 39 personas se vuelven más inestables en theta frontal y 29 más estables, y el promedio apenas sube. ¿Dónde cambia? Solo 4 de 61 electrodos tienen p menor que 0.05 sin corregir y ninguno sobrevive la corrección FDR: el cambio es difuso. ¿Cuándo? SD queda sobre NS en 52 de 75 épocas, con una diferencia leve y sin tendencia en los cinco minutos.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PE"/>
              <a:t>Cuarta pregunta: quien se vuelve más inestable, ¿también se vuelve más lento? En las 30 personas con PVT, la correlación de Spearman es de menos 0.10, con un intervalo de menos 0.44 a 0.27. No replica el 0.544 de Cui y colegas, con 28 personas del mismo dataset. Hay dos razones plausibles: su pipeline usa referencia promedio, ICA y otros filtros, y con 30 personas la potencia para detectar un rho de 0.3 es de apenas 0.35.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PE"/>
              <a:t>Lo que nos diferencia es el multiverso. En vez de defender un solo análisis, corrimos 448: cuatro regiones, dos métricas, dos formas de cambio, siete marcadores, dos correlaciones y dos reglas de atípicos. Para juzgarlos en conjunto permutamos 2000 veces las filas conductuales. Con solo σθ, la mediana es r igual a 0.035, p igual a 0.32, y ningún análisis es significativo. En los 448 hay 26 significativos, pero el azar llega hasta 56. Los 26 son PANAS positivo con μθ: una pista, no un hallazgo.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PE"/>
              <a:t>Registramos 16 sugerencias del profesor, del equipo y de la literatura. Implementamos 11, entre ellas la vista única, el retiro de animaciones, los lapsos del PVT que recomiendan Basner y Dinges, y el multiverso. Dos quedaron parciales, como el selector de grupos junto al lazo. Postergamos dos para la Semana 13: reprocesar con referencia promedio e ICA, y la prueba con usuarios. Rechazamos la conectividad funcional para estas tres semanas: en nuestra matriz de decisión, no hacerla obtiene 29 de 40 y la mejor alternativa, 24.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PE"/>
              <a:t>En la Semana 13, Jimena reprocesa el EEG con referencia promedio e ICA y lo suma al multiverso; Andrea resume los moderadores y escribe el guion del teaser; Paolo añade el criterio de vulnerabilidad por lapsos y redacta Resultados. Entre todos desplegamos en GitHub Pages y probamos con tres a cinco usuarios. La Semana 14 es para el paper en plantilla IEEE VIS, el póster y los videos. La Semana 15, para el pulido, el README, la reflexión y la exhibición.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s-PE"/>
              <a:t>Nuestra conclusión preliminar: sin dormir, la theta de cada persona se mueve en direcciones distintas, y ese cambio no predice de forma robusta quién se deteriora. La única pista aparece con el ánimo, el afecto positivo del PANAS, y no con la vigilancia del PVT. Es un resultado nulo, pero honesto y verificable: cualquiera puede revisar los 448 análisis en la app. El enlace está en pantalla. Gracias; con gusto respondemos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andrea-coa.github.io/data-visualization-project/deliveries/week12/app/" TargetMode="External"/><Relationship Id="rId3" Type="http://schemas.openxmlformats.org/officeDocument/2006/relationships/image" Target="../media/image5.png"/><Relationship Id="rId4"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ítulo"/>
          <p:cNvSpPr>
            <a:spLocks noGrp="1"/>
          </p:cNvSpPr>
          <p:nvPr>
            <p:ph type="title"/>
          </p:nvPr>
        </p:nvSpPr>
        <p:spPr>
          <a:xfrm>
            <a:off x="548640" y="1325880"/>
            <a:ext cx="5120640" cy="2377440"/>
          </a:xfrm>
        </p:spPr>
        <p:txBody>
          <a:bodyPr wrap="square" anchor="t" lIns="0" tIns="0" rIns="0" bIns="0">
            <a:noAutofit/>
          </a:bodyPr>
          <a:lstStyle/>
          <a:p>
            <a:pPr algn="l">
              <a:lnSpc>
                <a:spcPct val="102000"/>
              </a:lnSpc>
            </a:pPr>
            <a:r>
              <a:rPr sz="4000" b="0" i="0" u="none" lang="es-PE">
                <a:solidFill>
                  <a:srgbClr val="E8EAF0"/>
                </a:solidFill>
                <a:latin typeface="Arial"/>
                <a:ea typeface="Arial"/>
                <a:cs typeface="Arial"/>
              </a:rPr>
              <a:t>Una noche sin dormir</a:t>
            </a:r>
            <a:br/>
            <a:r>
              <a:rPr sz="4000" b="0" i="0" u="none" lang="es-PE">
                <a:solidFill>
                  <a:srgbClr val="E8EAF0"/>
                </a:solidFill>
                <a:latin typeface="Arial"/>
                <a:ea typeface="Arial"/>
                <a:cs typeface="Arial"/>
              </a:rPr>
              <a:t>no le pasa </a:t>
            </a:r>
            <a:r>
              <a:rPr sz="4000" b="0" i="1" u="none" lang="es-PE">
                <a:solidFill>
                  <a:srgbClr val="FF5C8A"/>
                </a:solidFill>
                <a:latin typeface="Arial"/>
                <a:ea typeface="Arial"/>
                <a:cs typeface="Arial"/>
              </a:rPr>
              <a:t>igual</a:t>
            </a:r>
            <a:br/>
            <a:r>
              <a:rPr sz="4000" b="0" i="0" u="none" lang="es-PE">
                <a:solidFill>
                  <a:srgbClr val="E8EAF0"/>
                </a:solidFill>
                <a:latin typeface="Arial"/>
                <a:ea typeface="Arial"/>
                <a:cs typeface="Arial"/>
              </a:rPr>
              <a:t>a todos</a:t>
            </a:r>
          </a:p>
        </p:txBody>
      </p:sp>
      <p:sp>
        <p:nvSpPr>
          <p:cNvPr id="3" name="Sección"/>
          <p:cNvSpPr txBox="1"/>
          <p:nvPr/>
        </p:nvSpPr>
        <p:spPr>
          <a:xfrm>
            <a:off x="548640" y="960120"/>
            <a:ext cx="5120640" cy="274320"/>
          </a:xfrm>
          <a:prstGeom prst="rect">
            <a:avLst/>
          </a:prstGeom>
          <a:noFill/>
        </p:spPr>
        <p:txBody>
          <a:bodyPr wrap="square" anchor="t" lIns="0" tIns="0" rIns="0" bIns="0">
            <a:noAutofit/>
          </a:bodyPr>
          <a:lstStyle/>
          <a:p>
            <a:pPr algn="l"/>
            <a:r>
              <a:rPr sz="1200" b="0" i="0" u="none" lang="es-PE" spc="140">
                <a:solidFill>
                  <a:srgbClr val="3DD6F5"/>
                </a:solidFill>
                <a:latin typeface="Consolas"/>
                <a:ea typeface="Consolas"/>
                <a:cs typeface="Consolas"/>
              </a:rPr>
              <a:t>BATIMIX · SEMANA 12</a:t>
            </a:r>
          </a:p>
        </p:txBody>
      </p:sp>
      <p:sp>
        <p:nvSpPr>
          <p:cNvPr id="4" name="Equipo"/>
          <p:cNvSpPr txBox="1"/>
          <p:nvPr/>
        </p:nvSpPr>
        <p:spPr>
          <a:xfrm>
            <a:off x="548640" y="4069080"/>
            <a:ext cx="5212080" cy="731520"/>
          </a:xfrm>
          <a:prstGeom prst="rect">
            <a:avLst/>
          </a:prstGeom>
          <a:noFill/>
        </p:spPr>
        <p:txBody>
          <a:bodyPr wrap="square" anchor="t" lIns="0" tIns="0" rIns="0" bIns="0">
            <a:noAutofit/>
          </a:bodyPr>
          <a:lstStyle/>
          <a:p>
            <a:pPr algn="l">
              <a:spcAft>
                <a:spcPts val="200"/>
              </a:spcAft>
            </a:pPr>
            <a:r>
              <a:rPr sz="1800" b="0" i="0" u="none" lang="es-PE">
                <a:solidFill>
                  <a:srgbClr val="E8EAF0"/>
                </a:solidFill>
                <a:latin typeface="Arial"/>
                <a:ea typeface="Arial"/>
                <a:cs typeface="Arial"/>
              </a:rPr>
              <a:t>Jimena Gurbillon, Andrea Coa</a:t>
            </a:r>
          </a:p>
          <a:p>
            <a:pPr algn="l"/>
            <a:r>
              <a:rPr sz="1800" b="0" i="0" u="none" lang="es-PE">
                <a:solidFill>
                  <a:srgbClr val="E8EAF0"/>
                </a:solidFill>
                <a:latin typeface="Arial"/>
                <a:ea typeface="Arial"/>
                <a:cs typeface="Arial"/>
              </a:rPr>
              <a:t>y Paolo Medrano</a:t>
            </a:r>
          </a:p>
        </p:txBody>
      </p:sp>
      <p:sp>
        <p:nvSpPr>
          <p:cNvPr id="5" name="Curso"/>
          <p:cNvSpPr txBox="1"/>
          <p:nvPr/>
        </p:nvSpPr>
        <p:spPr>
          <a:xfrm>
            <a:off x="548640" y="4846320"/>
            <a:ext cx="5212080" cy="320040"/>
          </a:xfrm>
          <a:prstGeom prst="rect">
            <a:avLst/>
          </a:prstGeom>
          <a:noFill/>
        </p:spPr>
        <p:txBody>
          <a:bodyPr wrap="square" anchor="t" lIns="0" tIns="0" rIns="0" bIns="0">
            <a:noAutofit/>
          </a:bodyPr>
          <a:lstStyle/>
          <a:p>
            <a:pPr algn="l"/>
            <a:r>
              <a:rPr sz="1400" b="0" i="0" u="none" lang="es-PE">
                <a:solidFill>
                  <a:srgbClr val="B4BAC6"/>
                </a:solidFill>
                <a:latin typeface="Arial"/>
                <a:ea typeface="Arial"/>
                <a:cs typeface="Arial"/>
              </a:rPr>
              <a:t>DS5343 Visualización de Datos · UTEC 2026-2</a:t>
            </a:r>
          </a:p>
        </p:txBody>
      </p:sp>
      <p:sp>
        <p:nvSpPr>
          <p:cNvPr id="6" name="Punto NS"/>
          <p:cNvSpPr/>
          <p:nvPr/>
        </p:nvSpPr>
        <p:spPr>
          <a:xfrm>
            <a:off x="548640" y="5477256"/>
            <a:ext cx="146304" cy="146304"/>
          </a:xfrm>
          <a:prstGeom prst="ellipse">
            <a:avLst/>
          </a:prstGeom>
          <a:solidFill>
            <a:srgbClr val="3DD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yenda NS"/>
          <p:cNvSpPr txBox="1"/>
          <p:nvPr/>
        </p:nvSpPr>
        <p:spPr>
          <a:xfrm>
            <a:off x="786384" y="5413248"/>
            <a:ext cx="2103120" cy="274320"/>
          </a:xfrm>
          <a:prstGeom prst="rect">
            <a:avLst/>
          </a:prstGeom>
          <a:noFill/>
        </p:spPr>
        <p:txBody>
          <a:bodyPr wrap="square" anchor="t" lIns="0" tIns="0" rIns="0" bIns="0">
            <a:noAutofit/>
          </a:bodyPr>
          <a:lstStyle/>
          <a:p>
            <a:pPr algn="l"/>
            <a:r>
              <a:rPr sz="1300" b="1" i="0" u="none" lang="es-PE">
                <a:solidFill>
                  <a:srgbClr val="B4BAC6"/>
                </a:solidFill>
                <a:latin typeface="Arial"/>
                <a:ea typeface="Arial"/>
                <a:cs typeface="Arial"/>
              </a:rPr>
              <a:t>NS</a:t>
            </a:r>
            <a:r>
              <a:rPr sz="1300" b="0" i="0" u="none" lang="es-PE">
                <a:solidFill>
                  <a:srgbClr val="B4BAC6"/>
                </a:solidFill>
                <a:latin typeface="Arial"/>
                <a:ea typeface="Arial"/>
                <a:cs typeface="Arial"/>
              </a:rPr>
              <a:t>  sueño normal</a:t>
            </a:r>
          </a:p>
        </p:txBody>
      </p:sp>
      <p:sp>
        <p:nvSpPr>
          <p:cNvPr id="8" name="Punto SD"/>
          <p:cNvSpPr/>
          <p:nvPr/>
        </p:nvSpPr>
        <p:spPr>
          <a:xfrm>
            <a:off x="2926080" y="5477256"/>
            <a:ext cx="146304" cy="146304"/>
          </a:xfrm>
          <a:prstGeom prst="ellipse">
            <a:avLst/>
          </a:prstGeom>
          <a:solidFill>
            <a:srgbClr val="FF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yenda SD"/>
          <p:cNvSpPr txBox="1"/>
          <p:nvPr/>
        </p:nvSpPr>
        <p:spPr>
          <a:xfrm>
            <a:off x="3163824" y="5413248"/>
            <a:ext cx="2651760" cy="274320"/>
          </a:xfrm>
          <a:prstGeom prst="rect">
            <a:avLst/>
          </a:prstGeom>
          <a:noFill/>
        </p:spPr>
        <p:txBody>
          <a:bodyPr wrap="square" anchor="t" lIns="0" tIns="0" rIns="0" bIns="0">
            <a:noAutofit/>
          </a:bodyPr>
          <a:lstStyle/>
          <a:p>
            <a:pPr algn="l"/>
            <a:r>
              <a:rPr sz="1300" b="1" i="0" u="none" lang="es-PE">
                <a:solidFill>
                  <a:srgbClr val="B4BAC6"/>
                </a:solidFill>
                <a:latin typeface="Arial"/>
                <a:ea typeface="Arial"/>
                <a:cs typeface="Arial"/>
              </a:rPr>
              <a:t>SD</a:t>
            </a:r>
            <a:r>
              <a:rPr sz="1300" b="0" i="0" u="none" lang="es-PE">
                <a:solidFill>
                  <a:srgbClr val="B4BAC6"/>
                </a:solidFill>
                <a:latin typeface="Arial"/>
                <a:ea typeface="Arial"/>
                <a:cs typeface="Arial"/>
              </a:rPr>
              <a:t>  24 a 30 h sin dormir</a:t>
            </a:r>
          </a:p>
        </p:txBody>
      </p:sp>
      <p:pic>
        <p:nvPicPr>
          <p:cNvPr id="10" name="Captura de la app" descr="Vista única de la aplicación BATIMIX: cabecera con controles y paneles de recorrido, dispersión, mapas, cinco minutos y multiverso."/>
          <p:cNvPicPr>
            <a:picLocks noChangeAspect="1"/>
          </p:cNvPicPr>
          <p:nvPr/>
        </p:nvPicPr>
        <p:blipFill>
          <a:blip r:embed="rId2"/>
          <a:stretch>
            <a:fillRect/>
          </a:stretch>
        </p:blipFill>
        <p:spPr>
          <a:xfrm>
            <a:off x="5790895" y="1783079"/>
            <a:ext cx="5852160" cy="3291840"/>
          </a:xfrm>
          <a:prstGeom prst="rect">
            <a:avLst/>
          </a:prstGeom>
          <a:ln w="9525">
            <a:solidFill>
              <a:srgbClr val="2B3140"/>
            </a:solid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ítulo"/>
          <p:cNvSpPr>
            <a:spLocks noGrp="1"/>
          </p:cNvSpPr>
          <p:nvPr>
            <p:ph type="title"/>
          </p:nvPr>
        </p:nvSpPr>
        <p:spPr>
          <a:xfrm>
            <a:off x="548640" y="713232"/>
            <a:ext cx="11094415" cy="658368"/>
          </a:xfrm>
        </p:spPr>
        <p:txBody>
          <a:bodyPr wrap="square" anchor="t" lIns="0" tIns="0" rIns="0" bIns="0">
            <a:noAutofit/>
          </a:bodyPr>
          <a:lstStyle/>
          <a:p>
            <a:pPr algn="l"/>
            <a:r>
              <a:rPr sz="3000" b="0" i="0" u="none" lang="es-PE">
                <a:solidFill>
                  <a:srgbClr val="E8EAF0"/>
                </a:solidFill>
                <a:latin typeface="Arial"/>
                <a:ea typeface="Arial"/>
                <a:cs typeface="Arial"/>
              </a:rPr>
              <a:t>Unos resisten una noche sin dormir y otros no</a:t>
            </a:r>
          </a:p>
        </p:txBody>
      </p:sp>
      <p:sp>
        <p:nvSpPr>
          <p:cNvPr id="3" name="Sección"/>
          <p:cNvSpPr txBox="1"/>
          <p:nvPr/>
        </p:nvSpPr>
        <p:spPr>
          <a:xfrm>
            <a:off x="548640" y="384048"/>
            <a:ext cx="11094415" cy="274320"/>
          </a:xfrm>
          <a:prstGeom prst="rect">
            <a:avLst/>
          </a:prstGeom>
          <a:noFill/>
        </p:spPr>
        <p:txBody>
          <a:bodyPr wrap="square" anchor="t" lIns="0" tIns="0" rIns="0" bIns="0">
            <a:noAutofit/>
          </a:bodyPr>
          <a:lstStyle/>
          <a:p>
            <a:pPr algn="l"/>
            <a:r>
              <a:rPr sz="1100" b="0" i="0" u="none" lang="es-PE" spc="80">
                <a:solidFill>
                  <a:srgbClr val="8C93A1"/>
                </a:solidFill>
                <a:latin typeface="Consolas"/>
                <a:ea typeface="Consolas"/>
                <a:cs typeface="Consolas"/>
              </a:rPr>
              <a:t>PROBLEMA Y AUDIENCIA</a:t>
            </a:r>
          </a:p>
        </p:txBody>
      </p:sp>
      <p:sp>
        <p:nvSpPr>
          <p:cNvPr id="4" name="Pie"/>
          <p:cNvSpPr txBox="1"/>
          <p:nvPr/>
        </p:nvSpPr>
        <p:spPr>
          <a:xfrm>
            <a:off x="548640" y="6400800"/>
            <a:ext cx="5486400" cy="237744"/>
          </a:xfrm>
          <a:prstGeom prst="rect">
            <a:avLst/>
          </a:prstGeom>
          <a:noFill/>
        </p:spPr>
        <p:txBody>
          <a:bodyPr wrap="square" anchor="t" lIns="0" tIns="0" rIns="0" bIns="0">
            <a:noAutofit/>
          </a:bodyPr>
          <a:lstStyle/>
          <a:p>
            <a:pPr algn="l"/>
            <a:r>
              <a:rPr sz="1000" b="0" i="0" u="none" lang="es-PE">
                <a:solidFill>
                  <a:srgbClr val="8C93A1"/>
                </a:solidFill>
                <a:latin typeface="Consolas"/>
                <a:ea typeface="Consolas"/>
                <a:cs typeface="Consolas"/>
              </a:rPr>
              <a:t>BATIMIX · Semana 12 · DS5343 UTEC 2026-2</a:t>
            </a:r>
          </a:p>
        </p:txBody>
      </p:sp>
      <p:sp>
        <p:nvSpPr>
          <p:cNvPr id="5" name="Número"/>
          <p:cNvSpPr txBox="1"/>
          <p:nvPr/>
        </p:nvSpPr>
        <p:spPr>
          <a:xfrm>
            <a:off x="9814255" y="6400800"/>
            <a:ext cx="1828800" cy="237744"/>
          </a:xfrm>
          <a:prstGeom prst="rect">
            <a:avLst/>
          </a:prstGeom>
          <a:noFill/>
        </p:spPr>
        <p:txBody>
          <a:bodyPr wrap="square" anchor="t" lIns="0" tIns="0" rIns="0" bIns="0">
            <a:noAutofit/>
          </a:bodyPr>
          <a:lstStyle/>
          <a:p>
            <a:pPr algn="r"/>
            <a:r>
              <a:rPr sz="1000" b="0" i="0" u="none" lang="es-PE">
                <a:solidFill>
                  <a:srgbClr val="8C93A1"/>
                </a:solidFill>
                <a:latin typeface="Consolas"/>
                <a:ea typeface="Consolas"/>
                <a:cs typeface="Consolas"/>
              </a:rPr>
              <a:t>2 / 11</a:t>
            </a:r>
          </a:p>
        </p:txBody>
      </p:sp>
      <p:sp>
        <p:nvSpPr>
          <p:cNvPr id="6" name="Etiqueta problema"/>
          <p:cNvSpPr txBox="1"/>
          <p:nvPr/>
        </p:nvSpPr>
        <p:spPr>
          <a:xfrm>
            <a:off x="548640" y="1783080"/>
            <a:ext cx="5394960" cy="274320"/>
          </a:xfrm>
          <a:prstGeom prst="rect">
            <a:avLst/>
          </a:prstGeom>
          <a:noFill/>
        </p:spPr>
        <p:txBody>
          <a:bodyPr wrap="square" anchor="t" lIns="0" tIns="0" rIns="0" bIns="0">
            <a:noAutofit/>
          </a:bodyPr>
          <a:lstStyle/>
          <a:p>
            <a:pPr algn="l"/>
            <a:r>
              <a:rPr sz="1200" b="0" i="0" u="none" lang="es-PE" spc="60">
                <a:solidFill>
                  <a:srgbClr val="8C93A1"/>
                </a:solidFill>
                <a:latin typeface="Consolas"/>
                <a:ea typeface="Consolas"/>
                <a:cs typeface="Consolas"/>
              </a:rPr>
              <a:t>PROBLEMA</a:t>
            </a:r>
          </a:p>
        </p:txBody>
      </p:sp>
      <p:sp>
        <p:nvSpPr>
          <p:cNvPr id="7" name="Problema"/>
          <p:cNvSpPr txBox="1"/>
          <p:nvPr/>
        </p:nvSpPr>
        <p:spPr>
          <a:xfrm>
            <a:off x="548640" y="2103120"/>
            <a:ext cx="5394960" cy="914400"/>
          </a:xfrm>
          <a:prstGeom prst="rect">
            <a:avLst/>
          </a:prstGeom>
          <a:noFill/>
        </p:spPr>
        <p:txBody>
          <a:bodyPr wrap="square" anchor="t" lIns="0" tIns="0" rIns="0" bIns="0">
            <a:noAutofit/>
          </a:bodyPr>
          <a:lstStyle/>
          <a:p>
            <a:pPr algn="l">
              <a:lnSpc>
                <a:spcPct val="105000"/>
              </a:lnSpc>
            </a:pPr>
            <a:r>
              <a:rPr sz="2400" b="0" i="0" u="none" lang="es-PE">
                <a:solidFill>
                  <a:srgbClr val="E8EAF0"/>
                </a:solidFill>
                <a:latin typeface="Arial"/>
                <a:ea typeface="Arial"/>
                <a:cs typeface="Arial"/>
              </a:rPr>
              <a:t>La vulnerabilidad a perder el sueño es individual y estable.</a:t>
            </a:r>
          </a:p>
        </p:txBody>
      </p:sp>
      <p:sp>
        <p:nvSpPr>
          <p:cNvPr id="8" name="Cita"/>
          <p:cNvSpPr txBox="1"/>
          <p:nvPr/>
        </p:nvSpPr>
        <p:spPr>
          <a:xfrm>
            <a:off x="548640" y="3063240"/>
            <a:ext cx="5394960" cy="274320"/>
          </a:xfrm>
          <a:prstGeom prst="rect">
            <a:avLst/>
          </a:prstGeom>
          <a:noFill/>
        </p:spPr>
        <p:txBody>
          <a:bodyPr wrap="square" anchor="t" lIns="0" tIns="0" rIns="0" bIns="0">
            <a:noAutofit/>
          </a:bodyPr>
          <a:lstStyle/>
          <a:p>
            <a:pPr algn="l"/>
            <a:r>
              <a:rPr sz="1300" b="0" i="0" u="none" lang="es-PE">
                <a:solidFill>
                  <a:srgbClr val="8C93A1"/>
                </a:solidFill>
                <a:latin typeface="Arial"/>
                <a:ea typeface="Arial"/>
                <a:cs typeface="Arial"/>
              </a:rPr>
              <a:t>Van Dongen et al. (2004)</a:t>
            </a:r>
          </a:p>
        </p:txBody>
      </p:sp>
      <p:sp>
        <p:nvSpPr>
          <p:cNvPr id="9" name="Pregunta"/>
          <p:cNvSpPr txBox="1"/>
          <p:nvPr/>
        </p:nvSpPr>
        <p:spPr>
          <a:xfrm>
            <a:off x="548640" y="3474720"/>
            <a:ext cx="5394960" cy="411480"/>
          </a:xfrm>
          <a:prstGeom prst="rect">
            <a:avLst/>
          </a:prstGeom>
          <a:noFill/>
        </p:spPr>
        <p:txBody>
          <a:bodyPr wrap="square" anchor="t" lIns="0" tIns="0" rIns="0" bIns="0">
            <a:noAutofit/>
          </a:bodyPr>
          <a:lstStyle/>
          <a:p>
            <a:pPr algn="l"/>
            <a:r>
              <a:rPr sz="1800" b="0" i="0" u="none" lang="es-PE">
                <a:solidFill>
                  <a:srgbClr val="B4BAC6"/>
                </a:solidFill>
                <a:latin typeface="Arial"/>
                <a:ea typeface="Arial"/>
                <a:cs typeface="Arial"/>
              </a:rPr>
              <a:t>¿Se refleja en la theta del EEG en reposo?</a:t>
            </a:r>
          </a:p>
        </p:txBody>
      </p:sp>
      <p:sp>
        <p:nvSpPr>
          <p:cNvPr id="10" name="Etiqueta audiencia"/>
          <p:cNvSpPr txBox="1"/>
          <p:nvPr/>
        </p:nvSpPr>
        <p:spPr>
          <a:xfrm>
            <a:off x="548640" y="4251960"/>
            <a:ext cx="5394960" cy="274320"/>
          </a:xfrm>
          <a:prstGeom prst="rect">
            <a:avLst/>
          </a:prstGeom>
          <a:noFill/>
        </p:spPr>
        <p:txBody>
          <a:bodyPr wrap="square" anchor="t" lIns="0" tIns="0" rIns="0" bIns="0">
            <a:noAutofit/>
          </a:bodyPr>
          <a:lstStyle/>
          <a:p>
            <a:pPr algn="l"/>
            <a:r>
              <a:rPr sz="1200" b="0" i="0" u="none" lang="es-PE" spc="60">
                <a:solidFill>
                  <a:srgbClr val="8C93A1"/>
                </a:solidFill>
                <a:latin typeface="Consolas"/>
                <a:ea typeface="Consolas"/>
                <a:cs typeface="Consolas"/>
              </a:rPr>
              <a:t>AUDIENCIA</a:t>
            </a:r>
          </a:p>
        </p:txBody>
      </p:sp>
      <p:sp>
        <p:nvSpPr>
          <p:cNvPr id="11" name="Audiencia"/>
          <p:cNvSpPr txBox="1"/>
          <p:nvPr/>
        </p:nvSpPr>
        <p:spPr>
          <a:xfrm>
            <a:off x="548640" y="4572000"/>
            <a:ext cx="5394960" cy="822960"/>
          </a:xfrm>
          <a:prstGeom prst="rect">
            <a:avLst/>
          </a:prstGeom>
          <a:noFill/>
        </p:spPr>
        <p:txBody>
          <a:bodyPr wrap="square" anchor="t" lIns="0" tIns="0" rIns="0" bIns="0">
            <a:noAutofit/>
          </a:bodyPr>
          <a:lstStyle/>
          <a:p>
            <a:pPr algn="l">
              <a:lnSpc>
                <a:spcPct val="110000"/>
              </a:lnSpc>
            </a:pPr>
            <a:r>
              <a:rPr sz="1800" b="0" i="0" u="none" lang="es-PE">
                <a:solidFill>
                  <a:srgbClr val="E8EAF0"/>
                </a:solidFill>
                <a:latin typeface="Arial"/>
                <a:ea typeface="Arial"/>
                <a:cs typeface="Arial"/>
              </a:rPr>
              <a:t>Investigador del sueño que hace screening exploratorio con datos públicos.</a:t>
            </a:r>
          </a:p>
        </p:txBody>
      </p:sp>
      <p:sp>
        <p:nvSpPr>
          <p:cNvPr id="12" name="Etiqueta decisión"/>
          <p:cNvSpPr txBox="1"/>
          <p:nvPr/>
        </p:nvSpPr>
        <p:spPr>
          <a:xfrm>
            <a:off x="6629400" y="1783080"/>
            <a:ext cx="4937760" cy="274320"/>
          </a:xfrm>
          <a:prstGeom prst="rect">
            <a:avLst/>
          </a:prstGeom>
          <a:noFill/>
        </p:spPr>
        <p:txBody>
          <a:bodyPr wrap="square" anchor="t" lIns="0" tIns="0" rIns="0" bIns="0">
            <a:noAutofit/>
          </a:bodyPr>
          <a:lstStyle/>
          <a:p>
            <a:pPr algn="l"/>
            <a:r>
              <a:rPr sz="1200" b="0" i="0" u="none" lang="es-PE" spc="60">
                <a:solidFill>
                  <a:srgbClr val="8C93A1"/>
                </a:solidFill>
                <a:latin typeface="Consolas"/>
                <a:ea typeface="Consolas"/>
                <a:cs typeface="Consolas"/>
              </a:rPr>
              <a:t>DECISIÓN QUE APOYA</a:t>
            </a:r>
          </a:p>
        </p:txBody>
      </p:sp>
      <p:sp>
        <p:nvSpPr>
          <p:cNvPr id="13" name="Candidato 1"/>
          <p:cNvSpPr/>
          <p:nvPr/>
        </p:nvSpPr>
        <p:spPr>
          <a:xfrm>
            <a:off x="6629400" y="2286000"/>
            <a:ext cx="2240280" cy="512064"/>
          </a:xfrm>
          <a:prstGeom prst="roundRect">
            <a:avLst>
              <a:gd name="adj" fmla="val 18000"/>
            </a:avLst>
          </a:prstGeom>
          <a:solidFill>
            <a:srgbClr val="0F1218"/>
          </a:solidFill>
          <a:ln w="9525">
            <a:solidFill>
              <a:srgbClr val="2B314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8288" bIns="18288">
            <a:noAutofit/>
          </a:bodyPr>
          <a:lstStyle/>
          <a:p>
            <a:pPr algn="l"/>
            <a:r>
              <a:rPr sz="1600" b="0" i="0" u="none" lang="es-PE">
                <a:solidFill>
                  <a:srgbClr val="E8EAF0"/>
                </a:solidFill>
                <a:latin typeface="Arial"/>
                <a:ea typeface="Arial"/>
                <a:cs typeface="Arial"/>
              </a:rPr>
              <a:t>61 electrodos</a:t>
            </a:r>
          </a:p>
        </p:txBody>
      </p:sp>
      <p:cxnSp>
        <p:nvCxnSpPr>
          <p:cNvPr id="14" name="Flujo 1"/>
          <p:cNvCxnSpPr/>
          <p:nvPr/>
        </p:nvCxnSpPr>
        <p:spPr>
          <a:xfrm>
            <a:off x="8869680" y="2542032"/>
            <a:ext cx="548640" cy="804672"/>
          </a:xfrm>
          <a:prstGeom prst="line">
            <a:avLst/>
          </a:prstGeom>
          <a:ln w="12700">
            <a:solidFill>
              <a:srgbClr val="8C93A1"/>
            </a:solidFill>
          </a:ln>
        </p:spPr>
        <p:style>
          <a:lnRef idx="2">
            <a:schemeClr val="accent1"/>
          </a:lnRef>
          <a:fillRef idx="0">
            <a:schemeClr val="accent1"/>
          </a:fillRef>
          <a:effectRef idx="1">
            <a:schemeClr val="accent1"/>
          </a:effectRef>
          <a:fontRef idx="minor">
            <a:schemeClr val="tx1"/>
          </a:fontRef>
        </p:style>
      </p:cxnSp>
      <p:sp>
        <p:nvSpPr>
          <p:cNvPr id="15" name="Candidato 2"/>
          <p:cNvSpPr/>
          <p:nvPr/>
        </p:nvSpPr>
        <p:spPr>
          <a:xfrm>
            <a:off x="6629400" y="3090672"/>
            <a:ext cx="2240280" cy="512064"/>
          </a:xfrm>
          <a:prstGeom prst="roundRect">
            <a:avLst>
              <a:gd name="adj" fmla="val 18000"/>
            </a:avLst>
          </a:prstGeom>
          <a:solidFill>
            <a:srgbClr val="0F1218"/>
          </a:solidFill>
          <a:ln w="9525">
            <a:solidFill>
              <a:srgbClr val="2B314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8288" bIns="18288">
            <a:noAutofit/>
          </a:bodyPr>
          <a:lstStyle/>
          <a:p>
            <a:pPr algn="l"/>
            <a:r>
              <a:rPr sz="1600" b="0" i="0" u="none" lang="es-PE">
                <a:solidFill>
                  <a:srgbClr val="E8EAF0"/>
                </a:solidFill>
                <a:latin typeface="Arial"/>
                <a:ea typeface="Arial"/>
                <a:cs typeface="Arial"/>
              </a:rPr>
              <a:t>2 regiones</a:t>
            </a:r>
          </a:p>
        </p:txBody>
      </p:sp>
      <p:cxnSp>
        <p:nvCxnSpPr>
          <p:cNvPr id="16" name="Flujo 2"/>
          <p:cNvCxnSpPr/>
          <p:nvPr/>
        </p:nvCxnSpPr>
        <p:spPr>
          <a:xfrm>
            <a:off x="8869680" y="3346704"/>
            <a:ext cx="548640" cy="0"/>
          </a:xfrm>
          <a:prstGeom prst="line">
            <a:avLst/>
          </a:prstGeom>
          <a:ln w="12700">
            <a:solidFill>
              <a:srgbClr val="8C93A1"/>
            </a:solidFill>
          </a:ln>
        </p:spPr>
        <p:style>
          <a:lnRef idx="2">
            <a:schemeClr val="accent1"/>
          </a:lnRef>
          <a:fillRef idx="0">
            <a:schemeClr val="accent1"/>
          </a:fillRef>
          <a:effectRef idx="1">
            <a:schemeClr val="accent1"/>
          </a:effectRef>
          <a:fontRef idx="minor">
            <a:schemeClr val="tx1"/>
          </a:fontRef>
        </p:style>
      </p:cxnSp>
      <p:sp>
        <p:nvSpPr>
          <p:cNvPr id="17" name="Candidato 3"/>
          <p:cNvSpPr/>
          <p:nvPr/>
        </p:nvSpPr>
        <p:spPr>
          <a:xfrm>
            <a:off x="6629400" y="3895344"/>
            <a:ext cx="2240280" cy="512064"/>
          </a:xfrm>
          <a:prstGeom prst="roundRect">
            <a:avLst>
              <a:gd name="adj" fmla="val 18000"/>
            </a:avLst>
          </a:prstGeom>
          <a:solidFill>
            <a:srgbClr val="0F1218"/>
          </a:solidFill>
          <a:ln w="9525">
            <a:solidFill>
              <a:srgbClr val="2B314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8288" bIns="18288">
            <a:noAutofit/>
          </a:bodyPr>
          <a:lstStyle/>
          <a:p>
            <a:pPr algn="l"/>
            <a:r>
              <a:rPr sz="1600" b="0" i="0" u="none" lang="es-PE">
                <a:solidFill>
                  <a:srgbClr val="E8EAF0"/>
                </a:solidFill>
                <a:latin typeface="Arial"/>
                <a:ea typeface="Arial"/>
                <a:cs typeface="Arial"/>
              </a:rPr>
              <a:t>covariables</a:t>
            </a:r>
          </a:p>
        </p:txBody>
      </p:sp>
      <p:cxnSp>
        <p:nvCxnSpPr>
          <p:cNvPr id="18" name="Flujo 3"/>
          <p:cNvCxnSpPr/>
          <p:nvPr/>
        </p:nvCxnSpPr>
        <p:spPr>
          <a:xfrm flipV="1">
            <a:off x="8869680" y="3346704"/>
            <a:ext cx="548640" cy="804672"/>
          </a:xfrm>
          <a:prstGeom prst="line">
            <a:avLst/>
          </a:prstGeom>
          <a:ln w="12700">
            <a:solidFill>
              <a:srgbClr val="8C93A1"/>
            </a:solidFill>
          </a:ln>
        </p:spPr>
        <p:style>
          <a:lnRef idx="2">
            <a:schemeClr val="accent1"/>
          </a:lnRef>
          <a:fillRef idx="0">
            <a:schemeClr val="accent1"/>
          </a:fillRef>
          <a:effectRef idx="1">
            <a:schemeClr val="accent1"/>
          </a:effectRef>
          <a:fontRef idx="minor">
            <a:schemeClr val="tx1"/>
          </a:fontRef>
        </p:style>
      </p:cxnSp>
      <p:sp>
        <p:nvSpPr>
          <p:cNvPr id="19" name="Prueba formal"/>
          <p:cNvSpPr/>
          <p:nvPr/>
        </p:nvSpPr>
        <p:spPr>
          <a:xfrm>
            <a:off x="9418320" y="2962656"/>
            <a:ext cx="2148840" cy="768096"/>
          </a:xfrm>
          <a:prstGeom prst="roundRect">
            <a:avLst>
              <a:gd name="adj" fmla="val 14000"/>
            </a:avLst>
          </a:prstGeom>
          <a:solidFill>
            <a:srgbClr val="E8EA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noAutofit/>
          </a:bodyPr>
          <a:lstStyle/>
          <a:p>
            <a:pPr algn="ctr"/>
            <a:r>
              <a:rPr sz="1600" b="0" i="0" u="none" lang="es-PE">
                <a:solidFill>
                  <a:srgbClr val="0B0D12"/>
                </a:solidFill>
                <a:latin typeface="Arial"/>
                <a:ea typeface="Arial"/>
                <a:cs typeface="Arial"/>
              </a:rPr>
              <a:t>¿merece una</a:t>
            </a:r>
          </a:p>
          <a:p>
            <a:pPr algn="ctr"/>
            <a:r>
              <a:rPr sz="1600" b="0" i="0" u="none" lang="es-PE">
                <a:solidFill>
                  <a:srgbClr val="0B0D12"/>
                </a:solidFill>
                <a:latin typeface="Arial"/>
                <a:ea typeface="Arial"/>
                <a:cs typeface="Arial"/>
              </a:rPr>
              <a:t>prueba formal?</a:t>
            </a:r>
          </a:p>
        </p:txBody>
      </p:sp>
      <p:sp>
        <p:nvSpPr>
          <p:cNvPr id="20" name="Límite"/>
          <p:cNvSpPr txBox="1"/>
          <p:nvPr/>
        </p:nvSpPr>
        <p:spPr>
          <a:xfrm>
            <a:off x="6629400" y="4572000"/>
            <a:ext cx="4937760" cy="411480"/>
          </a:xfrm>
          <a:prstGeom prst="rect">
            <a:avLst/>
          </a:prstGeom>
          <a:noFill/>
        </p:spPr>
        <p:txBody>
          <a:bodyPr wrap="square" anchor="t" lIns="0" tIns="0" rIns="0" bIns="0">
            <a:noAutofit/>
          </a:bodyPr>
          <a:lstStyle/>
          <a:p>
            <a:pPr algn="l"/>
            <a:r>
              <a:rPr sz="1800" b="0" i="0" u="none" lang="es-PE">
                <a:solidFill>
                  <a:srgbClr val="B4BAC6"/>
                </a:solidFill>
                <a:latin typeface="Arial"/>
                <a:ea typeface="Arial"/>
                <a:cs typeface="Arial"/>
              </a:rPr>
              <a:t>No diagnostica ni predice.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ítulo"/>
          <p:cNvSpPr>
            <a:spLocks noGrp="1"/>
          </p:cNvSpPr>
          <p:nvPr>
            <p:ph type="title"/>
          </p:nvPr>
        </p:nvSpPr>
        <p:spPr>
          <a:xfrm>
            <a:off x="548640" y="713232"/>
            <a:ext cx="11094415" cy="658368"/>
          </a:xfrm>
        </p:spPr>
        <p:txBody>
          <a:bodyPr wrap="square" anchor="t" lIns="0" tIns="0" rIns="0" bIns="0">
            <a:noAutofit/>
          </a:bodyPr>
          <a:lstStyle/>
          <a:p>
            <a:pPr algn="l"/>
            <a:r>
              <a:rPr sz="3000" b="0" i="0" u="none" lang="es-PE">
                <a:solidFill>
                  <a:srgbClr val="E8EAF0"/>
                </a:solidFill>
                <a:latin typeface="Arial"/>
                <a:ea typeface="Arial"/>
                <a:cs typeface="Arial"/>
              </a:rPr>
              <a:t>68 personas medidas dos veces</a:t>
            </a:r>
          </a:p>
        </p:txBody>
      </p:sp>
      <p:sp>
        <p:nvSpPr>
          <p:cNvPr id="3" name="Sección"/>
          <p:cNvSpPr txBox="1"/>
          <p:nvPr/>
        </p:nvSpPr>
        <p:spPr>
          <a:xfrm>
            <a:off x="548640" y="384048"/>
            <a:ext cx="11094415" cy="274320"/>
          </a:xfrm>
          <a:prstGeom prst="rect">
            <a:avLst/>
          </a:prstGeom>
          <a:noFill/>
        </p:spPr>
        <p:txBody>
          <a:bodyPr wrap="square" anchor="t" lIns="0" tIns="0" rIns="0" bIns="0">
            <a:noAutofit/>
          </a:bodyPr>
          <a:lstStyle/>
          <a:p>
            <a:pPr algn="l"/>
            <a:r>
              <a:rPr sz="1100" b="0" i="0" u="none" lang="es-PE" spc="80">
                <a:solidFill>
                  <a:srgbClr val="8C93A1"/>
                </a:solidFill>
                <a:latin typeface="Consolas"/>
                <a:ea typeface="Consolas"/>
                <a:cs typeface="Consolas"/>
              </a:rPr>
              <a:t>DATOS</a:t>
            </a:r>
          </a:p>
        </p:txBody>
      </p:sp>
      <p:sp>
        <p:nvSpPr>
          <p:cNvPr id="4" name="Pie"/>
          <p:cNvSpPr txBox="1"/>
          <p:nvPr/>
        </p:nvSpPr>
        <p:spPr>
          <a:xfrm>
            <a:off x="548640" y="6400800"/>
            <a:ext cx="5486400" cy="237744"/>
          </a:xfrm>
          <a:prstGeom prst="rect">
            <a:avLst/>
          </a:prstGeom>
          <a:noFill/>
        </p:spPr>
        <p:txBody>
          <a:bodyPr wrap="square" anchor="t" lIns="0" tIns="0" rIns="0" bIns="0">
            <a:noAutofit/>
          </a:bodyPr>
          <a:lstStyle/>
          <a:p>
            <a:pPr algn="l"/>
            <a:r>
              <a:rPr sz="1000" b="0" i="0" u="none" lang="es-PE">
                <a:solidFill>
                  <a:srgbClr val="8C93A1"/>
                </a:solidFill>
                <a:latin typeface="Consolas"/>
                <a:ea typeface="Consolas"/>
                <a:cs typeface="Consolas"/>
              </a:rPr>
              <a:t>BATIMIX · Semana 12 · DS5343 UTEC 2026-2</a:t>
            </a:r>
          </a:p>
        </p:txBody>
      </p:sp>
      <p:sp>
        <p:nvSpPr>
          <p:cNvPr id="5" name="Número"/>
          <p:cNvSpPr txBox="1"/>
          <p:nvPr/>
        </p:nvSpPr>
        <p:spPr>
          <a:xfrm>
            <a:off x="9814255" y="6400800"/>
            <a:ext cx="1828800" cy="237744"/>
          </a:xfrm>
          <a:prstGeom prst="rect">
            <a:avLst/>
          </a:prstGeom>
          <a:noFill/>
        </p:spPr>
        <p:txBody>
          <a:bodyPr wrap="square" anchor="t" lIns="0" tIns="0" rIns="0" bIns="0">
            <a:noAutofit/>
          </a:bodyPr>
          <a:lstStyle/>
          <a:p>
            <a:pPr algn="r"/>
            <a:r>
              <a:rPr sz="1000" b="0" i="0" u="none" lang="es-PE">
                <a:solidFill>
                  <a:srgbClr val="8C93A1"/>
                </a:solidFill>
                <a:latin typeface="Consolas"/>
                <a:ea typeface="Consolas"/>
                <a:cs typeface="Consolas"/>
              </a:rPr>
              <a:t>3 / 11</a:t>
            </a:r>
          </a:p>
        </p:txBody>
      </p:sp>
      <p:sp>
        <p:nvSpPr>
          <p:cNvPr id="6" name="Cifra 68"/>
          <p:cNvSpPr txBox="1"/>
          <p:nvPr/>
        </p:nvSpPr>
        <p:spPr>
          <a:xfrm>
            <a:off x="548640" y="1645920"/>
            <a:ext cx="1920240" cy="1371600"/>
          </a:xfrm>
          <a:prstGeom prst="rect">
            <a:avLst/>
          </a:prstGeom>
          <a:noFill/>
        </p:spPr>
        <p:txBody>
          <a:bodyPr wrap="square" anchor="t" lIns="0" tIns="0" rIns="0" bIns="0">
            <a:noAutofit/>
          </a:bodyPr>
          <a:lstStyle/>
          <a:p>
            <a:pPr algn="l">
              <a:lnSpc>
                <a:spcPct val="90000"/>
              </a:lnSpc>
            </a:pPr>
            <a:r>
              <a:rPr sz="9600" b="0" i="0" u="none" lang="es-PE">
                <a:solidFill>
                  <a:srgbClr val="E8EAF0"/>
                </a:solidFill>
                <a:latin typeface="Arial"/>
                <a:ea typeface="Arial"/>
                <a:cs typeface="Arial"/>
              </a:rPr>
              <a:t>68</a:t>
            </a:r>
          </a:p>
        </p:txBody>
      </p:sp>
      <p:sp>
        <p:nvSpPr>
          <p:cNvPr id="7" name="Cifra 68 texto"/>
          <p:cNvSpPr txBox="1"/>
          <p:nvPr/>
        </p:nvSpPr>
        <p:spPr>
          <a:xfrm>
            <a:off x="2514600" y="2057400"/>
            <a:ext cx="3108960" cy="731520"/>
          </a:xfrm>
          <a:prstGeom prst="rect">
            <a:avLst/>
          </a:prstGeom>
          <a:noFill/>
        </p:spPr>
        <p:txBody>
          <a:bodyPr wrap="square" anchor="t" lIns="0" tIns="0" rIns="0" bIns="0">
            <a:noAutofit/>
          </a:bodyPr>
          <a:lstStyle/>
          <a:p>
            <a:pPr algn="l">
              <a:spcAft>
                <a:spcPts val="200"/>
              </a:spcAft>
            </a:pPr>
            <a:r>
              <a:rPr sz="2000" b="0" i="0" u="none" lang="es-PE">
                <a:solidFill>
                  <a:srgbClr val="E8EAF0"/>
                </a:solidFill>
                <a:latin typeface="Arial"/>
                <a:ea typeface="Arial"/>
                <a:cs typeface="Arial"/>
              </a:rPr>
              <a:t>de 71 con EEG</a:t>
            </a:r>
          </a:p>
          <a:p>
            <a:pPr algn="l"/>
            <a:r>
              <a:rPr sz="2000" b="0" i="0" u="none" lang="es-PE">
                <a:solidFill>
                  <a:srgbClr val="E8EAF0"/>
                </a:solidFill>
                <a:latin typeface="Arial"/>
                <a:ea typeface="Arial"/>
                <a:cs typeface="Arial"/>
              </a:rPr>
              <a:t>pareado (NS y SD)</a:t>
            </a:r>
          </a:p>
        </p:txBody>
      </p:sp>
      <p:sp>
        <p:nvSpPr>
          <p:cNvPr id="8" name="Etiqueta conducta"/>
          <p:cNvSpPr txBox="1"/>
          <p:nvPr/>
        </p:nvSpPr>
        <p:spPr>
          <a:xfrm>
            <a:off x="548640" y="3246120"/>
            <a:ext cx="5120640" cy="274320"/>
          </a:xfrm>
          <a:prstGeom prst="rect">
            <a:avLst/>
          </a:prstGeom>
          <a:noFill/>
        </p:spPr>
        <p:txBody>
          <a:bodyPr wrap="square" anchor="t" lIns="0" tIns="0" rIns="0" bIns="0">
            <a:noAutofit/>
          </a:bodyPr>
          <a:lstStyle/>
          <a:p>
            <a:pPr algn="l"/>
            <a:r>
              <a:rPr sz="1200" b="0" i="0" u="none" lang="es-PE" spc="60">
                <a:solidFill>
                  <a:srgbClr val="8C93A1"/>
                </a:solidFill>
                <a:latin typeface="Consolas"/>
                <a:ea typeface="Consolas"/>
                <a:cs typeface="Consolas"/>
              </a:rPr>
              <a:t>CON CONDUCTA, ENTRE LOS 68</a:t>
            </a:r>
          </a:p>
        </p:txBody>
      </p:sp>
      <p:sp>
        <p:nvSpPr>
          <p:cNvPr id="9" name="N PVT"/>
          <p:cNvSpPr txBox="1"/>
          <p:nvPr/>
        </p:nvSpPr>
        <p:spPr>
          <a:xfrm>
            <a:off x="548640" y="3566160"/>
            <a:ext cx="1188720" cy="566928"/>
          </a:xfrm>
          <a:prstGeom prst="rect">
            <a:avLst/>
          </a:prstGeom>
          <a:noFill/>
        </p:spPr>
        <p:txBody>
          <a:bodyPr wrap="square" anchor="t" lIns="0" tIns="0" rIns="0" bIns="0">
            <a:noAutofit/>
          </a:bodyPr>
          <a:lstStyle/>
          <a:p>
            <a:pPr algn="l"/>
            <a:r>
              <a:rPr sz="3400" b="0" i="0" u="none" lang="es-PE">
                <a:solidFill>
                  <a:srgbClr val="E8EAF0"/>
                </a:solidFill>
                <a:latin typeface="Arial"/>
                <a:ea typeface="Arial"/>
                <a:cs typeface="Arial"/>
              </a:rPr>
              <a:t>30</a:t>
            </a:r>
          </a:p>
        </p:txBody>
      </p:sp>
      <p:sp>
        <p:nvSpPr>
          <p:cNvPr id="10" name="Etiqueta PVT"/>
          <p:cNvSpPr txBox="1"/>
          <p:nvPr/>
        </p:nvSpPr>
        <p:spPr>
          <a:xfrm>
            <a:off x="548640" y="4160520"/>
            <a:ext cx="1188720" cy="274320"/>
          </a:xfrm>
          <a:prstGeom prst="rect">
            <a:avLst/>
          </a:prstGeom>
          <a:noFill/>
        </p:spPr>
        <p:txBody>
          <a:bodyPr wrap="square" anchor="t" lIns="0" tIns="0" rIns="0" bIns="0">
            <a:noAutofit/>
          </a:bodyPr>
          <a:lstStyle/>
          <a:p>
            <a:pPr algn="l"/>
            <a:r>
              <a:rPr sz="1400" b="1" i="0" u="none" lang="es-PE">
                <a:solidFill>
                  <a:srgbClr val="B4BAC6"/>
                </a:solidFill>
                <a:latin typeface="Arial"/>
                <a:ea typeface="Arial"/>
                <a:cs typeface="Arial"/>
              </a:rPr>
              <a:t>PVT</a:t>
            </a:r>
          </a:p>
        </p:txBody>
      </p:sp>
      <p:sp>
        <p:nvSpPr>
          <p:cNvPr id="11" name="N KSS"/>
          <p:cNvSpPr txBox="1"/>
          <p:nvPr/>
        </p:nvSpPr>
        <p:spPr>
          <a:xfrm>
            <a:off x="1810512" y="3566160"/>
            <a:ext cx="1188720" cy="566928"/>
          </a:xfrm>
          <a:prstGeom prst="rect">
            <a:avLst/>
          </a:prstGeom>
          <a:noFill/>
        </p:spPr>
        <p:txBody>
          <a:bodyPr wrap="square" anchor="t" lIns="0" tIns="0" rIns="0" bIns="0">
            <a:noAutofit/>
          </a:bodyPr>
          <a:lstStyle/>
          <a:p>
            <a:pPr algn="l"/>
            <a:r>
              <a:rPr sz="3400" b="0" i="0" u="none" lang="es-PE">
                <a:solidFill>
                  <a:srgbClr val="E8EAF0"/>
                </a:solidFill>
                <a:latin typeface="Arial"/>
                <a:ea typeface="Arial"/>
                <a:cs typeface="Arial"/>
              </a:rPr>
              <a:t>32</a:t>
            </a:r>
          </a:p>
        </p:txBody>
      </p:sp>
      <p:sp>
        <p:nvSpPr>
          <p:cNvPr id="12" name="Etiqueta KSS"/>
          <p:cNvSpPr txBox="1"/>
          <p:nvPr/>
        </p:nvSpPr>
        <p:spPr>
          <a:xfrm>
            <a:off x="1810512" y="4160520"/>
            <a:ext cx="1188720" cy="274320"/>
          </a:xfrm>
          <a:prstGeom prst="rect">
            <a:avLst/>
          </a:prstGeom>
          <a:noFill/>
        </p:spPr>
        <p:txBody>
          <a:bodyPr wrap="square" anchor="t" lIns="0" tIns="0" rIns="0" bIns="0">
            <a:noAutofit/>
          </a:bodyPr>
          <a:lstStyle/>
          <a:p>
            <a:pPr algn="l"/>
            <a:r>
              <a:rPr sz="1400" b="1" i="0" u="none" lang="es-PE">
                <a:solidFill>
                  <a:srgbClr val="B4BAC6"/>
                </a:solidFill>
                <a:latin typeface="Arial"/>
                <a:ea typeface="Arial"/>
                <a:cs typeface="Arial"/>
              </a:rPr>
              <a:t>KSS</a:t>
            </a:r>
          </a:p>
        </p:txBody>
      </p:sp>
      <p:sp>
        <p:nvSpPr>
          <p:cNvPr id="13" name="N SSS"/>
          <p:cNvSpPr txBox="1"/>
          <p:nvPr/>
        </p:nvSpPr>
        <p:spPr>
          <a:xfrm>
            <a:off x="3072384" y="3566160"/>
            <a:ext cx="1188720" cy="566928"/>
          </a:xfrm>
          <a:prstGeom prst="rect">
            <a:avLst/>
          </a:prstGeom>
          <a:noFill/>
        </p:spPr>
        <p:txBody>
          <a:bodyPr wrap="square" anchor="t" lIns="0" tIns="0" rIns="0" bIns="0">
            <a:noAutofit/>
          </a:bodyPr>
          <a:lstStyle/>
          <a:p>
            <a:pPr algn="l"/>
            <a:r>
              <a:rPr sz="3400" b="0" i="0" u="none" lang="es-PE">
                <a:solidFill>
                  <a:srgbClr val="E8EAF0"/>
                </a:solidFill>
                <a:latin typeface="Arial"/>
                <a:ea typeface="Arial"/>
                <a:cs typeface="Arial"/>
              </a:rPr>
              <a:t>33</a:t>
            </a:r>
          </a:p>
        </p:txBody>
      </p:sp>
      <p:sp>
        <p:nvSpPr>
          <p:cNvPr id="14" name="Etiqueta SSS"/>
          <p:cNvSpPr txBox="1"/>
          <p:nvPr/>
        </p:nvSpPr>
        <p:spPr>
          <a:xfrm>
            <a:off x="3072384" y="4160520"/>
            <a:ext cx="1188720" cy="274320"/>
          </a:xfrm>
          <a:prstGeom prst="rect">
            <a:avLst/>
          </a:prstGeom>
          <a:noFill/>
        </p:spPr>
        <p:txBody>
          <a:bodyPr wrap="square" anchor="t" lIns="0" tIns="0" rIns="0" bIns="0">
            <a:noAutofit/>
          </a:bodyPr>
          <a:lstStyle/>
          <a:p>
            <a:pPr algn="l"/>
            <a:r>
              <a:rPr sz="1400" b="1" i="0" u="none" lang="es-PE">
                <a:solidFill>
                  <a:srgbClr val="B4BAC6"/>
                </a:solidFill>
                <a:latin typeface="Arial"/>
                <a:ea typeface="Arial"/>
                <a:cs typeface="Arial"/>
              </a:rPr>
              <a:t>SSS</a:t>
            </a:r>
          </a:p>
        </p:txBody>
      </p:sp>
      <p:sp>
        <p:nvSpPr>
          <p:cNvPr id="15" name="N PANAS"/>
          <p:cNvSpPr txBox="1"/>
          <p:nvPr/>
        </p:nvSpPr>
        <p:spPr>
          <a:xfrm>
            <a:off x="4334255" y="3566160"/>
            <a:ext cx="1188720" cy="566928"/>
          </a:xfrm>
          <a:prstGeom prst="rect">
            <a:avLst/>
          </a:prstGeom>
          <a:noFill/>
        </p:spPr>
        <p:txBody>
          <a:bodyPr wrap="square" anchor="t" lIns="0" tIns="0" rIns="0" bIns="0">
            <a:noAutofit/>
          </a:bodyPr>
          <a:lstStyle/>
          <a:p>
            <a:pPr algn="l"/>
            <a:r>
              <a:rPr sz="3400" b="0" i="0" u="none" lang="es-PE">
                <a:solidFill>
                  <a:srgbClr val="E8EAF0"/>
                </a:solidFill>
                <a:latin typeface="Arial"/>
                <a:ea typeface="Arial"/>
                <a:cs typeface="Arial"/>
              </a:rPr>
              <a:t>65</a:t>
            </a:r>
          </a:p>
        </p:txBody>
      </p:sp>
      <p:sp>
        <p:nvSpPr>
          <p:cNvPr id="16" name="Etiqueta PANAS"/>
          <p:cNvSpPr txBox="1"/>
          <p:nvPr/>
        </p:nvSpPr>
        <p:spPr>
          <a:xfrm>
            <a:off x="4334255" y="4160520"/>
            <a:ext cx="1188720" cy="274320"/>
          </a:xfrm>
          <a:prstGeom prst="rect">
            <a:avLst/>
          </a:prstGeom>
          <a:noFill/>
        </p:spPr>
        <p:txBody>
          <a:bodyPr wrap="square" anchor="t" lIns="0" tIns="0" rIns="0" bIns="0">
            <a:noAutofit/>
          </a:bodyPr>
          <a:lstStyle/>
          <a:p>
            <a:pPr algn="l"/>
            <a:r>
              <a:rPr sz="1400" b="1" i="0" u="none" lang="es-PE">
                <a:solidFill>
                  <a:srgbClr val="B4BAC6"/>
                </a:solidFill>
                <a:latin typeface="Arial"/>
                <a:ea typeface="Arial"/>
                <a:cs typeface="Arial"/>
              </a:rPr>
              <a:t>PANAS</a:t>
            </a:r>
          </a:p>
        </p:txBody>
      </p:sp>
      <p:sp>
        <p:nvSpPr>
          <p:cNvPr id="17" name="Paso 1"/>
          <p:cNvSpPr txBox="1"/>
          <p:nvPr/>
        </p:nvSpPr>
        <p:spPr>
          <a:xfrm>
            <a:off x="6629400" y="1783080"/>
            <a:ext cx="5013655" cy="457200"/>
          </a:xfrm>
          <a:prstGeom prst="rect">
            <a:avLst/>
          </a:prstGeom>
          <a:noFill/>
        </p:spPr>
        <p:txBody>
          <a:bodyPr wrap="square" anchor="t" lIns="0" tIns="0" rIns="0" bIns="0">
            <a:noAutofit/>
          </a:bodyPr>
          <a:lstStyle/>
          <a:p>
            <a:pPr algn="l"/>
            <a:r>
              <a:rPr sz="2600" b="0" i="0" u="none" lang="es-PE">
                <a:solidFill>
                  <a:srgbClr val="E8EAF0"/>
                </a:solidFill>
                <a:latin typeface="Arial"/>
                <a:ea typeface="Arial"/>
                <a:cs typeface="Arial"/>
              </a:rPr>
              <a:t>θ relativa</a:t>
            </a:r>
          </a:p>
        </p:txBody>
      </p:sp>
      <p:sp>
        <p:nvSpPr>
          <p:cNvPr id="18" name="Paso 1 texto"/>
          <p:cNvSpPr txBox="1"/>
          <p:nvPr/>
        </p:nvSpPr>
        <p:spPr>
          <a:xfrm>
            <a:off x="6629400" y="2258568"/>
            <a:ext cx="5013655" cy="457200"/>
          </a:xfrm>
          <a:prstGeom prst="rect">
            <a:avLst/>
          </a:prstGeom>
          <a:noFill/>
        </p:spPr>
        <p:txBody>
          <a:bodyPr wrap="square" anchor="t" lIns="0" tIns="0" rIns="0" bIns="0">
            <a:noAutofit/>
          </a:bodyPr>
          <a:lstStyle/>
          <a:p>
            <a:pPr algn="l"/>
            <a:r>
              <a:rPr sz="1500" b="0" i="0" u="none" lang="es-PE">
                <a:solidFill>
                  <a:srgbClr val="B4BAC6"/>
                </a:solidFill>
                <a:latin typeface="Arial"/>
                <a:ea typeface="Arial"/>
                <a:cs typeface="Arial"/>
              </a:rPr>
              <a:t>4 a 8 Hz sobre 1 a 40 Hz, por época de 4 s</a:t>
            </a:r>
          </a:p>
        </p:txBody>
      </p:sp>
      <p:cxnSp>
        <p:nvCxnSpPr>
          <p:cNvPr id="19" name="Separador 1"/>
          <p:cNvCxnSpPr/>
          <p:nvPr/>
        </p:nvCxnSpPr>
        <p:spPr>
          <a:xfrm>
            <a:off x="6629400" y="2788920"/>
            <a:ext cx="5013655" cy="0"/>
          </a:xfrm>
          <a:prstGeom prst="line">
            <a:avLst/>
          </a:prstGeom>
          <a:ln w="9525">
            <a:solidFill>
              <a:srgbClr val="2B3140"/>
            </a:solidFill>
          </a:ln>
        </p:spPr>
        <p:style>
          <a:lnRef idx="2">
            <a:schemeClr val="accent1"/>
          </a:lnRef>
          <a:fillRef idx="0">
            <a:schemeClr val="accent1"/>
          </a:fillRef>
          <a:effectRef idx="1">
            <a:schemeClr val="accent1"/>
          </a:effectRef>
          <a:fontRef idx="minor">
            <a:schemeClr val="tx1"/>
          </a:fontRef>
        </p:style>
      </p:cxnSp>
      <p:sp>
        <p:nvSpPr>
          <p:cNvPr id="20" name="Paso 2"/>
          <p:cNvSpPr txBox="1"/>
          <p:nvPr/>
        </p:nvSpPr>
        <p:spPr>
          <a:xfrm>
            <a:off x="6629400" y="2971800"/>
            <a:ext cx="5013655" cy="457200"/>
          </a:xfrm>
          <a:prstGeom prst="rect">
            <a:avLst/>
          </a:prstGeom>
          <a:noFill/>
        </p:spPr>
        <p:txBody>
          <a:bodyPr wrap="square" anchor="t" lIns="0" tIns="0" rIns="0" bIns="0">
            <a:noAutofit/>
          </a:bodyPr>
          <a:lstStyle/>
          <a:p>
            <a:pPr algn="l"/>
            <a:r>
              <a:rPr sz="2600" b="0" i="0" u="none" lang="es-PE">
                <a:solidFill>
                  <a:srgbClr val="E8EAF0"/>
                </a:solidFill>
                <a:latin typeface="Arial"/>
                <a:ea typeface="Arial"/>
                <a:cs typeface="Arial"/>
              </a:rPr>
              <a:t>σθ</a:t>
            </a:r>
          </a:p>
        </p:txBody>
      </p:sp>
      <p:sp>
        <p:nvSpPr>
          <p:cNvPr id="21" name="Paso 2 texto"/>
          <p:cNvSpPr txBox="1"/>
          <p:nvPr/>
        </p:nvSpPr>
        <p:spPr>
          <a:xfrm>
            <a:off x="6629400" y="3447288"/>
            <a:ext cx="5013655" cy="457200"/>
          </a:xfrm>
          <a:prstGeom prst="rect">
            <a:avLst/>
          </a:prstGeom>
          <a:noFill/>
        </p:spPr>
        <p:txBody>
          <a:bodyPr wrap="square" anchor="t" lIns="0" tIns="0" rIns="0" bIns="0">
            <a:noAutofit/>
          </a:bodyPr>
          <a:lstStyle/>
          <a:p>
            <a:pPr algn="l"/>
            <a:r>
              <a:rPr sz="1500" b="0" i="0" u="none" lang="es-PE">
                <a:solidFill>
                  <a:srgbClr val="B4BAC6"/>
                </a:solidFill>
                <a:latin typeface="Arial"/>
                <a:ea typeface="Arial"/>
                <a:cs typeface="Arial"/>
              </a:rPr>
              <a:t>desviación estándar entre 75 épocas</a:t>
            </a:r>
          </a:p>
        </p:txBody>
      </p:sp>
      <p:cxnSp>
        <p:nvCxnSpPr>
          <p:cNvPr id="22" name="Separador 2"/>
          <p:cNvCxnSpPr/>
          <p:nvPr/>
        </p:nvCxnSpPr>
        <p:spPr>
          <a:xfrm>
            <a:off x="6629400" y="3977639"/>
            <a:ext cx="5013655" cy="0"/>
          </a:xfrm>
          <a:prstGeom prst="line">
            <a:avLst/>
          </a:prstGeom>
          <a:ln w="9525">
            <a:solidFill>
              <a:srgbClr val="2B3140"/>
            </a:solidFill>
          </a:ln>
        </p:spPr>
        <p:style>
          <a:lnRef idx="2">
            <a:schemeClr val="accent1"/>
          </a:lnRef>
          <a:fillRef idx="0">
            <a:schemeClr val="accent1"/>
          </a:fillRef>
          <a:effectRef idx="1">
            <a:schemeClr val="accent1"/>
          </a:effectRef>
          <a:fontRef idx="minor">
            <a:schemeClr val="tx1"/>
          </a:fontRef>
        </p:style>
      </p:cxnSp>
      <p:sp>
        <p:nvSpPr>
          <p:cNvPr id="23" name="Paso 3"/>
          <p:cNvSpPr txBox="1"/>
          <p:nvPr/>
        </p:nvSpPr>
        <p:spPr>
          <a:xfrm>
            <a:off x="6629400" y="4160520"/>
            <a:ext cx="5013655" cy="457200"/>
          </a:xfrm>
          <a:prstGeom prst="rect">
            <a:avLst/>
          </a:prstGeom>
          <a:noFill/>
        </p:spPr>
        <p:txBody>
          <a:bodyPr wrap="square" anchor="t" lIns="0" tIns="0" rIns="0" bIns="0">
            <a:noAutofit/>
          </a:bodyPr>
          <a:lstStyle/>
          <a:p>
            <a:pPr algn="l"/>
            <a:r>
              <a:rPr sz="2600" b="0" i="0" u="none" lang="es-PE">
                <a:solidFill>
                  <a:srgbClr val="E8EAF0"/>
                </a:solidFill>
                <a:latin typeface="Arial"/>
                <a:ea typeface="Arial"/>
                <a:cs typeface="Arial"/>
              </a:rPr>
              <a:t>Δ = </a:t>
            </a:r>
            <a:r>
              <a:rPr sz="2600" b="0" i="0" u="none" lang="es-PE">
                <a:solidFill>
                  <a:srgbClr val="FF5C8A"/>
                </a:solidFill>
                <a:latin typeface="Arial"/>
                <a:ea typeface="Arial"/>
                <a:cs typeface="Arial"/>
              </a:rPr>
              <a:t>SD</a:t>
            </a:r>
            <a:r>
              <a:rPr sz="2600" b="0" i="0" u="none" lang="es-PE">
                <a:solidFill>
                  <a:srgbClr val="E8EAF0"/>
                </a:solidFill>
                <a:latin typeface="Arial"/>
                <a:ea typeface="Arial"/>
                <a:cs typeface="Arial"/>
              </a:rPr>
              <a:t> menos </a:t>
            </a:r>
            <a:r>
              <a:rPr sz="2600" b="0" i="0" u="none" lang="es-PE">
                <a:solidFill>
                  <a:srgbClr val="3DD6F5"/>
                </a:solidFill>
                <a:latin typeface="Arial"/>
                <a:ea typeface="Arial"/>
                <a:cs typeface="Arial"/>
              </a:rPr>
              <a:t>NS</a:t>
            </a:r>
          </a:p>
        </p:txBody>
      </p:sp>
      <p:sp>
        <p:nvSpPr>
          <p:cNvPr id="24" name="Paso 3 texto"/>
          <p:cNvSpPr txBox="1"/>
          <p:nvPr/>
        </p:nvSpPr>
        <p:spPr>
          <a:xfrm>
            <a:off x="6629400" y="4636008"/>
            <a:ext cx="5013655" cy="457200"/>
          </a:xfrm>
          <a:prstGeom prst="rect">
            <a:avLst/>
          </a:prstGeom>
          <a:noFill/>
        </p:spPr>
        <p:txBody>
          <a:bodyPr wrap="square" anchor="t" lIns="0" tIns="0" rIns="0" bIns="0">
            <a:noAutofit/>
          </a:bodyPr>
          <a:lstStyle/>
          <a:p>
            <a:pPr algn="l"/>
            <a:r>
              <a:rPr sz="1500" b="0" i="0" u="none" lang="es-PE">
                <a:solidFill>
                  <a:srgbClr val="B4BAC6"/>
                </a:solidFill>
                <a:latin typeface="Arial"/>
                <a:ea typeface="Arial"/>
                <a:cs typeface="Arial"/>
              </a:rPr>
              <a:t>por persona; positivo = más inestable</a:t>
            </a:r>
          </a:p>
        </p:txBody>
      </p:sp>
      <p:sp>
        <p:nvSpPr>
          <p:cNvPr id="25" name="Fuente"/>
          <p:cNvSpPr txBox="1"/>
          <p:nvPr/>
        </p:nvSpPr>
        <p:spPr>
          <a:xfrm>
            <a:off x="548640" y="5760720"/>
            <a:ext cx="11094415" cy="274320"/>
          </a:xfrm>
          <a:prstGeom prst="rect">
            <a:avLst/>
          </a:prstGeom>
          <a:noFill/>
        </p:spPr>
        <p:txBody>
          <a:bodyPr wrap="square" anchor="t" lIns="0" tIns="0" rIns="0" bIns="0">
            <a:noAutofit/>
          </a:bodyPr>
          <a:lstStyle/>
          <a:p>
            <a:pPr algn="l"/>
            <a:r>
              <a:rPr sz="1100" b="0" i="0" u="none" lang="es-PE">
                <a:solidFill>
                  <a:srgbClr val="8C93A1"/>
                </a:solidFill>
                <a:latin typeface="Arial"/>
                <a:ea typeface="Arial"/>
                <a:cs typeface="Arial"/>
              </a:rPr>
              <a:t>OpenNeuro ds004902 v1.0.8 (Xiang et al., 2024), CC0 · 61 electrodos, 500 Hz, 5 min de reposo con ojos abiertos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ítulo"/>
          <p:cNvSpPr>
            <a:spLocks noGrp="1"/>
          </p:cNvSpPr>
          <p:nvPr>
            <p:ph type="title"/>
          </p:nvPr>
        </p:nvSpPr>
        <p:spPr>
          <a:xfrm>
            <a:off x="548640" y="713232"/>
            <a:ext cx="11094415" cy="658368"/>
          </a:xfrm>
        </p:spPr>
        <p:txBody>
          <a:bodyPr wrap="square" anchor="t" lIns="0" tIns="0" rIns="0" bIns="0">
            <a:noAutofit/>
          </a:bodyPr>
          <a:lstStyle/>
          <a:p>
            <a:pPr algn="l"/>
            <a:r>
              <a:rPr sz="3000" b="0" i="0" u="none" lang="es-PE">
                <a:solidFill>
                  <a:srgbClr val="E8EAF0"/>
                </a:solidFill>
                <a:latin typeface="Arial"/>
                <a:ea typeface="Arial"/>
                <a:cs typeface="Arial"/>
              </a:rPr>
              <a:t>Todo el análisis en una sola vista</a:t>
            </a:r>
          </a:p>
        </p:txBody>
      </p:sp>
      <p:sp>
        <p:nvSpPr>
          <p:cNvPr id="3" name="Sección"/>
          <p:cNvSpPr txBox="1"/>
          <p:nvPr/>
        </p:nvSpPr>
        <p:spPr>
          <a:xfrm>
            <a:off x="548640" y="384048"/>
            <a:ext cx="11094415" cy="274320"/>
          </a:xfrm>
          <a:prstGeom prst="rect">
            <a:avLst/>
          </a:prstGeom>
          <a:noFill/>
        </p:spPr>
        <p:txBody>
          <a:bodyPr wrap="square" anchor="t" lIns="0" tIns="0" rIns="0" bIns="0">
            <a:noAutofit/>
          </a:bodyPr>
          <a:lstStyle/>
          <a:p>
            <a:pPr algn="l"/>
            <a:r>
              <a:rPr sz="1100" b="0" i="0" u="none" lang="es-PE" spc="80">
                <a:solidFill>
                  <a:srgbClr val="8C93A1"/>
                </a:solidFill>
                <a:latin typeface="Consolas"/>
                <a:ea typeface="Consolas"/>
                <a:cs typeface="Consolas"/>
              </a:rPr>
              <a:t>QUÉ CAMBIÓ DESDE LA SEMANA 10</a:t>
            </a:r>
          </a:p>
        </p:txBody>
      </p:sp>
      <p:sp>
        <p:nvSpPr>
          <p:cNvPr id="4" name="Pie"/>
          <p:cNvSpPr txBox="1"/>
          <p:nvPr/>
        </p:nvSpPr>
        <p:spPr>
          <a:xfrm>
            <a:off x="548640" y="6400800"/>
            <a:ext cx="5486400" cy="237744"/>
          </a:xfrm>
          <a:prstGeom prst="rect">
            <a:avLst/>
          </a:prstGeom>
          <a:noFill/>
        </p:spPr>
        <p:txBody>
          <a:bodyPr wrap="square" anchor="t" lIns="0" tIns="0" rIns="0" bIns="0">
            <a:noAutofit/>
          </a:bodyPr>
          <a:lstStyle/>
          <a:p>
            <a:pPr algn="l"/>
            <a:r>
              <a:rPr sz="1000" b="0" i="0" u="none" lang="es-PE">
                <a:solidFill>
                  <a:srgbClr val="8C93A1"/>
                </a:solidFill>
                <a:latin typeface="Consolas"/>
                <a:ea typeface="Consolas"/>
                <a:cs typeface="Consolas"/>
              </a:rPr>
              <a:t>BATIMIX · Semana 12 · DS5343 UTEC 2026-2</a:t>
            </a:r>
          </a:p>
        </p:txBody>
      </p:sp>
      <p:sp>
        <p:nvSpPr>
          <p:cNvPr id="5" name="Número"/>
          <p:cNvSpPr txBox="1"/>
          <p:nvPr/>
        </p:nvSpPr>
        <p:spPr>
          <a:xfrm>
            <a:off x="9814255" y="6400800"/>
            <a:ext cx="1828800" cy="237744"/>
          </a:xfrm>
          <a:prstGeom prst="rect">
            <a:avLst/>
          </a:prstGeom>
          <a:noFill/>
        </p:spPr>
        <p:txBody>
          <a:bodyPr wrap="square" anchor="t" lIns="0" tIns="0" rIns="0" bIns="0">
            <a:noAutofit/>
          </a:bodyPr>
          <a:lstStyle/>
          <a:p>
            <a:pPr algn="r"/>
            <a:r>
              <a:rPr sz="1000" b="0" i="0" u="none" lang="es-PE">
                <a:solidFill>
                  <a:srgbClr val="8C93A1"/>
                </a:solidFill>
                <a:latin typeface="Consolas"/>
                <a:ea typeface="Consolas"/>
                <a:cs typeface="Consolas"/>
              </a:rPr>
              <a:t>4 / 11</a:t>
            </a:r>
          </a:p>
        </p:txBody>
      </p:sp>
      <p:sp>
        <p:nvSpPr>
          <p:cNvPr id="6" name="Etiqueta feedback"/>
          <p:cNvSpPr txBox="1"/>
          <p:nvPr/>
        </p:nvSpPr>
        <p:spPr>
          <a:xfrm>
            <a:off x="548640" y="1737360"/>
            <a:ext cx="3566160" cy="274320"/>
          </a:xfrm>
          <a:prstGeom prst="rect">
            <a:avLst/>
          </a:prstGeom>
          <a:noFill/>
        </p:spPr>
        <p:txBody>
          <a:bodyPr wrap="square" anchor="t" lIns="0" tIns="0" rIns="0" bIns="0">
            <a:noAutofit/>
          </a:bodyPr>
          <a:lstStyle/>
          <a:p>
            <a:pPr algn="l"/>
            <a:r>
              <a:rPr sz="1200" b="0" i="0" u="none" lang="es-PE" spc="60">
                <a:solidFill>
                  <a:srgbClr val="8C93A1"/>
                </a:solidFill>
                <a:latin typeface="Consolas"/>
                <a:ea typeface="Consolas"/>
                <a:cs typeface="Consolas"/>
              </a:rPr>
              <a:t>FEEDBACK (SEMANA 10) Y RESPUESTA</a:t>
            </a:r>
          </a:p>
        </p:txBody>
      </p:sp>
      <p:sp>
        <p:nvSpPr>
          <p:cNvPr id="7" name="Feedback 1"/>
          <p:cNvSpPr txBox="1"/>
          <p:nvPr/>
        </p:nvSpPr>
        <p:spPr>
          <a:xfrm>
            <a:off x="548640" y="2148840"/>
            <a:ext cx="3611880" cy="658368"/>
          </a:xfrm>
          <a:prstGeom prst="rect">
            <a:avLst/>
          </a:prstGeom>
          <a:noFill/>
        </p:spPr>
        <p:txBody>
          <a:bodyPr wrap="square" anchor="t" lIns="0" tIns="0" rIns="0" bIns="0">
            <a:noAutofit/>
          </a:bodyPr>
          <a:lstStyle/>
          <a:p>
            <a:pPr algn="l">
              <a:spcAft>
                <a:spcPts val="200"/>
              </a:spcAft>
            </a:pPr>
            <a:r>
              <a:rPr sz="1800" b="0" i="0" u="none" lang="es-PE">
                <a:solidFill>
                  <a:srgbClr val="E8EAF0"/>
                </a:solidFill>
                <a:latin typeface="Arial"/>
                <a:ea typeface="Arial"/>
                <a:cs typeface="Arial"/>
              </a:rPr>
              <a:t>Sin espacios en blanco</a:t>
            </a:r>
          </a:p>
          <a:p>
            <a:pPr algn="l"/>
            <a:r>
              <a:rPr sz="1400" b="0" i="0" u="none" lang="es-PE">
                <a:solidFill>
                  <a:srgbClr val="B4BAC6"/>
                </a:solidFill>
                <a:latin typeface="Arial"/>
                <a:ea typeface="Arial"/>
                <a:cs typeface="Arial"/>
              </a:rPr>
              <a:t>cuatro paneles contiguos, líneas de 1 px</a:t>
            </a:r>
          </a:p>
        </p:txBody>
      </p:sp>
      <p:cxnSp>
        <p:nvCxnSpPr>
          <p:cNvPr id="8" name="Regla 1"/>
          <p:cNvCxnSpPr/>
          <p:nvPr/>
        </p:nvCxnSpPr>
        <p:spPr>
          <a:xfrm>
            <a:off x="548640" y="2862072"/>
            <a:ext cx="3520440" cy="0"/>
          </a:xfrm>
          <a:prstGeom prst="line">
            <a:avLst/>
          </a:prstGeom>
          <a:ln w="9525">
            <a:solidFill>
              <a:srgbClr val="2B3140"/>
            </a:solidFill>
          </a:ln>
        </p:spPr>
        <p:style>
          <a:lnRef idx="2">
            <a:schemeClr val="accent1"/>
          </a:lnRef>
          <a:fillRef idx="0">
            <a:schemeClr val="accent1"/>
          </a:fillRef>
          <a:effectRef idx="1">
            <a:schemeClr val="accent1"/>
          </a:effectRef>
          <a:fontRef idx="minor">
            <a:schemeClr val="tx1"/>
          </a:fontRef>
        </p:style>
      </p:cxnSp>
      <p:sp>
        <p:nvSpPr>
          <p:cNvPr id="9" name="Feedback 2"/>
          <p:cNvSpPr txBox="1"/>
          <p:nvPr/>
        </p:nvSpPr>
        <p:spPr>
          <a:xfrm>
            <a:off x="548640" y="2935224"/>
            <a:ext cx="3611880" cy="658368"/>
          </a:xfrm>
          <a:prstGeom prst="rect">
            <a:avLst/>
          </a:prstGeom>
          <a:noFill/>
        </p:spPr>
        <p:txBody>
          <a:bodyPr wrap="square" anchor="t" lIns="0" tIns="0" rIns="0" bIns="0">
            <a:noAutofit/>
          </a:bodyPr>
          <a:lstStyle/>
          <a:p>
            <a:pPr algn="l">
              <a:spcAft>
                <a:spcPts val="200"/>
              </a:spcAft>
            </a:pPr>
            <a:r>
              <a:rPr sz="1800" b="0" i="0" u="none" lang="es-PE">
                <a:solidFill>
                  <a:srgbClr val="E8EAF0"/>
                </a:solidFill>
                <a:latin typeface="Arial"/>
                <a:ea typeface="Arial"/>
                <a:cs typeface="Arial"/>
              </a:rPr>
              <a:t>Una sola vista</a:t>
            </a:r>
          </a:p>
          <a:p>
            <a:pPr algn="l"/>
            <a:r>
              <a:rPr sz="1400" b="0" i="0" u="none" lang="es-PE">
                <a:solidFill>
                  <a:srgbClr val="B4BAC6"/>
                </a:solidFill>
                <a:latin typeface="Arial"/>
                <a:ea typeface="Arial"/>
                <a:cs typeface="Arial"/>
              </a:rPr>
              <a:t>un header con el título y todos los controles</a:t>
            </a:r>
          </a:p>
        </p:txBody>
      </p:sp>
      <p:cxnSp>
        <p:nvCxnSpPr>
          <p:cNvPr id="10" name="Regla 2"/>
          <p:cNvCxnSpPr/>
          <p:nvPr/>
        </p:nvCxnSpPr>
        <p:spPr>
          <a:xfrm>
            <a:off x="548640" y="3648456"/>
            <a:ext cx="3520440" cy="0"/>
          </a:xfrm>
          <a:prstGeom prst="line">
            <a:avLst/>
          </a:prstGeom>
          <a:ln w="9525">
            <a:solidFill>
              <a:srgbClr val="2B3140"/>
            </a:solidFill>
          </a:ln>
        </p:spPr>
        <p:style>
          <a:lnRef idx="2">
            <a:schemeClr val="accent1"/>
          </a:lnRef>
          <a:fillRef idx="0">
            <a:schemeClr val="accent1"/>
          </a:fillRef>
          <a:effectRef idx="1">
            <a:schemeClr val="accent1"/>
          </a:effectRef>
          <a:fontRef idx="minor">
            <a:schemeClr val="tx1"/>
          </a:fontRef>
        </p:style>
      </p:cxnSp>
      <p:sp>
        <p:nvSpPr>
          <p:cNvPr id="11" name="Feedback 3"/>
          <p:cNvSpPr txBox="1"/>
          <p:nvPr/>
        </p:nvSpPr>
        <p:spPr>
          <a:xfrm>
            <a:off x="548640" y="3721608"/>
            <a:ext cx="3611880" cy="658368"/>
          </a:xfrm>
          <a:prstGeom prst="rect">
            <a:avLst/>
          </a:prstGeom>
          <a:noFill/>
        </p:spPr>
        <p:txBody>
          <a:bodyPr wrap="square" anchor="t" lIns="0" tIns="0" rIns="0" bIns="0">
            <a:noAutofit/>
          </a:bodyPr>
          <a:lstStyle/>
          <a:p>
            <a:pPr algn="l">
              <a:spcAft>
                <a:spcPts val="200"/>
              </a:spcAft>
            </a:pPr>
            <a:r>
              <a:rPr sz="1800" b="0" i="0" u="none" lang="es-PE">
                <a:solidFill>
                  <a:srgbClr val="E8EAF0"/>
                </a:solidFill>
                <a:latin typeface="Arial"/>
                <a:ea typeface="Arial"/>
                <a:cs typeface="Arial"/>
              </a:rPr>
              <a:t>Sin animaciones</a:t>
            </a:r>
          </a:p>
          <a:p>
            <a:pPr algn="l"/>
            <a:r>
              <a:rPr sz="1400" b="0" i="0" u="none" lang="es-PE">
                <a:solidFill>
                  <a:srgbClr val="B4BAC6"/>
                </a:solidFill>
                <a:latin typeface="Arial"/>
                <a:ea typeface="Arial"/>
                <a:cs typeface="Arial"/>
              </a:rPr>
              <a:t>cada cambio es inmediato</a:t>
            </a:r>
          </a:p>
        </p:txBody>
      </p:sp>
      <p:cxnSp>
        <p:nvCxnSpPr>
          <p:cNvPr id="12" name="Regla 3"/>
          <p:cNvCxnSpPr/>
          <p:nvPr/>
        </p:nvCxnSpPr>
        <p:spPr>
          <a:xfrm>
            <a:off x="548640" y="4434840"/>
            <a:ext cx="3520440" cy="0"/>
          </a:xfrm>
          <a:prstGeom prst="line">
            <a:avLst/>
          </a:prstGeom>
          <a:ln w="9525">
            <a:solidFill>
              <a:srgbClr val="2B3140"/>
            </a:solidFill>
          </a:ln>
        </p:spPr>
        <p:style>
          <a:lnRef idx="2">
            <a:schemeClr val="accent1"/>
          </a:lnRef>
          <a:fillRef idx="0">
            <a:schemeClr val="accent1"/>
          </a:fillRef>
          <a:effectRef idx="1">
            <a:schemeClr val="accent1"/>
          </a:effectRef>
          <a:fontRef idx="minor">
            <a:schemeClr val="tx1"/>
          </a:fontRef>
        </p:style>
      </p:cxnSp>
      <p:sp>
        <p:nvSpPr>
          <p:cNvPr id="13" name="Feedback 4"/>
          <p:cNvSpPr txBox="1"/>
          <p:nvPr/>
        </p:nvSpPr>
        <p:spPr>
          <a:xfrm>
            <a:off x="548640" y="4507992"/>
            <a:ext cx="3611880" cy="658368"/>
          </a:xfrm>
          <a:prstGeom prst="rect">
            <a:avLst/>
          </a:prstGeom>
          <a:noFill/>
        </p:spPr>
        <p:txBody>
          <a:bodyPr wrap="square" anchor="t" lIns="0" tIns="0" rIns="0" bIns="0">
            <a:noAutofit/>
          </a:bodyPr>
          <a:lstStyle/>
          <a:p>
            <a:pPr algn="l">
              <a:spcAft>
                <a:spcPts val="200"/>
              </a:spcAft>
            </a:pPr>
            <a:r>
              <a:rPr sz="1800" b="0" i="0" u="none" lang="es-PE">
                <a:solidFill>
                  <a:srgbClr val="E8EAF0"/>
                </a:solidFill>
                <a:latin typeface="Arial"/>
                <a:ea typeface="Arial"/>
                <a:cs typeface="Arial"/>
              </a:rPr>
              <a:t>Sin ruido visual</a:t>
            </a:r>
          </a:p>
          <a:p>
            <a:pPr algn="l"/>
            <a:r>
              <a:rPr sz="1400" b="0" i="0" u="none" lang="es-PE">
                <a:solidFill>
                  <a:srgbClr val="B4BAC6"/>
                </a:solidFill>
                <a:latin typeface="Arial"/>
                <a:ea typeface="Arial"/>
                <a:cs typeface="Arial"/>
              </a:rPr>
              <a:t>sin instrucciones: el título es el hallazgo</a:t>
            </a:r>
          </a:p>
        </p:txBody>
      </p:sp>
      <p:cxnSp>
        <p:nvCxnSpPr>
          <p:cNvPr id="14" name="Regla 4"/>
          <p:cNvCxnSpPr/>
          <p:nvPr/>
        </p:nvCxnSpPr>
        <p:spPr>
          <a:xfrm>
            <a:off x="548640" y="5221224"/>
            <a:ext cx="3520440" cy="0"/>
          </a:xfrm>
          <a:prstGeom prst="line">
            <a:avLst/>
          </a:prstGeom>
          <a:ln w="9525">
            <a:solidFill>
              <a:srgbClr val="2B3140"/>
            </a:solidFill>
          </a:ln>
        </p:spPr>
        <p:style>
          <a:lnRef idx="2">
            <a:schemeClr val="accent1"/>
          </a:lnRef>
          <a:fillRef idx="0">
            <a:schemeClr val="accent1"/>
          </a:fillRef>
          <a:effectRef idx="1">
            <a:schemeClr val="accent1"/>
          </a:effectRef>
          <a:fontRef idx="minor">
            <a:schemeClr val="tx1"/>
          </a:fontRef>
        </p:style>
      </p:cxnSp>
      <p:sp>
        <p:nvSpPr>
          <p:cNvPr id="15" name="Feedback 5"/>
          <p:cNvSpPr txBox="1"/>
          <p:nvPr/>
        </p:nvSpPr>
        <p:spPr>
          <a:xfrm>
            <a:off x="548640" y="5294376"/>
            <a:ext cx="3611880" cy="658368"/>
          </a:xfrm>
          <a:prstGeom prst="rect">
            <a:avLst/>
          </a:prstGeom>
          <a:noFill/>
        </p:spPr>
        <p:txBody>
          <a:bodyPr wrap="square" anchor="t" lIns="0" tIns="0" rIns="0" bIns="0">
            <a:noAutofit/>
          </a:bodyPr>
          <a:lstStyle/>
          <a:p>
            <a:pPr algn="l">
              <a:spcAft>
                <a:spcPts val="200"/>
              </a:spcAft>
            </a:pPr>
            <a:r>
              <a:rPr sz="1800" b="0" i="0" u="none" lang="es-PE">
                <a:solidFill>
                  <a:srgbClr val="E8EAF0"/>
                </a:solidFill>
                <a:latin typeface="Arial"/>
                <a:ea typeface="Arial"/>
                <a:cs typeface="Arial"/>
              </a:rPr>
              <a:t>Sin solapamientos</a:t>
            </a:r>
          </a:p>
          <a:p>
            <a:pPr algn="l"/>
            <a:r>
              <a:rPr sz="1400" b="0" i="0" u="none" lang="es-PE">
                <a:solidFill>
                  <a:srgbClr val="B4BAC6"/>
                </a:solidFill>
                <a:latin typeface="Arial"/>
                <a:ea typeface="Arial"/>
                <a:cs typeface="Arial"/>
              </a:rPr>
              <a:t>intro y método, en «Acerca de»</a:t>
            </a:r>
          </a:p>
        </p:txBody>
      </p:sp>
      <p:pic>
        <p:nvPicPr>
          <p:cNvPr id="16" name="Vista única 1365x768" descr="La aplicación completa a 1365 por 768 píxeles: un header con el título y los controles y cuatro paneles contiguos, sin desplazamiento."/>
          <p:cNvPicPr>
            <a:picLocks noChangeAspect="1"/>
          </p:cNvPicPr>
          <p:nvPr/>
        </p:nvPicPr>
        <p:blipFill>
          <a:blip r:embed="rId2"/>
          <a:stretch>
            <a:fillRect/>
          </a:stretch>
        </p:blipFill>
        <p:spPr>
          <a:xfrm>
            <a:off x="4434840" y="1783080"/>
            <a:ext cx="7208215" cy="4055611"/>
          </a:xfrm>
          <a:prstGeom prst="rect">
            <a:avLst/>
          </a:prstGeom>
          <a:ln w="9525">
            <a:solidFill>
              <a:srgbClr val="2B3140"/>
            </a:solidFill>
          </a:ln>
        </p:spPr>
      </p:pic>
      <p:sp>
        <p:nvSpPr>
          <p:cNvPr id="17" name="Pie de captura"/>
          <p:cNvSpPr txBox="1"/>
          <p:nvPr/>
        </p:nvSpPr>
        <p:spPr>
          <a:xfrm>
            <a:off x="4434840" y="5911843"/>
            <a:ext cx="7208215" cy="274320"/>
          </a:xfrm>
          <a:prstGeom prst="rect">
            <a:avLst/>
          </a:prstGeom>
          <a:noFill/>
        </p:spPr>
        <p:txBody>
          <a:bodyPr wrap="square" anchor="t" lIns="0" tIns="0" rIns="0" bIns="0">
            <a:noAutofit/>
          </a:bodyPr>
          <a:lstStyle/>
          <a:p>
            <a:pPr algn="l"/>
            <a:r>
              <a:rPr sz="1100" b="0" i="0" u="none" lang="es-PE">
                <a:solidFill>
                  <a:srgbClr val="8C93A1"/>
                </a:solidFill>
                <a:latin typeface="Arial"/>
                <a:ea typeface="Arial"/>
                <a:cs typeface="Arial"/>
              </a:rPr>
              <a:t>Captura a 1365 × 768: cabe en la pantalla sin desplazamiento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ítulo"/>
          <p:cNvSpPr>
            <a:spLocks noGrp="1"/>
          </p:cNvSpPr>
          <p:nvPr>
            <p:ph type="title"/>
          </p:nvPr>
        </p:nvSpPr>
        <p:spPr>
          <a:xfrm>
            <a:off x="548640" y="713232"/>
            <a:ext cx="11094415" cy="658368"/>
          </a:xfrm>
        </p:spPr>
        <p:txBody>
          <a:bodyPr wrap="square" anchor="t" lIns="0" tIns="0" rIns="0" bIns="0">
            <a:noAutofit/>
          </a:bodyPr>
          <a:lstStyle/>
          <a:p>
            <a:pPr algn="l"/>
            <a:r>
              <a:rPr sz="3000" b="0" i="0" u="none" lang="es-PE">
                <a:solidFill>
                  <a:srgbClr val="E8EAF0"/>
                </a:solidFill>
                <a:latin typeface="Arial"/>
                <a:ea typeface="Arial"/>
                <a:cs typeface="Arial"/>
              </a:rPr>
              <a:t>Cada tarea tiene un panel que la responde</a:t>
            </a:r>
          </a:p>
        </p:txBody>
      </p:sp>
      <p:sp>
        <p:nvSpPr>
          <p:cNvPr id="3" name="Sección"/>
          <p:cNvSpPr txBox="1"/>
          <p:nvPr/>
        </p:nvSpPr>
        <p:spPr>
          <a:xfrm>
            <a:off x="548640" y="384048"/>
            <a:ext cx="11094415" cy="274320"/>
          </a:xfrm>
          <a:prstGeom prst="rect">
            <a:avLst/>
          </a:prstGeom>
          <a:noFill/>
        </p:spPr>
        <p:txBody>
          <a:bodyPr wrap="square" anchor="t" lIns="0" tIns="0" rIns="0" bIns="0">
            <a:noAutofit/>
          </a:bodyPr>
          <a:lstStyle/>
          <a:p>
            <a:pPr algn="l"/>
            <a:r>
              <a:rPr sz="1100" b="0" i="0" u="none" lang="es-PE" spc="80">
                <a:solidFill>
                  <a:srgbClr val="8C93A1"/>
                </a:solidFill>
                <a:latin typeface="Consolas"/>
                <a:ea typeface="Consolas"/>
                <a:cs typeface="Consolas"/>
              </a:rPr>
              <a:t>TAREAS Y VISTAS</a:t>
            </a:r>
          </a:p>
        </p:txBody>
      </p:sp>
      <p:sp>
        <p:nvSpPr>
          <p:cNvPr id="4" name="Pie"/>
          <p:cNvSpPr txBox="1"/>
          <p:nvPr/>
        </p:nvSpPr>
        <p:spPr>
          <a:xfrm>
            <a:off x="548640" y="6400800"/>
            <a:ext cx="5486400" cy="237744"/>
          </a:xfrm>
          <a:prstGeom prst="rect">
            <a:avLst/>
          </a:prstGeom>
          <a:noFill/>
        </p:spPr>
        <p:txBody>
          <a:bodyPr wrap="square" anchor="t" lIns="0" tIns="0" rIns="0" bIns="0">
            <a:noAutofit/>
          </a:bodyPr>
          <a:lstStyle/>
          <a:p>
            <a:pPr algn="l"/>
            <a:r>
              <a:rPr sz="1000" b="0" i="0" u="none" lang="es-PE">
                <a:solidFill>
                  <a:srgbClr val="8C93A1"/>
                </a:solidFill>
                <a:latin typeface="Consolas"/>
                <a:ea typeface="Consolas"/>
                <a:cs typeface="Consolas"/>
              </a:rPr>
              <a:t>BATIMIX · Semana 12 · DS5343 UTEC 2026-2</a:t>
            </a:r>
          </a:p>
        </p:txBody>
      </p:sp>
      <p:sp>
        <p:nvSpPr>
          <p:cNvPr id="5" name="Número"/>
          <p:cNvSpPr txBox="1"/>
          <p:nvPr/>
        </p:nvSpPr>
        <p:spPr>
          <a:xfrm>
            <a:off x="9814255" y="6400800"/>
            <a:ext cx="1828800" cy="237744"/>
          </a:xfrm>
          <a:prstGeom prst="rect">
            <a:avLst/>
          </a:prstGeom>
          <a:noFill/>
        </p:spPr>
        <p:txBody>
          <a:bodyPr wrap="square" anchor="t" lIns="0" tIns="0" rIns="0" bIns="0">
            <a:noAutofit/>
          </a:bodyPr>
          <a:lstStyle/>
          <a:p>
            <a:pPr algn="r"/>
            <a:r>
              <a:rPr sz="1000" b="0" i="0" u="none" lang="es-PE">
                <a:solidFill>
                  <a:srgbClr val="8C93A1"/>
                </a:solidFill>
                <a:latin typeface="Consolas"/>
                <a:ea typeface="Consolas"/>
                <a:cs typeface="Consolas"/>
              </a:rPr>
              <a:t>5 / 11</a:t>
            </a:r>
          </a:p>
        </p:txBody>
      </p:sp>
      <p:graphicFrame>
        <p:nvGraphicFramePr>
          <p:cNvPr id="6" name="Tabla de tareas"/>
          <p:cNvGraphicFramePr>
            <a:graphicFrameLocks noGrp="1"/>
          </p:cNvGraphicFramePr>
          <p:nvPr/>
        </p:nvGraphicFramePr>
        <p:xfrm>
          <a:off x="548640" y="1691640"/>
          <a:ext cx="11094415" cy="3867912"/>
        </p:xfrm>
        <a:graphic>
          <a:graphicData uri="http://schemas.openxmlformats.org/drawingml/2006/table">
            <a:tbl>
              <a:tblPr firstRow="1">
                <a:tableStyleId>{2D5ABB26-0587-4C30-8999-92F81FD0307C}</a:tableStyleId>
              </a:tblPr>
              <a:tblGrid>
                <a:gridCol w="3429000"/>
                <a:gridCol w="1325880"/>
                <a:gridCol w="6339535"/>
              </a:tblGrid>
              <a:tr h="429768">
                <a:tc>
                  <a:txBody>
                    <a:bodyPr wrap="square" anchor="ctr" lIns="0" tIns="36576" bIns="36576">
                      <a:noAutofit/>
                    </a:bodyPr>
                    <a:lstStyle/>
                    <a:p>
                      <a:pPr algn="l"/>
                      <a:r>
                        <a:rPr sz="1100" b="1" i="0" u="none" lang="es-PE" spc="100">
                          <a:solidFill>
                            <a:srgbClr val="8C93A1"/>
                          </a:solidFill>
                          <a:latin typeface="Arial"/>
                          <a:ea typeface="Arial"/>
                          <a:cs typeface="Arial"/>
                        </a:rPr>
                        <a:t>TAREA</a:t>
                      </a:r>
                    </a:p>
                  </a:txBody>
                  <a:tcPr marL="0" marT="36576" marR="91440" marB="36576" anchor="ctr">
                    <a:lnL w="0">
                      <a:noFill/>
                    </a:lnL>
                    <a:lnR w="0">
                      <a:noFill/>
                    </a:lnR>
                    <a:lnT w="0">
                      <a:noFill/>
                    </a:lnT>
                    <a:lnB w="12700">
                      <a:solidFill>
                        <a:srgbClr val="B4BAC6"/>
                      </a:solidFill>
                    </a:lnB>
                    <a:noFill/>
                  </a:tcPr>
                </a:tc>
                <a:tc>
                  <a:txBody>
                    <a:bodyPr wrap="square" anchor="ctr" tIns="36576" bIns="36576">
                      <a:noAutofit/>
                    </a:bodyPr>
                    <a:lstStyle/>
                    <a:p>
                      <a:pPr algn="l"/>
                      <a:r>
                        <a:rPr sz="1100" b="1" i="0" u="none" lang="es-PE" spc="100">
                          <a:solidFill>
                            <a:srgbClr val="8C93A1"/>
                          </a:solidFill>
                          <a:latin typeface="Arial"/>
                          <a:ea typeface="Arial"/>
                          <a:cs typeface="Arial"/>
                        </a:rPr>
                        <a:t>PREGUNTA</a:t>
                      </a:r>
                    </a:p>
                  </a:txBody>
                  <a:tcPr marL="91440" marT="36576" marR="91440" marB="36576" anchor="ctr">
                    <a:lnL w="0">
                      <a:noFill/>
                    </a:lnL>
                    <a:lnR w="0">
                      <a:noFill/>
                    </a:lnR>
                    <a:lnT w="0">
                      <a:noFill/>
                    </a:lnT>
                    <a:lnB w="12700">
                      <a:solidFill>
                        <a:srgbClr val="B4BAC6"/>
                      </a:solidFill>
                    </a:lnB>
                    <a:noFill/>
                  </a:tcPr>
                </a:tc>
                <a:tc>
                  <a:txBody>
                    <a:bodyPr wrap="square" anchor="ctr" tIns="36576" bIns="36576">
                      <a:noAutofit/>
                    </a:bodyPr>
                    <a:lstStyle/>
                    <a:p>
                      <a:pPr algn="l"/>
                      <a:r>
                        <a:rPr sz="1100" b="1" i="0" u="none" lang="es-PE" spc="100">
                          <a:solidFill>
                            <a:srgbClr val="8C93A1"/>
                          </a:solidFill>
                          <a:latin typeface="Arial"/>
                          <a:ea typeface="Arial"/>
                          <a:cs typeface="Arial"/>
                        </a:rPr>
                        <a:t>PANEL QUE LA RESPONDE</a:t>
                      </a:r>
                    </a:p>
                  </a:txBody>
                  <a:tcPr marL="91440" marT="36576" marR="91440" marB="36576" anchor="ctr">
                    <a:lnL w="0">
                      <a:noFill/>
                    </a:lnL>
                    <a:lnR w="0">
                      <a:noFill/>
                    </a:lnR>
                    <a:lnT w="0">
                      <a:noFill/>
                    </a:lnT>
                    <a:lnB w="12700">
                      <a:solidFill>
                        <a:srgbClr val="B4BAC6"/>
                      </a:solidFill>
                    </a:lnB>
                    <a:noFill/>
                  </a:tcPr>
                </a:tc>
              </a:tr>
              <a:tr h="429768">
                <a:tc>
                  <a:txBody>
                    <a:bodyPr wrap="square" anchor="ctr" lIns="0" tIns="36576" bIns="36576">
                      <a:noAutofit/>
                    </a:bodyPr>
                    <a:lstStyle/>
                    <a:p>
                      <a:pPr algn="l"/>
                      <a:r>
                        <a:rPr sz="1600" b="1" i="0" u="none" lang="es-PE">
                          <a:solidFill>
                            <a:srgbClr val="E8EAF0"/>
                          </a:solidFill>
                          <a:latin typeface="Arial"/>
                          <a:ea typeface="Arial"/>
                          <a:cs typeface="Arial"/>
                        </a:rPr>
                        <a:t>T1  </a:t>
                      </a:r>
                      <a:r>
                        <a:rPr sz="1600" b="0" i="0" u="none" lang="es-PE">
                          <a:solidFill>
                            <a:srgbClr val="E8EAF0"/>
                          </a:solidFill>
                          <a:latin typeface="Arial"/>
                          <a:ea typeface="Arial"/>
                          <a:cs typeface="Arial"/>
                        </a:rPr>
                        <a:t>Localizar</a:t>
                      </a:r>
                    </a:p>
                  </a:txBody>
                  <a:tcPr marL="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B4BAC6"/>
                          </a:solidFill>
                          <a:latin typeface="Arial"/>
                          <a:ea typeface="Arial"/>
                          <a:cs typeface="Arial"/>
                        </a:rPr>
                        <a:t>Q1</a:t>
                      </a:r>
                    </a:p>
                  </a:txBody>
                  <a:tcPr marL="9144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E8EAF0"/>
                          </a:solidFill>
                          <a:latin typeface="Arial"/>
                          <a:ea typeface="Arial"/>
                          <a:cs typeface="Arial"/>
                        </a:rPr>
                        <a:t>Matriz de mapas: columna Δ con p y FDR</a:t>
                      </a:r>
                    </a:p>
                  </a:txBody>
                  <a:tcPr marL="91440" marT="36576" marR="91440" marB="36576" anchor="ctr">
                    <a:lnL w="0">
                      <a:noFill/>
                    </a:lnL>
                    <a:lnR w="0">
                      <a:noFill/>
                    </a:lnR>
                    <a:lnT w="0">
                      <a:noFill/>
                    </a:lnT>
                    <a:lnB w="9525">
                      <a:solidFill>
                        <a:srgbClr val="2B3140"/>
                      </a:solidFill>
                    </a:lnB>
                    <a:noFill/>
                  </a:tcPr>
                </a:tc>
              </a:tr>
              <a:tr h="429768">
                <a:tc>
                  <a:txBody>
                    <a:bodyPr wrap="square" anchor="ctr" lIns="0" tIns="36576" bIns="36576">
                      <a:noAutofit/>
                    </a:bodyPr>
                    <a:lstStyle/>
                    <a:p>
                      <a:pPr algn="l"/>
                      <a:r>
                        <a:rPr sz="1600" b="1" i="0" u="none" lang="es-PE">
                          <a:solidFill>
                            <a:srgbClr val="E8EAF0"/>
                          </a:solidFill>
                          <a:latin typeface="Arial"/>
                          <a:ea typeface="Arial"/>
                          <a:cs typeface="Arial"/>
                        </a:rPr>
                        <a:t>T2  </a:t>
                      </a:r>
                      <a:r>
                        <a:rPr sz="1600" b="0" i="0" u="none" lang="es-PE">
                          <a:solidFill>
                            <a:srgbClr val="E8EAF0"/>
                          </a:solidFill>
                          <a:latin typeface="Arial"/>
                          <a:ea typeface="Arial"/>
                          <a:cs typeface="Arial"/>
                        </a:rPr>
                        <a:t>Comparar métricas</a:t>
                      </a:r>
                    </a:p>
                  </a:txBody>
                  <a:tcPr marL="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B4BAC6"/>
                          </a:solidFill>
                          <a:latin typeface="Arial"/>
                          <a:ea typeface="Arial"/>
                          <a:cs typeface="Arial"/>
                        </a:rPr>
                        <a:t>Q2</a:t>
                      </a:r>
                    </a:p>
                  </a:txBody>
                  <a:tcPr marL="9144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E8EAF0"/>
                          </a:solidFill>
                          <a:latin typeface="Arial"/>
                          <a:ea typeface="Arial"/>
                          <a:cs typeface="Arial"/>
                        </a:rPr>
                        <a:t>Matriz de mapas: filas σθ y μθ</a:t>
                      </a:r>
                    </a:p>
                  </a:txBody>
                  <a:tcPr marL="91440" marT="36576" marR="91440" marB="36576" anchor="ctr">
                    <a:lnL w="0">
                      <a:noFill/>
                    </a:lnL>
                    <a:lnR w="0">
                      <a:noFill/>
                    </a:lnR>
                    <a:lnT w="0">
                      <a:noFill/>
                    </a:lnT>
                    <a:lnB w="9525">
                      <a:solidFill>
                        <a:srgbClr val="2B3140"/>
                      </a:solidFill>
                    </a:lnB>
                    <a:noFill/>
                  </a:tcPr>
                </a:tc>
              </a:tr>
              <a:tr h="429768">
                <a:tc>
                  <a:txBody>
                    <a:bodyPr wrap="square" anchor="ctr" lIns="0" tIns="36576" bIns="36576">
                      <a:noAutofit/>
                    </a:bodyPr>
                    <a:lstStyle/>
                    <a:p>
                      <a:pPr algn="l"/>
                      <a:r>
                        <a:rPr sz="1600" b="1" i="0" u="none" lang="es-PE">
                          <a:solidFill>
                            <a:srgbClr val="E8EAF0"/>
                          </a:solidFill>
                          <a:latin typeface="Arial"/>
                          <a:ea typeface="Arial"/>
                          <a:cs typeface="Arial"/>
                        </a:rPr>
                        <a:t>T3  </a:t>
                      </a:r>
                      <a:r>
                        <a:rPr sz="1600" b="0" i="0" u="none" lang="es-PE">
                          <a:solidFill>
                            <a:srgbClr val="E8EAF0"/>
                          </a:solidFill>
                          <a:latin typeface="Arial"/>
                          <a:ea typeface="Arial"/>
                          <a:cs typeface="Arial"/>
                        </a:rPr>
                        <a:t>Identificar vulnerables</a:t>
                      </a:r>
                    </a:p>
                  </a:txBody>
                  <a:tcPr marL="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B4BAC6"/>
                          </a:solidFill>
                          <a:latin typeface="Arial"/>
                          <a:ea typeface="Arial"/>
                          <a:cs typeface="Arial"/>
                        </a:rPr>
                        <a:t>Q3</a:t>
                      </a:r>
                    </a:p>
                  </a:txBody>
                  <a:tcPr marL="9144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E8EAF0"/>
                          </a:solidFill>
                          <a:latin typeface="Arial"/>
                          <a:ea typeface="Arial"/>
                          <a:cs typeface="Arial"/>
                        </a:rPr>
                        <a:t>Dispersión: cuadrante, lazo y franja de 68</a:t>
                      </a:r>
                    </a:p>
                  </a:txBody>
                  <a:tcPr marL="91440" marT="36576" marR="91440" marB="36576" anchor="ctr">
                    <a:lnL w="0">
                      <a:noFill/>
                    </a:lnL>
                    <a:lnR w="0">
                      <a:noFill/>
                    </a:lnR>
                    <a:lnT w="0">
                      <a:noFill/>
                    </a:lnT>
                    <a:lnB w="9525">
                      <a:solidFill>
                        <a:srgbClr val="2B3140"/>
                      </a:solidFill>
                    </a:lnB>
                    <a:noFill/>
                  </a:tcPr>
                </a:tc>
              </a:tr>
              <a:tr h="429768">
                <a:tc>
                  <a:txBody>
                    <a:bodyPr wrap="square" anchor="ctr" lIns="0" tIns="36576" bIns="36576">
                      <a:noAutofit/>
                    </a:bodyPr>
                    <a:lstStyle/>
                    <a:p>
                      <a:pPr algn="l"/>
                      <a:r>
                        <a:rPr sz="1600" b="1" i="0" u="none" lang="es-PE">
                          <a:solidFill>
                            <a:srgbClr val="E8EAF0"/>
                          </a:solidFill>
                          <a:latin typeface="Arial"/>
                          <a:ea typeface="Arial"/>
                          <a:cs typeface="Arial"/>
                        </a:rPr>
                        <a:t>T4  </a:t>
                      </a:r>
                      <a:r>
                        <a:rPr sz="1600" b="0" i="0" u="none" lang="es-PE">
                          <a:solidFill>
                            <a:srgbClr val="E8EAF0"/>
                          </a:solidFill>
                          <a:latin typeface="Arial"/>
                          <a:ea typeface="Arial"/>
                          <a:cs typeface="Arial"/>
                        </a:rPr>
                        <a:t>Comparar</a:t>
                      </a:r>
                    </a:p>
                  </a:txBody>
                  <a:tcPr marL="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B4BAC6"/>
                          </a:solidFill>
                          <a:latin typeface="Arial"/>
                          <a:ea typeface="Arial"/>
                          <a:cs typeface="Arial"/>
                        </a:rPr>
                        <a:t>Q4</a:t>
                      </a:r>
                    </a:p>
                  </a:txBody>
                  <a:tcPr marL="9144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E8EAF0"/>
                          </a:solidFill>
                          <a:latin typeface="Arial"/>
                          <a:ea typeface="Arial"/>
                          <a:cs typeface="Arial"/>
                        </a:rPr>
                        <a:t>Matriz por grupo; dos clics: filas A y B</a:t>
                      </a:r>
                    </a:p>
                  </a:txBody>
                  <a:tcPr marL="91440" marT="36576" marR="91440" marB="36576" anchor="ctr">
                    <a:lnL w="0">
                      <a:noFill/>
                    </a:lnL>
                    <a:lnR w="0">
                      <a:noFill/>
                    </a:lnR>
                    <a:lnT w="0">
                      <a:noFill/>
                    </a:lnT>
                    <a:lnB w="9525">
                      <a:solidFill>
                        <a:srgbClr val="2B3140"/>
                      </a:solidFill>
                    </a:lnB>
                    <a:noFill/>
                  </a:tcPr>
                </a:tc>
              </a:tr>
              <a:tr h="429768">
                <a:tc>
                  <a:txBody>
                    <a:bodyPr wrap="square" anchor="ctr" lIns="0" tIns="36576" bIns="36576">
                      <a:noAutofit/>
                    </a:bodyPr>
                    <a:lstStyle/>
                    <a:p>
                      <a:pPr algn="l"/>
                      <a:r>
                        <a:rPr sz="1600" b="1" i="0" u="none" lang="es-PE">
                          <a:solidFill>
                            <a:srgbClr val="E8EAF0"/>
                          </a:solidFill>
                          <a:latin typeface="Arial"/>
                          <a:ea typeface="Arial"/>
                          <a:cs typeface="Arial"/>
                        </a:rPr>
                        <a:t>T5  </a:t>
                      </a:r>
                      <a:r>
                        <a:rPr sz="1600" b="0" i="0" u="none" lang="es-PE">
                          <a:solidFill>
                            <a:srgbClr val="E8EAF0"/>
                          </a:solidFill>
                          <a:latin typeface="Arial"/>
                          <a:ea typeface="Arial"/>
                          <a:cs typeface="Arial"/>
                        </a:rPr>
                        <a:t>Correlacionar</a:t>
                      </a:r>
                    </a:p>
                  </a:txBody>
                  <a:tcPr marL="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B4BAC6"/>
                          </a:solidFill>
                          <a:latin typeface="Arial"/>
                          <a:ea typeface="Arial"/>
                          <a:cs typeface="Arial"/>
                        </a:rPr>
                        <a:t>Q5</a:t>
                      </a:r>
                    </a:p>
                  </a:txBody>
                  <a:tcPr marL="9144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E8EAF0"/>
                          </a:solidFill>
                          <a:latin typeface="Arial"/>
                          <a:ea typeface="Arial"/>
                          <a:cs typeface="Arial"/>
                        </a:rPr>
                        <a:t>Eje Y del header; ρ con n, por grupo</a:t>
                      </a:r>
                    </a:p>
                  </a:txBody>
                  <a:tcPr marL="91440" marT="36576" marR="91440" marB="36576" anchor="ctr">
                    <a:lnL w="0">
                      <a:noFill/>
                    </a:lnL>
                    <a:lnR w="0">
                      <a:noFill/>
                    </a:lnR>
                    <a:lnT w="0">
                      <a:noFill/>
                    </a:lnT>
                    <a:lnB w="9525">
                      <a:solidFill>
                        <a:srgbClr val="2B3140"/>
                      </a:solidFill>
                    </a:lnB>
                    <a:noFill/>
                  </a:tcPr>
                </a:tc>
              </a:tr>
              <a:tr h="429768">
                <a:tc>
                  <a:txBody>
                    <a:bodyPr wrap="square" anchor="ctr" lIns="0" tIns="36576" bIns="36576">
                      <a:noAutofit/>
                    </a:bodyPr>
                    <a:lstStyle/>
                    <a:p>
                      <a:pPr algn="l"/>
                      <a:r>
                        <a:rPr sz="1600" b="1" i="0" u="none" lang="es-PE">
                          <a:solidFill>
                            <a:srgbClr val="E8EAF0"/>
                          </a:solidFill>
                          <a:latin typeface="Arial"/>
                          <a:ea typeface="Arial"/>
                          <a:cs typeface="Arial"/>
                        </a:rPr>
                        <a:t>T6  </a:t>
                      </a:r>
                      <a:r>
                        <a:rPr sz="1600" b="0" i="0" u="none" lang="es-PE">
                          <a:solidFill>
                            <a:srgbClr val="E8EAF0"/>
                          </a:solidFill>
                          <a:latin typeface="Arial"/>
                          <a:ea typeface="Arial"/>
                          <a:cs typeface="Arial"/>
                        </a:rPr>
                        <a:t>Describir tendencia</a:t>
                      </a:r>
                    </a:p>
                  </a:txBody>
                  <a:tcPr marL="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B4BAC6"/>
                          </a:solidFill>
                          <a:latin typeface="Arial"/>
                          <a:ea typeface="Arial"/>
                          <a:cs typeface="Arial"/>
                        </a:rPr>
                        <a:t>Q6</a:t>
                      </a:r>
                    </a:p>
                  </a:txBody>
                  <a:tcPr marL="9144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E8EAF0"/>
                          </a:solidFill>
                          <a:latin typeface="Arial"/>
                          <a:ea typeface="Arial"/>
                          <a:cs typeface="Arial"/>
                        </a:rPr>
                        <a:t>Cinco minutos, media ± EE</a:t>
                      </a:r>
                    </a:p>
                  </a:txBody>
                  <a:tcPr marL="91440" marT="36576" marR="91440" marB="36576" anchor="ctr">
                    <a:lnL w="0">
                      <a:noFill/>
                    </a:lnL>
                    <a:lnR w="0">
                      <a:noFill/>
                    </a:lnR>
                    <a:lnT w="0">
                      <a:noFill/>
                    </a:lnT>
                    <a:lnB w="9525">
                      <a:solidFill>
                        <a:srgbClr val="2B3140"/>
                      </a:solidFill>
                    </a:lnB>
                    <a:noFill/>
                  </a:tcPr>
                </a:tc>
              </a:tr>
              <a:tr h="429768">
                <a:tc>
                  <a:txBody>
                    <a:bodyPr wrap="square" anchor="ctr" lIns="0" tIns="36576" bIns="36576">
                      <a:noAutofit/>
                    </a:bodyPr>
                    <a:lstStyle/>
                    <a:p>
                      <a:pPr algn="l"/>
                      <a:r>
                        <a:rPr sz="1600" b="1" i="0" u="none" lang="es-PE">
                          <a:solidFill>
                            <a:srgbClr val="E8EAF0"/>
                          </a:solidFill>
                          <a:latin typeface="Arial"/>
                          <a:ea typeface="Arial"/>
                          <a:cs typeface="Arial"/>
                        </a:rPr>
                        <a:t>T7  </a:t>
                      </a:r>
                      <a:r>
                        <a:rPr sz="1600" b="0" i="0" u="none" lang="es-PE">
                          <a:solidFill>
                            <a:srgbClr val="E8EAF0"/>
                          </a:solidFill>
                          <a:latin typeface="Arial"/>
                          <a:ea typeface="Arial"/>
                          <a:cs typeface="Arial"/>
                        </a:rPr>
                        <a:t>Filtrar por moderador</a:t>
                      </a:r>
                    </a:p>
                  </a:txBody>
                  <a:tcPr marL="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B4BAC6"/>
                          </a:solidFill>
                          <a:latin typeface="Arial"/>
                          <a:ea typeface="Arial"/>
                          <a:cs typeface="Arial"/>
                        </a:rPr>
                        <a:t>Q7</a:t>
                      </a:r>
                    </a:p>
                  </a:txBody>
                  <a:tcPr marL="9144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E8EAF0"/>
                          </a:solidFill>
                          <a:latin typeface="Arial"/>
                          <a:ea typeface="Arial"/>
                          <a:cs typeface="Arial"/>
                        </a:rPr>
                        <a:t>Selector de grupo</a:t>
                      </a:r>
                    </a:p>
                  </a:txBody>
                  <a:tcPr marL="91440" marT="36576" marR="91440" marB="36576" anchor="ctr">
                    <a:lnL w="0">
                      <a:noFill/>
                    </a:lnL>
                    <a:lnR w="0">
                      <a:noFill/>
                    </a:lnR>
                    <a:lnT w="0">
                      <a:noFill/>
                    </a:lnT>
                    <a:lnB w="9525">
                      <a:solidFill>
                        <a:srgbClr val="2B3140"/>
                      </a:solidFill>
                    </a:lnB>
                    <a:noFill/>
                  </a:tcPr>
                </a:tc>
              </a:tr>
              <a:tr h="429768">
                <a:tc>
                  <a:txBody>
                    <a:bodyPr wrap="square" anchor="ctr" lIns="0" tIns="36576" bIns="36576">
                      <a:noAutofit/>
                    </a:bodyPr>
                    <a:lstStyle/>
                    <a:p>
                      <a:pPr algn="l"/>
                      <a:r>
                        <a:rPr sz="1600" b="1" i="0" u="none" lang="es-PE">
                          <a:solidFill>
                            <a:srgbClr val="E8EAF0"/>
                          </a:solidFill>
                          <a:latin typeface="Arial"/>
                          <a:ea typeface="Arial"/>
                          <a:cs typeface="Arial"/>
                        </a:rPr>
                        <a:t>T8  </a:t>
                      </a:r>
                      <a:r>
                        <a:rPr sz="1600" b="0" i="0" u="none" lang="es-PE">
                          <a:solidFill>
                            <a:srgbClr val="E8EAF0"/>
                          </a:solidFill>
                          <a:latin typeface="Arial"/>
                          <a:ea typeface="Arial"/>
                          <a:cs typeface="Arial"/>
                        </a:rPr>
                        <a:t>Verificar robustez</a:t>
                      </a:r>
                    </a:p>
                  </a:txBody>
                  <a:tcPr marL="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B4BAC6"/>
                          </a:solidFill>
                          <a:latin typeface="Arial"/>
                          <a:ea typeface="Arial"/>
                          <a:cs typeface="Arial"/>
                        </a:rPr>
                        <a:t>nueva</a:t>
                      </a:r>
                    </a:p>
                  </a:txBody>
                  <a:tcPr marL="91440" marT="36576" marR="91440" marB="36576" anchor="ctr">
                    <a:lnL w="0">
                      <a:noFill/>
                    </a:lnL>
                    <a:lnR w="0">
                      <a:noFill/>
                    </a:lnR>
                    <a:lnT w="0">
                      <a:noFill/>
                    </a:lnT>
                    <a:lnB w="9525">
                      <a:solidFill>
                        <a:srgbClr val="2B3140"/>
                      </a:solidFill>
                    </a:lnB>
                    <a:noFill/>
                  </a:tcPr>
                </a:tc>
                <a:tc>
                  <a:txBody>
                    <a:bodyPr wrap="square" anchor="ctr" tIns="36576" bIns="36576">
                      <a:noAutofit/>
                    </a:bodyPr>
                    <a:lstStyle/>
                    <a:p>
                      <a:pPr algn="l"/>
                      <a:r>
                        <a:rPr sz="1600" b="0" i="0" u="none" lang="es-PE">
                          <a:solidFill>
                            <a:srgbClr val="E8EAF0"/>
                          </a:solidFill>
                          <a:latin typeface="Arial"/>
                          <a:ea typeface="Arial"/>
                          <a:cs typeface="Arial"/>
                        </a:rPr>
                        <a:t>Multiverso: curva y mediana por decisión</a:t>
                      </a:r>
                    </a:p>
                  </a:txBody>
                  <a:tcPr marL="91440" marT="36576" marR="91440" marB="36576" anchor="ctr">
                    <a:lnL w="0">
                      <a:noFill/>
                    </a:lnL>
                    <a:lnR w="0">
                      <a:noFill/>
                    </a:lnR>
                    <a:lnT w="0">
                      <a:noFill/>
                    </a:lnT>
                    <a:lnB w="9525">
                      <a:solidFill>
                        <a:srgbClr val="2B3140"/>
                      </a:solidFill>
                    </a:lnB>
                    <a:noFill/>
                  </a:tcPr>
                </a:tc>
              </a:tr>
            </a:tbl>
          </a:graphicData>
        </a:graphic>
      </p:graphicFrame>
      <p:sp>
        <p:nvSpPr>
          <p:cNvPr id="7" name="Fuente"/>
          <p:cNvSpPr txBox="1"/>
          <p:nvPr/>
        </p:nvSpPr>
        <p:spPr>
          <a:xfrm>
            <a:off x="548640" y="5788152"/>
            <a:ext cx="11094415" cy="274320"/>
          </a:xfrm>
          <a:prstGeom prst="rect">
            <a:avLst/>
          </a:prstGeom>
          <a:noFill/>
        </p:spPr>
        <p:txBody>
          <a:bodyPr wrap="square" anchor="t" lIns="0" tIns="0" rIns="0" bIns="0">
            <a:noAutofit/>
          </a:bodyPr>
          <a:lstStyle/>
          <a:p>
            <a:pPr algn="l"/>
            <a:r>
              <a:rPr sz="1100" b="0" i="0" u="none" lang="es-PE">
                <a:solidFill>
                  <a:srgbClr val="8C93A1"/>
                </a:solidFill>
                <a:latin typeface="Arial"/>
                <a:ea typeface="Arial"/>
                <a:cs typeface="Arial"/>
              </a:rPr>
              <a:t>Tipología de tareas de Brehmer y Munzner (2013). Q1 a Q7: preguntas de la propuesta del proyecto.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ítulo"/>
          <p:cNvSpPr>
            <a:spLocks noGrp="1"/>
          </p:cNvSpPr>
          <p:nvPr>
            <p:ph type="title"/>
          </p:nvPr>
        </p:nvSpPr>
        <p:spPr>
          <a:xfrm>
            <a:off x="548640" y="713232"/>
            <a:ext cx="11094415" cy="658368"/>
          </a:xfrm>
        </p:spPr>
        <p:txBody>
          <a:bodyPr wrap="square" anchor="t" lIns="0" tIns="0" rIns="0" bIns="0">
            <a:noAutofit/>
          </a:bodyPr>
          <a:lstStyle/>
          <a:p>
            <a:pPr algn="l"/>
            <a:r>
              <a:rPr sz="3000" b="0" i="0" u="none" lang="es-PE">
                <a:solidFill>
                  <a:srgbClr val="E8EAF0"/>
                </a:solidFill>
                <a:latin typeface="Arial"/>
                <a:ea typeface="Arial"/>
                <a:cs typeface="Arial"/>
              </a:rPr>
              <a:t>Un cambio individual, difuso y sin tendencia</a:t>
            </a:r>
          </a:p>
        </p:txBody>
      </p:sp>
      <p:sp>
        <p:nvSpPr>
          <p:cNvPr id="3" name="Sección"/>
          <p:cNvSpPr txBox="1"/>
          <p:nvPr/>
        </p:nvSpPr>
        <p:spPr>
          <a:xfrm>
            <a:off x="548640" y="384048"/>
            <a:ext cx="11094415" cy="274320"/>
          </a:xfrm>
          <a:prstGeom prst="rect">
            <a:avLst/>
          </a:prstGeom>
          <a:noFill/>
        </p:spPr>
        <p:txBody>
          <a:bodyPr wrap="square" anchor="t" lIns="0" tIns="0" rIns="0" bIns="0">
            <a:noAutofit/>
          </a:bodyPr>
          <a:lstStyle/>
          <a:p>
            <a:pPr algn="l"/>
            <a:r>
              <a:rPr sz="1100" b="0" i="0" u="none" lang="es-PE" spc="80">
                <a:solidFill>
                  <a:srgbClr val="8C93A1"/>
                </a:solidFill>
                <a:latin typeface="Consolas"/>
                <a:ea typeface="Consolas"/>
                <a:cs typeface="Consolas"/>
              </a:rPr>
              <a:t>HALLAZGOS 1 A 3</a:t>
            </a:r>
          </a:p>
        </p:txBody>
      </p:sp>
      <p:sp>
        <p:nvSpPr>
          <p:cNvPr id="4" name="Pie"/>
          <p:cNvSpPr txBox="1"/>
          <p:nvPr/>
        </p:nvSpPr>
        <p:spPr>
          <a:xfrm>
            <a:off x="548640" y="6400800"/>
            <a:ext cx="5486400" cy="237744"/>
          </a:xfrm>
          <a:prstGeom prst="rect">
            <a:avLst/>
          </a:prstGeom>
          <a:noFill/>
        </p:spPr>
        <p:txBody>
          <a:bodyPr wrap="square" anchor="t" lIns="0" tIns="0" rIns="0" bIns="0">
            <a:noAutofit/>
          </a:bodyPr>
          <a:lstStyle/>
          <a:p>
            <a:pPr algn="l"/>
            <a:r>
              <a:rPr sz="1000" b="0" i="0" u="none" lang="es-PE">
                <a:solidFill>
                  <a:srgbClr val="8C93A1"/>
                </a:solidFill>
                <a:latin typeface="Consolas"/>
                <a:ea typeface="Consolas"/>
                <a:cs typeface="Consolas"/>
              </a:rPr>
              <a:t>BATIMIX · Semana 12 · DS5343 UTEC 2026-2</a:t>
            </a:r>
          </a:p>
        </p:txBody>
      </p:sp>
      <p:sp>
        <p:nvSpPr>
          <p:cNvPr id="5" name="Número"/>
          <p:cNvSpPr txBox="1"/>
          <p:nvPr/>
        </p:nvSpPr>
        <p:spPr>
          <a:xfrm>
            <a:off x="9814255" y="6400800"/>
            <a:ext cx="1828800" cy="237744"/>
          </a:xfrm>
          <a:prstGeom prst="rect">
            <a:avLst/>
          </a:prstGeom>
          <a:noFill/>
        </p:spPr>
        <p:txBody>
          <a:bodyPr wrap="square" anchor="t" lIns="0" tIns="0" rIns="0" bIns="0">
            <a:noAutofit/>
          </a:bodyPr>
          <a:lstStyle/>
          <a:p>
            <a:pPr algn="r"/>
            <a:r>
              <a:rPr sz="1000" b="0" i="0" u="none" lang="es-PE">
                <a:solidFill>
                  <a:srgbClr val="8C93A1"/>
                </a:solidFill>
                <a:latin typeface="Consolas"/>
                <a:ea typeface="Consolas"/>
                <a:cs typeface="Consolas"/>
              </a:rPr>
              <a:t>6 / 11</a:t>
            </a:r>
          </a:p>
        </p:txBody>
      </p:sp>
      <p:sp>
        <p:nvSpPr>
          <p:cNvPr id="6" name="Pregunta 1"/>
          <p:cNvSpPr txBox="1"/>
          <p:nvPr/>
        </p:nvSpPr>
        <p:spPr>
          <a:xfrm>
            <a:off x="548640" y="1737360"/>
            <a:ext cx="3520440" cy="292608"/>
          </a:xfrm>
          <a:prstGeom prst="rect">
            <a:avLst/>
          </a:prstGeom>
          <a:noFill/>
        </p:spPr>
        <p:txBody>
          <a:bodyPr wrap="square" anchor="t" lIns="0" tIns="0" rIns="0" bIns="0">
            <a:noAutofit/>
          </a:bodyPr>
          <a:lstStyle/>
          <a:p>
            <a:pPr algn="l"/>
            <a:r>
              <a:rPr sz="1500" b="0" i="0" u="none" lang="es-PE">
                <a:solidFill>
                  <a:srgbClr val="B4BAC6"/>
                </a:solidFill>
                <a:latin typeface="Arial"/>
                <a:ea typeface="Arial"/>
                <a:cs typeface="Arial"/>
              </a:rPr>
              <a:t>1 · ¿Todos cambian igual?</a:t>
            </a:r>
          </a:p>
        </p:txBody>
      </p:sp>
      <p:sp>
        <p:nvSpPr>
          <p:cNvPr id="7" name="Cifra 1"/>
          <p:cNvSpPr txBox="1"/>
          <p:nvPr/>
        </p:nvSpPr>
        <p:spPr>
          <a:xfrm>
            <a:off x="548640" y="2057400"/>
            <a:ext cx="3520440" cy="777240"/>
          </a:xfrm>
          <a:prstGeom prst="rect">
            <a:avLst/>
          </a:prstGeom>
          <a:noFill/>
        </p:spPr>
        <p:txBody>
          <a:bodyPr wrap="square" anchor="t" lIns="0" tIns="0" rIns="0" bIns="0">
            <a:noAutofit/>
          </a:bodyPr>
          <a:lstStyle/>
          <a:p>
            <a:pPr algn="l"/>
            <a:r>
              <a:rPr sz="4400" b="0" i="0" u="none" lang="es-PE">
                <a:solidFill>
                  <a:srgbClr val="E8EAF0"/>
                </a:solidFill>
                <a:latin typeface="Arial"/>
                <a:ea typeface="Arial"/>
                <a:cs typeface="Arial"/>
              </a:rPr>
              <a:t>39 y 29</a:t>
            </a:r>
          </a:p>
        </p:txBody>
      </p:sp>
      <p:sp>
        <p:nvSpPr>
          <p:cNvPr id="8" name="Lectura 1"/>
          <p:cNvSpPr txBox="1"/>
          <p:nvPr/>
        </p:nvSpPr>
        <p:spPr>
          <a:xfrm>
            <a:off x="548640" y="2852928"/>
            <a:ext cx="3520440" cy="685800"/>
          </a:xfrm>
          <a:prstGeom prst="rect">
            <a:avLst/>
          </a:prstGeom>
          <a:noFill/>
        </p:spPr>
        <p:txBody>
          <a:bodyPr wrap="square" anchor="t" lIns="0" tIns="0" rIns="0" bIns="0">
            <a:noAutofit/>
          </a:bodyPr>
          <a:lstStyle/>
          <a:p>
            <a:pPr algn="l">
              <a:lnSpc>
                <a:spcPct val="105000"/>
              </a:lnSpc>
            </a:pPr>
            <a:r>
              <a:rPr sz="1500" b="0" i="0" u="none" lang="es-PE">
                <a:solidFill>
                  <a:srgbClr val="B4BAC6"/>
                </a:solidFill>
                <a:latin typeface="Arial"/>
                <a:ea typeface="Arial"/>
                <a:cs typeface="Arial"/>
              </a:rPr>
              <a:t>más inestables y más estables sin dormir (Δσθ frontal)</a:t>
            </a:r>
          </a:p>
        </p:txBody>
      </p:sp>
      <p:sp>
        <p:nvSpPr>
          <p:cNvPr id="9" name="Pregunta 2"/>
          <p:cNvSpPr txBox="1"/>
          <p:nvPr/>
        </p:nvSpPr>
        <p:spPr>
          <a:xfrm>
            <a:off x="4335627" y="1737360"/>
            <a:ext cx="3520440" cy="292608"/>
          </a:xfrm>
          <a:prstGeom prst="rect">
            <a:avLst/>
          </a:prstGeom>
          <a:noFill/>
        </p:spPr>
        <p:txBody>
          <a:bodyPr wrap="square" anchor="t" lIns="0" tIns="0" rIns="0" bIns="0">
            <a:noAutofit/>
          </a:bodyPr>
          <a:lstStyle/>
          <a:p>
            <a:pPr algn="l"/>
            <a:r>
              <a:rPr sz="1500" b="0" i="0" u="none" lang="es-PE">
                <a:solidFill>
                  <a:srgbClr val="B4BAC6"/>
                </a:solidFill>
                <a:latin typeface="Arial"/>
                <a:ea typeface="Arial"/>
                <a:cs typeface="Arial"/>
              </a:rPr>
              <a:t>2 · ¿Dónde cambia?</a:t>
            </a:r>
          </a:p>
        </p:txBody>
      </p:sp>
      <p:sp>
        <p:nvSpPr>
          <p:cNvPr id="10" name="Cifra 2"/>
          <p:cNvSpPr txBox="1"/>
          <p:nvPr/>
        </p:nvSpPr>
        <p:spPr>
          <a:xfrm>
            <a:off x="4335627" y="2057400"/>
            <a:ext cx="3520440" cy="777240"/>
          </a:xfrm>
          <a:prstGeom prst="rect">
            <a:avLst/>
          </a:prstGeom>
          <a:noFill/>
        </p:spPr>
        <p:txBody>
          <a:bodyPr wrap="square" anchor="t" lIns="0" tIns="0" rIns="0" bIns="0">
            <a:noAutofit/>
          </a:bodyPr>
          <a:lstStyle/>
          <a:p>
            <a:pPr algn="l"/>
            <a:r>
              <a:rPr sz="4400" b="0" i="0" u="none" lang="es-PE">
                <a:solidFill>
                  <a:srgbClr val="E8EAF0"/>
                </a:solidFill>
                <a:latin typeface="Arial"/>
                <a:ea typeface="Arial"/>
                <a:cs typeface="Arial"/>
              </a:rPr>
              <a:t>0 de 61</a:t>
            </a:r>
          </a:p>
        </p:txBody>
      </p:sp>
      <p:sp>
        <p:nvSpPr>
          <p:cNvPr id="11" name="Lectura 2"/>
          <p:cNvSpPr txBox="1"/>
          <p:nvPr/>
        </p:nvSpPr>
        <p:spPr>
          <a:xfrm>
            <a:off x="4335627" y="2852928"/>
            <a:ext cx="3520440" cy="685800"/>
          </a:xfrm>
          <a:prstGeom prst="rect">
            <a:avLst/>
          </a:prstGeom>
          <a:noFill/>
        </p:spPr>
        <p:txBody>
          <a:bodyPr wrap="square" anchor="t" lIns="0" tIns="0" rIns="0" bIns="0">
            <a:noAutofit/>
          </a:bodyPr>
          <a:lstStyle/>
          <a:p>
            <a:pPr algn="l">
              <a:lnSpc>
                <a:spcPct val="105000"/>
              </a:lnSpc>
            </a:pPr>
            <a:r>
              <a:rPr sz="1500" b="0" i="0" u="none" lang="es-PE">
                <a:solidFill>
                  <a:srgbClr val="B4BAC6"/>
                </a:solidFill>
                <a:latin typeface="Arial"/>
                <a:ea typeface="Arial"/>
                <a:cs typeface="Arial"/>
              </a:rPr>
              <a:t>electrodos tras FDR (4 sin corregir)</a:t>
            </a:r>
          </a:p>
        </p:txBody>
      </p:sp>
      <p:sp>
        <p:nvSpPr>
          <p:cNvPr id="12" name="Pregunta 3"/>
          <p:cNvSpPr txBox="1"/>
          <p:nvPr/>
        </p:nvSpPr>
        <p:spPr>
          <a:xfrm>
            <a:off x="8122615" y="1737360"/>
            <a:ext cx="3520440" cy="292608"/>
          </a:xfrm>
          <a:prstGeom prst="rect">
            <a:avLst/>
          </a:prstGeom>
          <a:noFill/>
        </p:spPr>
        <p:txBody>
          <a:bodyPr wrap="square" anchor="t" lIns="0" tIns="0" rIns="0" bIns="0">
            <a:noAutofit/>
          </a:bodyPr>
          <a:lstStyle/>
          <a:p>
            <a:pPr algn="l"/>
            <a:r>
              <a:rPr sz="1500" b="0" i="0" u="none" lang="es-PE">
                <a:solidFill>
                  <a:srgbClr val="B4BAC6"/>
                </a:solidFill>
                <a:latin typeface="Arial"/>
                <a:ea typeface="Arial"/>
                <a:cs typeface="Arial"/>
              </a:rPr>
              <a:t>3 · ¿Cuándo, en 5 minutos?</a:t>
            </a:r>
          </a:p>
        </p:txBody>
      </p:sp>
      <p:sp>
        <p:nvSpPr>
          <p:cNvPr id="13" name="Cifra 3"/>
          <p:cNvSpPr txBox="1"/>
          <p:nvPr/>
        </p:nvSpPr>
        <p:spPr>
          <a:xfrm>
            <a:off x="8122615" y="2057400"/>
            <a:ext cx="3520440" cy="777240"/>
          </a:xfrm>
          <a:prstGeom prst="rect">
            <a:avLst/>
          </a:prstGeom>
          <a:noFill/>
        </p:spPr>
        <p:txBody>
          <a:bodyPr wrap="square" anchor="t" lIns="0" tIns="0" rIns="0" bIns="0">
            <a:noAutofit/>
          </a:bodyPr>
          <a:lstStyle/>
          <a:p>
            <a:pPr algn="l"/>
            <a:r>
              <a:rPr sz="4400" b="0" i="0" u="none" lang="es-PE">
                <a:solidFill>
                  <a:srgbClr val="E8EAF0"/>
                </a:solidFill>
                <a:latin typeface="Arial"/>
                <a:ea typeface="Arial"/>
                <a:cs typeface="Arial"/>
              </a:rPr>
              <a:t>52 de 75</a:t>
            </a:r>
          </a:p>
        </p:txBody>
      </p:sp>
      <p:sp>
        <p:nvSpPr>
          <p:cNvPr id="14" name="Lectura 3"/>
          <p:cNvSpPr txBox="1"/>
          <p:nvPr/>
        </p:nvSpPr>
        <p:spPr>
          <a:xfrm>
            <a:off x="8122615" y="2852928"/>
            <a:ext cx="3520440" cy="685800"/>
          </a:xfrm>
          <a:prstGeom prst="rect">
            <a:avLst/>
          </a:prstGeom>
          <a:noFill/>
        </p:spPr>
        <p:txBody>
          <a:bodyPr wrap="square" anchor="t" lIns="0" tIns="0" rIns="0" bIns="0">
            <a:noAutofit/>
          </a:bodyPr>
          <a:lstStyle/>
          <a:p>
            <a:pPr algn="l">
              <a:lnSpc>
                <a:spcPct val="105000"/>
              </a:lnSpc>
            </a:pPr>
            <a:r>
              <a:rPr sz="1500" b="0" i="0" u="none" lang="es-PE">
                <a:solidFill>
                  <a:srgbClr val="B4BAC6"/>
                </a:solidFill>
                <a:latin typeface="Arial"/>
                <a:ea typeface="Arial"/>
                <a:cs typeface="Arial"/>
              </a:rPr>
              <a:t>épocas con SD sobre NS, sin tendencia</a:t>
            </a:r>
          </a:p>
        </p:txBody>
      </p:sp>
      <p:graphicFrame>
        <p:nvGraphicFramePr>
          <p:cNvPr id="15" name="Gráfico 68 personas"/>
          <p:cNvGraphicFramePr>
            <a:graphicFrameLocks noGrp="1"/>
          </p:cNvGraphicFramePr>
          <p:nvPr/>
        </p:nvGraphicFramePr>
        <p:xfrm>
          <a:off x="548640" y="3767328"/>
          <a:ext cx="3520440" cy="1691640"/>
        </p:xfrm>
        <a:graphic>
          <a:graphicData uri="http://schemas.openxmlformats.org/drawingml/2006/chart">
            <c:chart xmlns:c="http://schemas.openxmlformats.org/drawingml/2006/chart" r:id="rId2"/>
          </a:graphicData>
        </a:graphic>
      </p:graphicFrame>
      <p:sp>
        <p:nvSpPr>
          <p:cNvPr id="16" name="Leyenda figura 1"/>
          <p:cNvSpPr txBox="1"/>
          <p:nvPr/>
        </p:nvSpPr>
        <p:spPr>
          <a:xfrm>
            <a:off x="548640" y="5568696"/>
            <a:ext cx="3520440" cy="274320"/>
          </a:xfrm>
          <a:prstGeom prst="rect">
            <a:avLst/>
          </a:prstGeom>
          <a:noFill/>
        </p:spPr>
        <p:txBody>
          <a:bodyPr wrap="square" anchor="t" lIns="0" tIns="0" rIns="0" bIns="0">
            <a:noAutofit/>
          </a:bodyPr>
          <a:lstStyle/>
          <a:p>
            <a:pPr algn="l"/>
            <a:r>
              <a:rPr sz="1200" b="0" i="0" u="none" lang="es-PE">
                <a:solidFill>
                  <a:srgbClr val="3DD6F5"/>
                </a:solidFill>
                <a:latin typeface="Arial"/>
                <a:ea typeface="Arial"/>
                <a:cs typeface="Arial"/>
              </a:rPr>
              <a:t>■ </a:t>
            </a:r>
            <a:r>
              <a:rPr sz="1200" b="0" i="0" u="none" lang="es-PE">
                <a:solidFill>
                  <a:srgbClr val="B4BAC6"/>
                </a:solidFill>
                <a:latin typeface="Arial"/>
                <a:ea typeface="Arial"/>
                <a:cs typeface="Arial"/>
              </a:rPr>
              <a:t>29 más estables     </a:t>
            </a:r>
            <a:r>
              <a:rPr sz="1200" b="0" i="0" u="none" lang="es-PE">
                <a:solidFill>
                  <a:srgbClr val="FF5C8A"/>
                </a:solidFill>
                <a:latin typeface="Arial"/>
                <a:ea typeface="Arial"/>
                <a:cs typeface="Arial"/>
              </a:rPr>
              <a:t>■ </a:t>
            </a:r>
            <a:r>
              <a:rPr sz="1200" b="0" i="0" u="none" lang="es-PE">
                <a:solidFill>
                  <a:srgbClr val="B4BAC6"/>
                </a:solidFill>
                <a:latin typeface="Arial"/>
                <a:ea typeface="Arial"/>
                <a:cs typeface="Arial"/>
              </a:rPr>
              <a:t>39 más inestables</a:t>
            </a:r>
          </a:p>
        </p:txBody>
      </p:sp>
      <p:sp>
        <p:nvSpPr>
          <p:cNvPr id="17" name="Nariz"/>
          <p:cNvSpPr/>
          <p:nvPr/>
        </p:nvSpPr>
        <p:spPr>
          <a:xfrm>
            <a:off x="5080863" y="3758184"/>
            <a:ext cx="201168" cy="146304"/>
          </a:xfrm>
          <a:prstGeom prst="triangle">
            <a:avLst/>
          </a:prstGeom>
          <a:solidFill>
            <a:srgbClr val="0F1218"/>
          </a:solidFill>
          <a:ln w="9525">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beza"/>
          <p:cNvSpPr/>
          <p:nvPr/>
        </p:nvSpPr>
        <p:spPr>
          <a:xfrm>
            <a:off x="4427067" y="3877056"/>
            <a:ext cx="1508760" cy="1508760"/>
          </a:xfrm>
          <a:prstGeom prst="ellipse">
            <a:avLst/>
          </a:prstGeom>
          <a:solidFill>
            <a:srgbClr val="0F1218"/>
          </a:solidFill>
          <a:ln w="9525">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Electrodo AF3"/>
          <p:cNvSpPr/>
          <p:nvPr/>
        </p:nvSpPr>
        <p:spPr>
          <a:xfrm>
            <a:off x="4943511" y="4038639"/>
            <a:ext cx="91440" cy="91440"/>
          </a:xfrm>
          <a:prstGeom prst="ellipse">
            <a:avLst/>
          </a:prstGeom>
          <a:solidFill>
            <a:srgbClr val="602C47"/>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lectrodo AF4"/>
          <p:cNvSpPr/>
          <p:nvPr/>
        </p:nvSpPr>
        <p:spPr>
          <a:xfrm>
            <a:off x="5327943" y="4038639"/>
            <a:ext cx="91440" cy="91440"/>
          </a:xfrm>
          <a:prstGeom prst="ellipse">
            <a:avLst/>
          </a:prstGeom>
          <a:solidFill>
            <a:srgbClr val="D44275"/>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lectrodo AF7"/>
          <p:cNvSpPr/>
          <p:nvPr/>
        </p:nvSpPr>
        <p:spPr>
          <a:xfrm>
            <a:off x="4729116" y="4053425"/>
            <a:ext cx="91440" cy="91440"/>
          </a:xfrm>
          <a:prstGeom prst="ellipse">
            <a:avLst/>
          </a:prstGeom>
          <a:solidFill>
            <a:srgbClr val="73304F"/>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lectrodo AF8"/>
          <p:cNvSpPr/>
          <p:nvPr/>
        </p:nvSpPr>
        <p:spPr>
          <a:xfrm>
            <a:off x="5526336" y="4037423"/>
            <a:ext cx="123444" cy="123444"/>
          </a:xfrm>
          <a:prstGeom prst="ellipse">
            <a:avLst/>
          </a:prstGeom>
          <a:solidFill>
            <a:srgbClr val="EE6795"/>
          </a:solidFill>
          <a:ln w="19050">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lectrodo C1"/>
          <p:cNvSpPr/>
          <p:nvPr/>
        </p:nvSpPr>
        <p:spPr>
          <a:xfrm>
            <a:off x="4973083" y="4585716"/>
            <a:ext cx="91440" cy="91440"/>
          </a:xfrm>
          <a:prstGeom prst="ellipse">
            <a:avLst/>
          </a:prstGeom>
          <a:solidFill>
            <a:srgbClr val="682E4A"/>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lectrodo C2"/>
          <p:cNvSpPr/>
          <p:nvPr/>
        </p:nvSpPr>
        <p:spPr>
          <a:xfrm>
            <a:off x="5298371" y="4585716"/>
            <a:ext cx="91440" cy="91440"/>
          </a:xfrm>
          <a:prstGeom prst="ellipse">
            <a:avLst/>
          </a:prstGeom>
          <a:solidFill>
            <a:srgbClr val="662D49"/>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lectrodo C3"/>
          <p:cNvSpPr/>
          <p:nvPr/>
        </p:nvSpPr>
        <p:spPr>
          <a:xfrm>
            <a:off x="4803046" y="4585716"/>
            <a:ext cx="91440" cy="91440"/>
          </a:xfrm>
          <a:prstGeom prst="ellipse">
            <a:avLst/>
          </a:prstGeom>
          <a:solidFill>
            <a:srgbClr val="582B44"/>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lectrodo C4"/>
          <p:cNvSpPr/>
          <p:nvPr/>
        </p:nvSpPr>
        <p:spPr>
          <a:xfrm>
            <a:off x="5468409" y="4585716"/>
            <a:ext cx="91440" cy="91440"/>
          </a:xfrm>
          <a:prstGeom prst="ellipse">
            <a:avLst/>
          </a:prstGeom>
          <a:solidFill>
            <a:srgbClr val="3C2539"/>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lectrodo C5"/>
          <p:cNvSpPr/>
          <p:nvPr/>
        </p:nvSpPr>
        <p:spPr>
          <a:xfrm>
            <a:off x="4640401" y="4585716"/>
            <a:ext cx="91440" cy="91440"/>
          </a:xfrm>
          <a:prstGeom prst="ellipse">
            <a:avLst/>
          </a:prstGeom>
          <a:solidFill>
            <a:srgbClr val="2C2232"/>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lectrodo C6"/>
          <p:cNvSpPr/>
          <p:nvPr/>
        </p:nvSpPr>
        <p:spPr>
          <a:xfrm>
            <a:off x="5631053" y="4585716"/>
            <a:ext cx="91440" cy="91440"/>
          </a:xfrm>
          <a:prstGeom prst="ellipse">
            <a:avLst/>
          </a:prstGeom>
          <a:solidFill>
            <a:srgbClr val="D54276"/>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lectrodo CP1"/>
          <p:cNvSpPr/>
          <p:nvPr/>
        </p:nvSpPr>
        <p:spPr>
          <a:xfrm>
            <a:off x="4987869" y="4822289"/>
            <a:ext cx="91440" cy="91440"/>
          </a:xfrm>
          <a:prstGeom prst="ellipse">
            <a:avLst/>
          </a:prstGeom>
          <a:solidFill>
            <a:srgbClr val="7C3152"/>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lectrodo CP2"/>
          <p:cNvSpPr/>
          <p:nvPr/>
        </p:nvSpPr>
        <p:spPr>
          <a:xfrm>
            <a:off x="5283586" y="4822289"/>
            <a:ext cx="91440" cy="91440"/>
          </a:xfrm>
          <a:prstGeom prst="ellipse">
            <a:avLst/>
          </a:prstGeom>
          <a:solidFill>
            <a:srgbClr val="602C47"/>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lectrodo CP3"/>
          <p:cNvSpPr/>
          <p:nvPr/>
        </p:nvSpPr>
        <p:spPr>
          <a:xfrm>
            <a:off x="4832617" y="4814896"/>
            <a:ext cx="91440" cy="91440"/>
          </a:xfrm>
          <a:prstGeom prst="ellipse">
            <a:avLst/>
          </a:prstGeom>
          <a:solidFill>
            <a:srgbClr val="682E4A"/>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lectrodo CP4"/>
          <p:cNvSpPr/>
          <p:nvPr/>
        </p:nvSpPr>
        <p:spPr>
          <a:xfrm>
            <a:off x="5438837" y="4814896"/>
            <a:ext cx="91440" cy="91440"/>
          </a:xfrm>
          <a:prstGeom prst="ellipse">
            <a:avLst/>
          </a:prstGeom>
          <a:solidFill>
            <a:srgbClr val="5B2B45"/>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lectrodo CP5"/>
          <p:cNvSpPr/>
          <p:nvPr/>
        </p:nvSpPr>
        <p:spPr>
          <a:xfrm>
            <a:off x="4677366" y="4792717"/>
            <a:ext cx="91440" cy="91440"/>
          </a:xfrm>
          <a:prstGeom prst="ellipse">
            <a:avLst/>
          </a:prstGeom>
          <a:solidFill>
            <a:srgbClr val="632D48"/>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lectrodo CP6"/>
          <p:cNvSpPr/>
          <p:nvPr/>
        </p:nvSpPr>
        <p:spPr>
          <a:xfrm>
            <a:off x="5594088" y="4792717"/>
            <a:ext cx="91440" cy="91440"/>
          </a:xfrm>
          <a:prstGeom prst="ellipse">
            <a:avLst/>
          </a:prstGeom>
          <a:solidFill>
            <a:srgbClr val="1B2A39"/>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lectrodo CPz"/>
          <p:cNvSpPr/>
          <p:nvPr/>
        </p:nvSpPr>
        <p:spPr>
          <a:xfrm>
            <a:off x="5135727" y="4829682"/>
            <a:ext cx="91440" cy="91440"/>
          </a:xfrm>
          <a:prstGeom prst="ellipse">
            <a:avLst/>
          </a:prstGeom>
          <a:solidFill>
            <a:srgbClr val="682E4A"/>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lectrodo Cz"/>
          <p:cNvSpPr/>
          <p:nvPr/>
        </p:nvSpPr>
        <p:spPr>
          <a:xfrm>
            <a:off x="5135727" y="4585716"/>
            <a:ext cx="91440" cy="91440"/>
          </a:xfrm>
          <a:prstGeom prst="ellipse">
            <a:avLst/>
          </a:prstGeom>
          <a:solidFill>
            <a:srgbClr val="E6487E"/>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Electrodo F1"/>
          <p:cNvSpPr/>
          <p:nvPr/>
        </p:nvSpPr>
        <p:spPr>
          <a:xfrm>
            <a:off x="5002654" y="4164319"/>
            <a:ext cx="91440" cy="91440"/>
          </a:xfrm>
          <a:prstGeom prst="ellipse">
            <a:avLst/>
          </a:prstGeom>
          <a:solidFill>
            <a:srgbClr val="622C48"/>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lectrodo F2"/>
          <p:cNvSpPr/>
          <p:nvPr/>
        </p:nvSpPr>
        <p:spPr>
          <a:xfrm>
            <a:off x="5268800" y="4164319"/>
            <a:ext cx="91440" cy="91440"/>
          </a:xfrm>
          <a:prstGeom prst="ellipse">
            <a:avLst/>
          </a:prstGeom>
          <a:solidFill>
            <a:srgbClr val="C33F6E"/>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lectrodo F3"/>
          <p:cNvSpPr/>
          <p:nvPr/>
        </p:nvSpPr>
        <p:spPr>
          <a:xfrm>
            <a:off x="4862189" y="4179105"/>
            <a:ext cx="91440" cy="91440"/>
          </a:xfrm>
          <a:prstGeom prst="ellipse">
            <a:avLst/>
          </a:prstGeom>
          <a:solidFill>
            <a:srgbClr val="20202E"/>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Electrodo F4"/>
          <p:cNvSpPr/>
          <p:nvPr/>
        </p:nvSpPr>
        <p:spPr>
          <a:xfrm>
            <a:off x="5409265" y="4179105"/>
            <a:ext cx="91440" cy="91440"/>
          </a:xfrm>
          <a:prstGeom prst="ellipse">
            <a:avLst/>
          </a:prstGeom>
          <a:solidFill>
            <a:srgbClr val="98375D"/>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Electrodo F5"/>
          <p:cNvSpPr/>
          <p:nvPr/>
        </p:nvSpPr>
        <p:spPr>
          <a:xfrm>
            <a:off x="4729116" y="4201283"/>
            <a:ext cx="91440" cy="91440"/>
          </a:xfrm>
          <a:prstGeom prst="ellipse">
            <a:avLst/>
          </a:prstGeom>
          <a:solidFill>
            <a:srgbClr val="252130"/>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Electrodo F6"/>
          <p:cNvSpPr/>
          <p:nvPr/>
        </p:nvSpPr>
        <p:spPr>
          <a:xfrm>
            <a:off x="5542338" y="4201283"/>
            <a:ext cx="91440" cy="91440"/>
          </a:xfrm>
          <a:prstGeom prst="ellipse">
            <a:avLst/>
          </a:prstGeom>
          <a:solidFill>
            <a:srgbClr val="A73963"/>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lectrodo F7"/>
          <p:cNvSpPr/>
          <p:nvPr/>
        </p:nvSpPr>
        <p:spPr>
          <a:xfrm>
            <a:off x="4603437" y="4238248"/>
            <a:ext cx="91440" cy="91440"/>
          </a:xfrm>
          <a:prstGeom prst="ellipse">
            <a:avLst/>
          </a:prstGeom>
          <a:solidFill>
            <a:srgbClr val="512941"/>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lectrodo F8"/>
          <p:cNvSpPr/>
          <p:nvPr/>
        </p:nvSpPr>
        <p:spPr>
          <a:xfrm>
            <a:off x="5668018" y="4238248"/>
            <a:ext cx="91440" cy="91440"/>
          </a:xfrm>
          <a:prstGeom prst="ellipse">
            <a:avLst/>
          </a:prstGeom>
          <a:solidFill>
            <a:srgbClr val="95365C"/>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Electrodo FC1"/>
          <p:cNvSpPr/>
          <p:nvPr/>
        </p:nvSpPr>
        <p:spPr>
          <a:xfrm>
            <a:off x="4987869" y="4349142"/>
            <a:ext cx="91440" cy="91440"/>
          </a:xfrm>
          <a:prstGeom prst="ellipse">
            <a:avLst/>
          </a:prstGeom>
          <a:solidFill>
            <a:srgbClr val="3C2539"/>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Electrodo FC2"/>
          <p:cNvSpPr/>
          <p:nvPr/>
        </p:nvSpPr>
        <p:spPr>
          <a:xfrm>
            <a:off x="5283586" y="4349142"/>
            <a:ext cx="91440" cy="91440"/>
          </a:xfrm>
          <a:prstGeom prst="ellipse">
            <a:avLst/>
          </a:prstGeom>
          <a:solidFill>
            <a:srgbClr val="AD3B66"/>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Electrodo FC3"/>
          <p:cNvSpPr/>
          <p:nvPr/>
        </p:nvSpPr>
        <p:spPr>
          <a:xfrm>
            <a:off x="4832617" y="4356535"/>
            <a:ext cx="91440" cy="91440"/>
          </a:xfrm>
          <a:prstGeom prst="ellipse">
            <a:avLst/>
          </a:prstGeom>
          <a:solidFill>
            <a:srgbClr val="372437"/>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Electrodo FC4"/>
          <p:cNvSpPr/>
          <p:nvPr/>
        </p:nvSpPr>
        <p:spPr>
          <a:xfrm>
            <a:off x="5438837" y="4356535"/>
            <a:ext cx="91440" cy="91440"/>
          </a:xfrm>
          <a:prstGeom prst="ellipse">
            <a:avLst/>
          </a:prstGeom>
          <a:solidFill>
            <a:srgbClr val="863356"/>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Electrodo FC5"/>
          <p:cNvSpPr/>
          <p:nvPr/>
        </p:nvSpPr>
        <p:spPr>
          <a:xfrm>
            <a:off x="4677366" y="4378714"/>
            <a:ext cx="91440" cy="91440"/>
          </a:xfrm>
          <a:prstGeom prst="ellipse">
            <a:avLst/>
          </a:prstGeom>
          <a:solidFill>
            <a:srgbClr val="362436"/>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Electrodo FC6"/>
          <p:cNvSpPr/>
          <p:nvPr/>
        </p:nvSpPr>
        <p:spPr>
          <a:xfrm>
            <a:off x="5594088" y="4378714"/>
            <a:ext cx="91440" cy="91440"/>
          </a:xfrm>
          <a:prstGeom prst="ellipse">
            <a:avLst/>
          </a:prstGeom>
          <a:solidFill>
            <a:srgbClr val="863356"/>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lectrodo FT7"/>
          <p:cNvSpPr/>
          <p:nvPr/>
        </p:nvSpPr>
        <p:spPr>
          <a:xfrm>
            <a:off x="4529507" y="4423071"/>
            <a:ext cx="91440" cy="91440"/>
          </a:xfrm>
          <a:prstGeom prst="ellipse">
            <a:avLst/>
          </a:prstGeom>
          <a:solidFill>
            <a:srgbClr val="7B3152"/>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Electrodo FT8"/>
          <p:cNvSpPr/>
          <p:nvPr/>
        </p:nvSpPr>
        <p:spPr>
          <a:xfrm>
            <a:off x="5741947" y="4423071"/>
            <a:ext cx="91440" cy="91440"/>
          </a:xfrm>
          <a:prstGeom prst="ellipse">
            <a:avLst/>
          </a:prstGeom>
          <a:solidFill>
            <a:srgbClr val="C63F70"/>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lectrodo Fp1"/>
          <p:cNvSpPr/>
          <p:nvPr/>
        </p:nvSpPr>
        <p:spPr>
          <a:xfrm>
            <a:off x="4913939" y="3920352"/>
            <a:ext cx="91440" cy="91440"/>
          </a:xfrm>
          <a:prstGeom prst="ellipse">
            <a:avLst/>
          </a:prstGeom>
          <a:solidFill>
            <a:srgbClr val="B43C69"/>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lectrodo Fp2"/>
          <p:cNvSpPr/>
          <p:nvPr/>
        </p:nvSpPr>
        <p:spPr>
          <a:xfrm>
            <a:off x="5341513" y="3904350"/>
            <a:ext cx="123444" cy="123444"/>
          </a:xfrm>
          <a:prstGeom prst="ellipse">
            <a:avLst/>
          </a:prstGeom>
          <a:solidFill>
            <a:srgbClr val="ED6292"/>
          </a:solidFill>
          <a:ln w="19050">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Electrodo Fpz"/>
          <p:cNvSpPr/>
          <p:nvPr/>
        </p:nvSpPr>
        <p:spPr>
          <a:xfrm>
            <a:off x="5135727" y="3883388"/>
            <a:ext cx="91440" cy="91440"/>
          </a:xfrm>
          <a:prstGeom prst="ellipse">
            <a:avLst/>
          </a:prstGeom>
          <a:solidFill>
            <a:srgbClr val="E4457C"/>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Electrodo Fz"/>
          <p:cNvSpPr/>
          <p:nvPr/>
        </p:nvSpPr>
        <p:spPr>
          <a:xfrm>
            <a:off x="5135727" y="4156926"/>
            <a:ext cx="91440" cy="91440"/>
          </a:xfrm>
          <a:prstGeom prst="ellipse">
            <a:avLst/>
          </a:prstGeom>
          <a:solidFill>
            <a:srgbClr val="B93D6A"/>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Electrodo O1"/>
          <p:cNvSpPr/>
          <p:nvPr/>
        </p:nvSpPr>
        <p:spPr>
          <a:xfrm>
            <a:off x="4913939" y="5251079"/>
            <a:ext cx="91440" cy="91440"/>
          </a:xfrm>
          <a:prstGeom prst="ellipse">
            <a:avLst/>
          </a:prstGeom>
          <a:solidFill>
            <a:srgbClr val="E5457C"/>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Electrodo O2"/>
          <p:cNvSpPr/>
          <p:nvPr/>
        </p:nvSpPr>
        <p:spPr>
          <a:xfrm>
            <a:off x="5341513" y="5235077"/>
            <a:ext cx="123444" cy="123444"/>
          </a:xfrm>
          <a:prstGeom prst="ellipse">
            <a:avLst/>
          </a:prstGeom>
          <a:solidFill>
            <a:srgbClr val="FEA3C1"/>
          </a:solidFill>
          <a:ln w="19050">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Electrodo Oz"/>
          <p:cNvSpPr/>
          <p:nvPr/>
        </p:nvSpPr>
        <p:spPr>
          <a:xfrm>
            <a:off x="5119725" y="5249863"/>
            <a:ext cx="123444" cy="123444"/>
          </a:xfrm>
          <a:prstGeom prst="ellipse">
            <a:avLst/>
          </a:prstGeom>
          <a:solidFill>
            <a:srgbClr val="FFA6C4"/>
          </a:solidFill>
          <a:ln w="19050">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Electrodo P1"/>
          <p:cNvSpPr/>
          <p:nvPr/>
        </p:nvSpPr>
        <p:spPr>
          <a:xfrm>
            <a:off x="5002654" y="5007112"/>
            <a:ext cx="91440" cy="91440"/>
          </a:xfrm>
          <a:prstGeom prst="ellipse">
            <a:avLst/>
          </a:prstGeom>
          <a:solidFill>
            <a:srgbClr val="6A2E4B"/>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Electrodo P2"/>
          <p:cNvSpPr/>
          <p:nvPr/>
        </p:nvSpPr>
        <p:spPr>
          <a:xfrm>
            <a:off x="5268800" y="5007112"/>
            <a:ext cx="91440" cy="91440"/>
          </a:xfrm>
          <a:prstGeom prst="ellipse">
            <a:avLst/>
          </a:prstGeom>
          <a:solidFill>
            <a:srgbClr val="9A375E"/>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Electrodo P3"/>
          <p:cNvSpPr/>
          <p:nvPr/>
        </p:nvSpPr>
        <p:spPr>
          <a:xfrm>
            <a:off x="4862189" y="4992326"/>
            <a:ext cx="91440" cy="91440"/>
          </a:xfrm>
          <a:prstGeom prst="ellipse">
            <a:avLst/>
          </a:prstGeom>
          <a:solidFill>
            <a:srgbClr val="8D3559"/>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Electrodo P4"/>
          <p:cNvSpPr/>
          <p:nvPr/>
        </p:nvSpPr>
        <p:spPr>
          <a:xfrm>
            <a:off x="5409265" y="4992326"/>
            <a:ext cx="91440" cy="91440"/>
          </a:xfrm>
          <a:prstGeom prst="ellipse">
            <a:avLst/>
          </a:prstGeom>
          <a:solidFill>
            <a:srgbClr val="893457"/>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Electrodo P5"/>
          <p:cNvSpPr/>
          <p:nvPr/>
        </p:nvSpPr>
        <p:spPr>
          <a:xfrm>
            <a:off x="4729116" y="4970148"/>
            <a:ext cx="91440" cy="91440"/>
          </a:xfrm>
          <a:prstGeom prst="ellipse">
            <a:avLst/>
          </a:prstGeom>
          <a:solidFill>
            <a:srgbClr val="B43C68"/>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Electrodo P6"/>
          <p:cNvSpPr/>
          <p:nvPr/>
        </p:nvSpPr>
        <p:spPr>
          <a:xfrm>
            <a:off x="5542338" y="4970148"/>
            <a:ext cx="91440" cy="91440"/>
          </a:xfrm>
          <a:prstGeom prst="ellipse">
            <a:avLst/>
          </a:prstGeom>
          <a:solidFill>
            <a:srgbClr val="E6487E"/>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Electrodo P7"/>
          <p:cNvSpPr/>
          <p:nvPr/>
        </p:nvSpPr>
        <p:spPr>
          <a:xfrm>
            <a:off x="4603437" y="4933183"/>
            <a:ext cx="91440" cy="91440"/>
          </a:xfrm>
          <a:prstGeom prst="ellipse">
            <a:avLst/>
          </a:prstGeom>
          <a:solidFill>
            <a:srgbClr val="813254"/>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lectrodo P8"/>
          <p:cNvSpPr/>
          <p:nvPr/>
        </p:nvSpPr>
        <p:spPr>
          <a:xfrm>
            <a:off x="5668018" y="4933183"/>
            <a:ext cx="91440" cy="91440"/>
          </a:xfrm>
          <a:prstGeom prst="ellipse">
            <a:avLst/>
          </a:prstGeom>
          <a:solidFill>
            <a:srgbClr val="EE6695"/>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Electrodo PO3"/>
          <p:cNvSpPr/>
          <p:nvPr/>
        </p:nvSpPr>
        <p:spPr>
          <a:xfrm>
            <a:off x="4943511" y="5132792"/>
            <a:ext cx="91440" cy="91440"/>
          </a:xfrm>
          <a:prstGeom prst="ellipse">
            <a:avLst/>
          </a:prstGeom>
          <a:solidFill>
            <a:srgbClr val="EF6B99"/>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Electrodo PO4"/>
          <p:cNvSpPr/>
          <p:nvPr/>
        </p:nvSpPr>
        <p:spPr>
          <a:xfrm>
            <a:off x="5327943" y="5132792"/>
            <a:ext cx="91440" cy="91440"/>
          </a:xfrm>
          <a:prstGeom prst="ellipse">
            <a:avLst/>
          </a:prstGeom>
          <a:solidFill>
            <a:srgbClr val="E95487"/>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Electrodo PO7"/>
          <p:cNvSpPr/>
          <p:nvPr/>
        </p:nvSpPr>
        <p:spPr>
          <a:xfrm>
            <a:off x="4729116" y="5118006"/>
            <a:ext cx="91440" cy="91440"/>
          </a:xfrm>
          <a:prstGeom prst="ellipse">
            <a:avLst/>
          </a:prstGeom>
          <a:solidFill>
            <a:srgbClr val="E85084"/>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Electrodo PO8"/>
          <p:cNvSpPr/>
          <p:nvPr/>
        </p:nvSpPr>
        <p:spPr>
          <a:xfrm>
            <a:off x="5542338" y="5118006"/>
            <a:ext cx="91440" cy="91440"/>
          </a:xfrm>
          <a:prstGeom prst="ellipse">
            <a:avLst/>
          </a:prstGeom>
          <a:solidFill>
            <a:srgbClr val="E84F83"/>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Electrodo POz"/>
          <p:cNvSpPr/>
          <p:nvPr/>
        </p:nvSpPr>
        <p:spPr>
          <a:xfrm>
            <a:off x="5135727" y="5118006"/>
            <a:ext cx="91440" cy="91440"/>
          </a:xfrm>
          <a:prstGeom prst="ellipse">
            <a:avLst/>
          </a:prstGeom>
          <a:solidFill>
            <a:srgbClr val="E2447B"/>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Electrodo Pz"/>
          <p:cNvSpPr/>
          <p:nvPr/>
        </p:nvSpPr>
        <p:spPr>
          <a:xfrm>
            <a:off x="5135727" y="5014505"/>
            <a:ext cx="91440" cy="91440"/>
          </a:xfrm>
          <a:prstGeom prst="ellipse">
            <a:avLst/>
          </a:prstGeom>
          <a:solidFill>
            <a:srgbClr val="803254"/>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Electrodo T7"/>
          <p:cNvSpPr/>
          <p:nvPr/>
        </p:nvSpPr>
        <p:spPr>
          <a:xfrm>
            <a:off x="4470364" y="4585716"/>
            <a:ext cx="91440" cy="91440"/>
          </a:xfrm>
          <a:prstGeom prst="ellipse">
            <a:avLst/>
          </a:prstGeom>
          <a:solidFill>
            <a:srgbClr val="E74E83"/>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Electrodo T8"/>
          <p:cNvSpPr/>
          <p:nvPr/>
        </p:nvSpPr>
        <p:spPr>
          <a:xfrm>
            <a:off x="5801090" y="4585716"/>
            <a:ext cx="91440" cy="91440"/>
          </a:xfrm>
          <a:prstGeom prst="ellipse">
            <a:avLst/>
          </a:prstGeom>
          <a:solidFill>
            <a:srgbClr val="E64A80"/>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Electrodo TP10"/>
          <p:cNvSpPr/>
          <p:nvPr/>
        </p:nvSpPr>
        <p:spPr>
          <a:xfrm>
            <a:off x="5786304" y="4777932"/>
            <a:ext cx="91440" cy="91440"/>
          </a:xfrm>
          <a:prstGeom prst="ellipse">
            <a:avLst/>
          </a:prstGeom>
          <a:solidFill>
            <a:srgbClr val="D64276"/>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Electrodo TP7"/>
          <p:cNvSpPr/>
          <p:nvPr/>
        </p:nvSpPr>
        <p:spPr>
          <a:xfrm>
            <a:off x="4529507" y="4748360"/>
            <a:ext cx="91440" cy="91440"/>
          </a:xfrm>
          <a:prstGeom prst="ellipse">
            <a:avLst/>
          </a:prstGeom>
          <a:solidFill>
            <a:srgbClr val="1E4157"/>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Electrodo TP8"/>
          <p:cNvSpPr/>
          <p:nvPr/>
        </p:nvSpPr>
        <p:spPr>
          <a:xfrm>
            <a:off x="5741947" y="4748360"/>
            <a:ext cx="91440" cy="91440"/>
          </a:xfrm>
          <a:prstGeom prst="ellipse">
            <a:avLst/>
          </a:prstGeom>
          <a:solidFill>
            <a:srgbClr val="AC3A65"/>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Electrodo TP9"/>
          <p:cNvSpPr/>
          <p:nvPr/>
        </p:nvSpPr>
        <p:spPr>
          <a:xfrm>
            <a:off x="4485150" y="4777932"/>
            <a:ext cx="91440" cy="91440"/>
          </a:xfrm>
          <a:prstGeom prst="ellipse">
            <a:avLst/>
          </a:prstGeom>
          <a:solidFill>
            <a:srgbClr val="D24174"/>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Etiqueta AF8"/>
          <p:cNvSpPr txBox="1"/>
          <p:nvPr/>
        </p:nvSpPr>
        <p:spPr>
          <a:xfrm>
            <a:off x="5521802" y="3816982"/>
            <a:ext cx="457200" cy="182880"/>
          </a:xfrm>
          <a:prstGeom prst="rect">
            <a:avLst/>
          </a:prstGeom>
          <a:noFill/>
        </p:spPr>
        <p:txBody>
          <a:bodyPr wrap="square" anchor="ctr" lIns="0" tIns="0" rIns="0" bIns="0">
            <a:noAutofit/>
          </a:bodyPr>
          <a:lstStyle/>
          <a:p>
            <a:pPr algn="ctr"/>
            <a:r>
              <a:rPr sz="1000" b="1" i="0" u="none" lang="es-PE">
                <a:solidFill>
                  <a:srgbClr val="E8EAF0"/>
                </a:solidFill>
                <a:latin typeface="Arial"/>
                <a:ea typeface="Arial"/>
                <a:cs typeface="Arial"/>
              </a:rPr>
              <a:t>AF8</a:t>
            </a:r>
          </a:p>
        </p:txBody>
      </p:sp>
      <p:sp>
        <p:nvSpPr>
          <p:cNvPr id="81" name="Etiqueta Fp2"/>
          <p:cNvSpPr txBox="1"/>
          <p:nvPr/>
        </p:nvSpPr>
        <p:spPr>
          <a:xfrm>
            <a:off x="5249235" y="3676857"/>
            <a:ext cx="457200" cy="182880"/>
          </a:xfrm>
          <a:prstGeom prst="rect">
            <a:avLst/>
          </a:prstGeom>
          <a:noFill/>
        </p:spPr>
        <p:txBody>
          <a:bodyPr wrap="square" anchor="ctr" lIns="0" tIns="0" rIns="0" bIns="0">
            <a:noAutofit/>
          </a:bodyPr>
          <a:lstStyle/>
          <a:p>
            <a:pPr algn="ctr"/>
            <a:r>
              <a:rPr sz="1000" b="1" i="0" u="none" lang="es-PE">
                <a:solidFill>
                  <a:srgbClr val="E8EAF0"/>
                </a:solidFill>
                <a:latin typeface="Arial"/>
                <a:ea typeface="Arial"/>
                <a:cs typeface="Arial"/>
              </a:rPr>
              <a:t>Fp2</a:t>
            </a:r>
          </a:p>
        </p:txBody>
      </p:sp>
      <p:sp>
        <p:nvSpPr>
          <p:cNvPr id="82" name="Etiqueta O2"/>
          <p:cNvSpPr txBox="1"/>
          <p:nvPr/>
        </p:nvSpPr>
        <p:spPr>
          <a:xfrm>
            <a:off x="5249235" y="5403134"/>
            <a:ext cx="457200" cy="182880"/>
          </a:xfrm>
          <a:prstGeom prst="rect">
            <a:avLst/>
          </a:prstGeom>
          <a:noFill/>
        </p:spPr>
        <p:txBody>
          <a:bodyPr wrap="square" anchor="ctr" lIns="0" tIns="0" rIns="0" bIns="0">
            <a:noAutofit/>
          </a:bodyPr>
          <a:lstStyle/>
          <a:p>
            <a:pPr algn="ctr"/>
            <a:r>
              <a:rPr sz="1000" b="1" i="0" u="none" lang="es-PE">
                <a:solidFill>
                  <a:srgbClr val="E8EAF0"/>
                </a:solidFill>
                <a:latin typeface="Arial"/>
                <a:ea typeface="Arial"/>
                <a:cs typeface="Arial"/>
              </a:rPr>
              <a:t>O2</a:t>
            </a:r>
          </a:p>
        </p:txBody>
      </p:sp>
      <p:sp>
        <p:nvSpPr>
          <p:cNvPr id="83" name="Etiqueta Oz"/>
          <p:cNvSpPr txBox="1"/>
          <p:nvPr/>
        </p:nvSpPr>
        <p:spPr>
          <a:xfrm>
            <a:off x="4952847" y="5449824"/>
            <a:ext cx="457200" cy="182880"/>
          </a:xfrm>
          <a:prstGeom prst="rect">
            <a:avLst/>
          </a:prstGeom>
          <a:noFill/>
        </p:spPr>
        <p:txBody>
          <a:bodyPr wrap="square" anchor="ctr" lIns="0" tIns="0" rIns="0" bIns="0">
            <a:noAutofit/>
          </a:bodyPr>
          <a:lstStyle/>
          <a:p>
            <a:pPr algn="ctr"/>
            <a:r>
              <a:rPr sz="1000" b="1" i="0" u="none" lang="es-PE">
                <a:solidFill>
                  <a:srgbClr val="E8EAF0"/>
                </a:solidFill>
                <a:latin typeface="Arial"/>
                <a:ea typeface="Arial"/>
                <a:cs typeface="Arial"/>
              </a:rPr>
              <a:t>Oz</a:t>
            </a:r>
          </a:p>
        </p:txBody>
      </p:sp>
      <p:sp>
        <p:nvSpPr>
          <p:cNvPr id="84" name="Leyenda mapa título"/>
          <p:cNvSpPr txBox="1"/>
          <p:nvPr/>
        </p:nvSpPr>
        <p:spPr>
          <a:xfrm>
            <a:off x="6347307" y="3813048"/>
            <a:ext cx="1508760" cy="228600"/>
          </a:xfrm>
          <a:prstGeom prst="rect">
            <a:avLst/>
          </a:prstGeom>
          <a:noFill/>
        </p:spPr>
        <p:txBody>
          <a:bodyPr wrap="square" anchor="t" lIns="0" tIns="0" rIns="0" bIns="0">
            <a:noAutofit/>
          </a:bodyPr>
          <a:lstStyle/>
          <a:p>
            <a:pPr algn="l"/>
            <a:r>
              <a:rPr sz="1000" b="0" i="0" u="none" lang="es-PE">
                <a:solidFill>
                  <a:srgbClr val="8C93A1"/>
                </a:solidFill>
                <a:latin typeface="Arial"/>
                <a:ea typeface="Arial"/>
                <a:cs typeface="Arial"/>
              </a:rPr>
              <a:t>Δσθ, SD menos NS</a:t>
            </a:r>
          </a:p>
        </p:txBody>
      </p:sp>
      <p:sp>
        <p:nvSpPr>
          <p:cNvPr id="85" name="Escala 0"/>
          <p:cNvSpPr/>
          <p:nvPr/>
        </p:nvSpPr>
        <p:spPr>
          <a:xfrm>
            <a:off x="6347307" y="4096512"/>
            <a:ext cx="182880" cy="182880"/>
          </a:xfrm>
          <a:prstGeom prst="rect">
            <a:avLst/>
          </a:prstGeom>
          <a:solidFill>
            <a:srgbClr val="FFA6C4"/>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Escala 1"/>
          <p:cNvSpPr/>
          <p:nvPr/>
        </p:nvSpPr>
        <p:spPr>
          <a:xfrm>
            <a:off x="6347307" y="4279392"/>
            <a:ext cx="182880" cy="182880"/>
          </a:xfrm>
          <a:prstGeom prst="rect">
            <a:avLst/>
          </a:prstGeom>
          <a:solidFill>
            <a:srgbClr val="E5457C"/>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Escala 2"/>
          <p:cNvSpPr/>
          <p:nvPr/>
        </p:nvSpPr>
        <p:spPr>
          <a:xfrm>
            <a:off x="6347307" y="4462272"/>
            <a:ext cx="182880" cy="182880"/>
          </a:xfrm>
          <a:prstGeom prst="rect">
            <a:avLst/>
          </a:prstGeom>
          <a:solidFill>
            <a:srgbClr val="1A1F2B"/>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Escala 3"/>
          <p:cNvSpPr/>
          <p:nvPr/>
        </p:nvSpPr>
        <p:spPr>
          <a:xfrm>
            <a:off x="6347307" y="4645152"/>
            <a:ext cx="182880" cy="182880"/>
          </a:xfrm>
          <a:prstGeom prst="rect">
            <a:avLst/>
          </a:prstGeom>
          <a:solidFill>
            <a:srgbClr val="2AA9DC"/>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Escala 4"/>
          <p:cNvSpPr/>
          <p:nvPr/>
        </p:nvSpPr>
        <p:spPr>
          <a:xfrm>
            <a:off x="6347307" y="4828032"/>
            <a:ext cx="182880" cy="182880"/>
          </a:xfrm>
          <a:prstGeom prst="rect">
            <a:avLst/>
          </a:prstGeom>
          <a:solidFill>
            <a:srgbClr val="A7EEFF"/>
          </a:solidFill>
          <a:ln w="6350">
            <a:solidFill>
              <a:srgbClr val="4A51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Escala máx"/>
          <p:cNvSpPr txBox="1"/>
          <p:nvPr/>
        </p:nvSpPr>
        <p:spPr>
          <a:xfrm>
            <a:off x="6603339" y="4069080"/>
            <a:ext cx="1188720" cy="228600"/>
          </a:xfrm>
          <a:prstGeom prst="rect">
            <a:avLst/>
          </a:prstGeom>
          <a:noFill/>
        </p:spPr>
        <p:txBody>
          <a:bodyPr wrap="square" anchor="t" lIns="0" tIns="0" rIns="0" bIns="0">
            <a:noAutofit/>
          </a:bodyPr>
          <a:lstStyle/>
          <a:p>
            <a:pPr algn="l"/>
            <a:r>
              <a:rPr sz="1000" b="0" i="0" u="none" lang="es-PE">
                <a:solidFill>
                  <a:srgbClr val="8C93A1"/>
                </a:solidFill>
                <a:latin typeface="Arial"/>
                <a:ea typeface="Arial"/>
                <a:cs typeface="Arial"/>
              </a:rPr>
              <a:t>+0.009</a:t>
            </a:r>
          </a:p>
        </p:txBody>
      </p:sp>
      <p:sp>
        <p:nvSpPr>
          <p:cNvPr id="91" name="Escala cero"/>
          <p:cNvSpPr txBox="1"/>
          <p:nvPr/>
        </p:nvSpPr>
        <p:spPr>
          <a:xfrm>
            <a:off x="6603339" y="4434840"/>
            <a:ext cx="1188720" cy="228600"/>
          </a:xfrm>
          <a:prstGeom prst="rect">
            <a:avLst/>
          </a:prstGeom>
          <a:noFill/>
        </p:spPr>
        <p:txBody>
          <a:bodyPr wrap="square" anchor="t" lIns="0" tIns="0" rIns="0" bIns="0">
            <a:noAutofit/>
          </a:bodyPr>
          <a:lstStyle/>
          <a:p>
            <a:pPr algn="l"/>
            <a:r>
              <a:rPr sz="1000" b="0" i="0" u="none" lang="es-PE">
                <a:solidFill>
                  <a:srgbClr val="8C93A1"/>
                </a:solidFill>
                <a:latin typeface="Arial"/>
                <a:ea typeface="Arial"/>
                <a:cs typeface="Arial"/>
              </a:rPr>
              <a:t>0</a:t>
            </a:r>
          </a:p>
        </p:txBody>
      </p:sp>
      <p:sp>
        <p:nvSpPr>
          <p:cNvPr id="92" name="Escala mín"/>
          <p:cNvSpPr txBox="1"/>
          <p:nvPr/>
        </p:nvSpPr>
        <p:spPr>
          <a:xfrm>
            <a:off x="6603339" y="4800600"/>
            <a:ext cx="1188720" cy="228600"/>
          </a:xfrm>
          <a:prstGeom prst="rect">
            <a:avLst/>
          </a:prstGeom>
          <a:noFill/>
        </p:spPr>
        <p:txBody>
          <a:bodyPr wrap="square" anchor="t" lIns="0" tIns="0" rIns="0" bIns="0">
            <a:noAutofit/>
          </a:bodyPr>
          <a:lstStyle/>
          <a:p>
            <a:pPr algn="l"/>
            <a:r>
              <a:rPr sz="1000" b="0" i="0" u="none" lang="es-PE">
                <a:solidFill>
                  <a:srgbClr val="8C93A1"/>
                </a:solidFill>
                <a:latin typeface="Arial"/>
                <a:ea typeface="Arial"/>
                <a:cs typeface="Arial"/>
              </a:rPr>
              <a:t>−0.009</a:t>
            </a:r>
          </a:p>
        </p:txBody>
      </p:sp>
      <p:sp>
        <p:nvSpPr>
          <p:cNvPr id="93" name="Anillo leyenda"/>
          <p:cNvSpPr/>
          <p:nvPr/>
        </p:nvSpPr>
        <p:spPr>
          <a:xfrm>
            <a:off x="6377025" y="5122926"/>
            <a:ext cx="123444" cy="123444"/>
          </a:xfrm>
          <a:prstGeom prst="ellipse">
            <a:avLst/>
          </a:prstGeom>
          <a:solidFill>
            <a:srgbClr val="0B0D12"/>
          </a:solidFill>
          <a:ln w="19050">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Leyenda anillo"/>
          <p:cNvSpPr txBox="1"/>
          <p:nvPr/>
        </p:nvSpPr>
        <p:spPr>
          <a:xfrm>
            <a:off x="6603339" y="5074920"/>
            <a:ext cx="1280160" cy="228600"/>
          </a:xfrm>
          <a:prstGeom prst="rect">
            <a:avLst/>
          </a:prstGeom>
          <a:noFill/>
        </p:spPr>
        <p:txBody>
          <a:bodyPr wrap="square" anchor="t" lIns="0" tIns="0" rIns="0" bIns="0">
            <a:noAutofit/>
          </a:bodyPr>
          <a:lstStyle/>
          <a:p>
            <a:pPr algn="l"/>
            <a:r>
              <a:rPr sz="1000" b="0" i="0" u="none" lang="es-PE">
                <a:solidFill>
                  <a:srgbClr val="8C93A1"/>
                </a:solidFill>
                <a:latin typeface="Arial"/>
                <a:ea typeface="Arial"/>
                <a:cs typeface="Arial"/>
              </a:rPr>
              <a:t>p &lt; 0.05 sin corregir</a:t>
            </a:r>
          </a:p>
        </p:txBody>
      </p:sp>
      <p:graphicFrame>
        <p:nvGraphicFramePr>
          <p:cNvPr id="95" name="Gráfico cinco minutos"/>
          <p:cNvGraphicFramePr>
            <a:graphicFrameLocks noGrp="1"/>
          </p:cNvGraphicFramePr>
          <p:nvPr/>
        </p:nvGraphicFramePr>
        <p:xfrm>
          <a:off x="8122615" y="3767328"/>
          <a:ext cx="3520440" cy="1691640"/>
        </p:xfrm>
        <a:graphic>
          <a:graphicData uri="http://schemas.openxmlformats.org/drawingml/2006/chart">
            <c:chart xmlns:c="http://schemas.openxmlformats.org/drawingml/2006/chart" r:id="rId3"/>
          </a:graphicData>
        </a:graphic>
      </p:graphicFrame>
      <p:sp>
        <p:nvSpPr>
          <p:cNvPr id="96" name="Leyenda figura 3"/>
          <p:cNvSpPr txBox="1"/>
          <p:nvPr/>
        </p:nvSpPr>
        <p:spPr>
          <a:xfrm>
            <a:off x="8122615" y="5568696"/>
            <a:ext cx="3520440" cy="274320"/>
          </a:xfrm>
          <a:prstGeom prst="rect">
            <a:avLst/>
          </a:prstGeom>
          <a:noFill/>
        </p:spPr>
        <p:txBody>
          <a:bodyPr wrap="square" anchor="t" lIns="0" tIns="0" rIns="0" bIns="0">
            <a:noAutofit/>
          </a:bodyPr>
          <a:lstStyle/>
          <a:p>
            <a:pPr algn="l"/>
            <a:r>
              <a:rPr sz="1200" b="0" i="0" u="none" lang="es-PE">
                <a:solidFill>
                  <a:srgbClr val="3DD6F5"/>
                </a:solidFill>
                <a:latin typeface="Arial"/>
                <a:ea typeface="Arial"/>
                <a:cs typeface="Arial"/>
              </a:rPr>
              <a:t>■ </a:t>
            </a:r>
            <a:r>
              <a:rPr sz="1200" b="0" i="0" u="none" lang="es-PE">
                <a:solidFill>
                  <a:srgbClr val="B4BAC6"/>
                </a:solidFill>
                <a:latin typeface="Arial"/>
                <a:ea typeface="Arial"/>
                <a:cs typeface="Arial"/>
              </a:rPr>
              <a:t>NS     </a:t>
            </a:r>
            <a:r>
              <a:rPr sz="1200" b="0" i="0" u="none" lang="es-PE">
                <a:solidFill>
                  <a:srgbClr val="FF5C8A"/>
                </a:solidFill>
                <a:latin typeface="Arial"/>
                <a:ea typeface="Arial"/>
                <a:cs typeface="Arial"/>
              </a:rPr>
              <a:t>■ </a:t>
            </a:r>
            <a:r>
              <a:rPr sz="1200" b="0" i="0" u="none" lang="es-PE">
                <a:solidFill>
                  <a:srgbClr val="B4BAC6"/>
                </a:solidFill>
                <a:latin typeface="Arial"/>
                <a:ea typeface="Arial"/>
                <a:cs typeface="Arial"/>
              </a:rPr>
              <a:t>SD     </a:t>
            </a:r>
            <a:r>
              <a:rPr sz="1200" b="0" i="0" u="none" lang="es-PE">
                <a:solidFill>
                  <a:srgbClr val="8C93A1"/>
                </a:solidFill>
                <a:latin typeface="Arial"/>
                <a:ea typeface="Arial"/>
                <a:cs typeface="Arial"/>
              </a:rPr>
              <a:t>tiempo (s); media de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ítulo"/>
          <p:cNvSpPr>
            <a:spLocks noGrp="1"/>
          </p:cNvSpPr>
          <p:nvPr>
            <p:ph type="title"/>
          </p:nvPr>
        </p:nvSpPr>
        <p:spPr>
          <a:xfrm>
            <a:off x="548640" y="713232"/>
            <a:ext cx="11094415" cy="658368"/>
          </a:xfrm>
        </p:spPr>
        <p:txBody>
          <a:bodyPr wrap="square" anchor="t" lIns="0" tIns="0" rIns="0" bIns="0">
            <a:noAutofit/>
          </a:bodyPr>
          <a:lstStyle/>
          <a:p>
            <a:pPr algn="l"/>
            <a:r>
              <a:rPr sz="3000" b="0" i="0" u="none" lang="es-PE">
                <a:solidFill>
                  <a:srgbClr val="E8EAF0"/>
                </a:solidFill>
                <a:latin typeface="Arial"/>
                <a:ea typeface="Arial"/>
                <a:cs typeface="Arial"/>
              </a:rPr>
              <a:t>Más inestable no significa más lento</a:t>
            </a:r>
          </a:p>
        </p:txBody>
      </p:sp>
      <p:sp>
        <p:nvSpPr>
          <p:cNvPr id="3" name="Sección"/>
          <p:cNvSpPr txBox="1"/>
          <p:nvPr/>
        </p:nvSpPr>
        <p:spPr>
          <a:xfrm>
            <a:off x="548640" y="384048"/>
            <a:ext cx="11094415" cy="274320"/>
          </a:xfrm>
          <a:prstGeom prst="rect">
            <a:avLst/>
          </a:prstGeom>
          <a:noFill/>
        </p:spPr>
        <p:txBody>
          <a:bodyPr wrap="square" anchor="t" lIns="0" tIns="0" rIns="0" bIns="0">
            <a:noAutofit/>
          </a:bodyPr>
          <a:lstStyle/>
          <a:p>
            <a:pPr algn="l"/>
            <a:r>
              <a:rPr sz="1100" b="0" i="0" u="none" lang="es-PE" spc="80">
                <a:solidFill>
                  <a:srgbClr val="8C93A1"/>
                </a:solidFill>
                <a:latin typeface="Consolas"/>
                <a:ea typeface="Consolas"/>
                <a:cs typeface="Consolas"/>
              </a:rPr>
              <a:t>HALLAZGO 4: CONDUCTA</a:t>
            </a:r>
          </a:p>
        </p:txBody>
      </p:sp>
      <p:sp>
        <p:nvSpPr>
          <p:cNvPr id="4" name="Pie"/>
          <p:cNvSpPr txBox="1"/>
          <p:nvPr/>
        </p:nvSpPr>
        <p:spPr>
          <a:xfrm>
            <a:off x="548640" y="6400800"/>
            <a:ext cx="5486400" cy="237744"/>
          </a:xfrm>
          <a:prstGeom prst="rect">
            <a:avLst/>
          </a:prstGeom>
          <a:noFill/>
        </p:spPr>
        <p:txBody>
          <a:bodyPr wrap="square" anchor="t" lIns="0" tIns="0" rIns="0" bIns="0">
            <a:noAutofit/>
          </a:bodyPr>
          <a:lstStyle/>
          <a:p>
            <a:pPr algn="l"/>
            <a:r>
              <a:rPr sz="1000" b="0" i="0" u="none" lang="es-PE">
                <a:solidFill>
                  <a:srgbClr val="8C93A1"/>
                </a:solidFill>
                <a:latin typeface="Consolas"/>
                <a:ea typeface="Consolas"/>
                <a:cs typeface="Consolas"/>
              </a:rPr>
              <a:t>BATIMIX · Semana 12 · DS5343 UTEC 2026-2</a:t>
            </a:r>
          </a:p>
        </p:txBody>
      </p:sp>
      <p:sp>
        <p:nvSpPr>
          <p:cNvPr id="5" name="Número"/>
          <p:cNvSpPr txBox="1"/>
          <p:nvPr/>
        </p:nvSpPr>
        <p:spPr>
          <a:xfrm>
            <a:off x="9814255" y="6400800"/>
            <a:ext cx="1828800" cy="237744"/>
          </a:xfrm>
          <a:prstGeom prst="rect">
            <a:avLst/>
          </a:prstGeom>
          <a:noFill/>
        </p:spPr>
        <p:txBody>
          <a:bodyPr wrap="square" anchor="t" lIns="0" tIns="0" rIns="0" bIns="0">
            <a:noAutofit/>
          </a:bodyPr>
          <a:lstStyle/>
          <a:p>
            <a:pPr algn="r"/>
            <a:r>
              <a:rPr sz="1000" b="0" i="0" u="none" lang="es-PE">
                <a:solidFill>
                  <a:srgbClr val="8C93A1"/>
                </a:solidFill>
                <a:latin typeface="Consolas"/>
                <a:ea typeface="Consolas"/>
                <a:cs typeface="Consolas"/>
              </a:rPr>
              <a:t>7 / 11</a:t>
            </a:r>
          </a:p>
        </p:txBody>
      </p:sp>
      <p:pic>
        <p:nvPicPr>
          <p:cNvPr id="6" name="Dispersión" descr="Dispersión de Δσθ frontal frente al cambio en la mediana del tiempo de reacción del PVT para 30 personas; seis en el cuadrante vulnerable."/>
          <p:cNvPicPr>
            <a:picLocks noChangeAspect="1"/>
          </p:cNvPicPr>
          <p:nvPr/>
        </p:nvPicPr>
        <p:blipFill>
          <a:blip r:embed="rId2"/>
          <a:stretch>
            <a:fillRect/>
          </a:stretch>
        </p:blipFill>
        <p:spPr>
          <a:xfrm>
            <a:off x="548640" y="1737360"/>
            <a:ext cx="6126480" cy="3124504"/>
          </a:xfrm>
          <a:prstGeom prst="rect">
            <a:avLst/>
          </a:prstGeom>
          <a:ln w="9525">
            <a:solidFill>
              <a:srgbClr val="2B3140"/>
            </a:solidFill>
          </a:ln>
        </p:spPr>
      </p:pic>
      <p:sp>
        <p:nvSpPr>
          <p:cNvPr id="7" name="Pie de captura"/>
          <p:cNvSpPr txBox="1"/>
          <p:nvPr/>
        </p:nvSpPr>
        <p:spPr>
          <a:xfrm>
            <a:off x="548640" y="4971592"/>
            <a:ext cx="6126480" cy="457200"/>
          </a:xfrm>
          <a:prstGeom prst="rect">
            <a:avLst/>
          </a:prstGeom>
          <a:noFill/>
        </p:spPr>
        <p:txBody>
          <a:bodyPr wrap="square" anchor="t" lIns="0" tIns="0" rIns="0" bIns="0">
            <a:noAutofit/>
          </a:bodyPr>
          <a:lstStyle/>
          <a:p>
            <a:pPr algn="l"/>
            <a:r>
              <a:rPr sz="1200" b="0" i="0" u="none" lang="es-PE">
                <a:solidFill>
                  <a:srgbClr val="B4BAC6"/>
                </a:solidFill>
                <a:latin typeface="Arial"/>
                <a:ea typeface="Arial"/>
                <a:cs typeface="Arial"/>
              </a:rPr>
              <a:t>Panel de la app. </a:t>
            </a:r>
            <a:r>
              <a:rPr sz="1200" b="0" i="0" u="none" lang="es-PE">
                <a:solidFill>
                  <a:srgbClr val="FFB547"/>
                </a:solidFill>
                <a:latin typeface="Arial"/>
                <a:ea typeface="Arial"/>
                <a:cs typeface="Arial"/>
              </a:rPr>
              <a:t>Ámbar</a:t>
            </a:r>
            <a:r>
              <a:rPr sz="1200" b="0" i="0" u="none" lang="es-PE">
                <a:solidFill>
                  <a:srgbClr val="8C93A1"/>
                </a:solidFill>
                <a:latin typeface="Arial"/>
                <a:ea typeface="Arial"/>
                <a:cs typeface="Arial"/>
              </a:rPr>
              <a:t>: cuadrante vulnerable (6 personas); abajo, la franja de las 68.</a:t>
            </a:r>
          </a:p>
        </p:txBody>
      </p:sp>
      <p:sp>
        <p:nvSpPr>
          <p:cNvPr id="8" name="Rho"/>
          <p:cNvSpPr txBox="1"/>
          <p:nvPr/>
        </p:nvSpPr>
        <p:spPr>
          <a:xfrm>
            <a:off x="7178040" y="1691640"/>
            <a:ext cx="4465015" cy="777240"/>
          </a:xfrm>
          <a:prstGeom prst="rect">
            <a:avLst/>
          </a:prstGeom>
          <a:noFill/>
        </p:spPr>
        <p:txBody>
          <a:bodyPr wrap="square" anchor="t" lIns="0" tIns="0" rIns="0" bIns="0">
            <a:noAutofit/>
          </a:bodyPr>
          <a:lstStyle/>
          <a:p>
            <a:pPr algn="l"/>
            <a:r>
              <a:rPr sz="4800" b="0" i="0" u="none" lang="es-PE">
                <a:solidFill>
                  <a:srgbClr val="E8EAF0"/>
                </a:solidFill>
                <a:latin typeface="Arial"/>
                <a:ea typeface="Arial"/>
                <a:cs typeface="Arial"/>
              </a:rPr>
              <a:t>ρ = −0.10</a:t>
            </a:r>
          </a:p>
        </p:txBody>
      </p:sp>
      <p:sp>
        <p:nvSpPr>
          <p:cNvPr id="9" name="IC"/>
          <p:cNvSpPr txBox="1"/>
          <p:nvPr/>
        </p:nvSpPr>
        <p:spPr>
          <a:xfrm>
            <a:off x="7178040" y="2514600"/>
            <a:ext cx="4465015" cy="365760"/>
          </a:xfrm>
          <a:prstGeom prst="rect">
            <a:avLst/>
          </a:prstGeom>
          <a:noFill/>
        </p:spPr>
        <p:txBody>
          <a:bodyPr wrap="square" anchor="t" lIns="0" tIns="0" rIns="0" bIns="0">
            <a:noAutofit/>
          </a:bodyPr>
          <a:lstStyle/>
          <a:p>
            <a:pPr algn="l"/>
            <a:r>
              <a:rPr sz="1800" b="0" i="0" u="none" lang="es-PE">
                <a:solidFill>
                  <a:srgbClr val="B4BAC6"/>
                </a:solidFill>
                <a:latin typeface="Arial"/>
                <a:ea typeface="Arial"/>
                <a:cs typeface="Arial"/>
              </a:rPr>
              <a:t>IC 95 % [−0.44, 0.27], n = 30</a:t>
            </a:r>
          </a:p>
        </p:txBody>
      </p:sp>
      <p:sp>
        <p:nvSpPr>
          <p:cNvPr id="10" name="Etiqueta BATIMIX"/>
          <p:cNvSpPr txBox="1"/>
          <p:nvPr/>
        </p:nvSpPr>
        <p:spPr>
          <a:xfrm>
            <a:off x="7223759" y="3099816"/>
            <a:ext cx="3200400" cy="256032"/>
          </a:xfrm>
          <a:prstGeom prst="rect">
            <a:avLst/>
          </a:prstGeom>
          <a:noFill/>
        </p:spPr>
        <p:txBody>
          <a:bodyPr wrap="square" anchor="t" lIns="0" tIns="0" rIns="0" bIns="0">
            <a:noAutofit/>
          </a:bodyPr>
          <a:lstStyle/>
          <a:p>
            <a:pPr algn="l"/>
            <a:r>
              <a:rPr sz="1200" b="0" i="0" u="none" lang="es-PE">
                <a:solidFill>
                  <a:srgbClr val="B4BAC6"/>
                </a:solidFill>
                <a:latin typeface="Arial"/>
                <a:ea typeface="Arial"/>
                <a:cs typeface="Arial"/>
              </a:rPr>
              <a:t>BATIMIX, n = 30</a:t>
            </a:r>
          </a:p>
        </p:txBody>
      </p:sp>
      <p:cxnSp>
        <p:nvCxnSpPr>
          <p:cNvPr id="11" name="IC BATIMIX"/>
          <p:cNvCxnSpPr/>
          <p:nvPr/>
        </p:nvCxnSpPr>
        <p:spPr>
          <a:xfrm>
            <a:off x="7433294" y="3429000"/>
            <a:ext cx="2479495" cy="0"/>
          </a:xfrm>
          <a:prstGeom prst="line">
            <a:avLst/>
          </a:prstGeom>
          <a:ln w="28575">
            <a:solidFill>
              <a:srgbClr val="E8EAF0"/>
            </a:solidFill>
          </a:ln>
        </p:spPr>
        <p:style>
          <a:lnRef idx="2">
            <a:schemeClr val="accent1"/>
          </a:lnRef>
          <a:fillRef idx="0">
            <a:schemeClr val="accent1"/>
          </a:fillRef>
          <a:effectRef idx="1">
            <a:schemeClr val="accent1"/>
          </a:effectRef>
          <a:fontRef idx="minor">
            <a:schemeClr val="tx1"/>
          </a:fontRef>
        </p:style>
      </p:cxnSp>
      <p:sp>
        <p:nvSpPr>
          <p:cNvPr id="12" name="Rho BATIMIX"/>
          <p:cNvSpPr/>
          <p:nvPr/>
        </p:nvSpPr>
        <p:spPr>
          <a:xfrm>
            <a:off x="8542934" y="3351276"/>
            <a:ext cx="155448" cy="155448"/>
          </a:xfrm>
          <a:prstGeom prst="ellipse">
            <a:avLst/>
          </a:prstGeom>
          <a:solidFill>
            <a:srgbClr val="E8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tiqueta Cui"/>
          <p:cNvSpPr txBox="1"/>
          <p:nvPr/>
        </p:nvSpPr>
        <p:spPr>
          <a:xfrm>
            <a:off x="8675104" y="3602736"/>
            <a:ext cx="2331720" cy="256032"/>
          </a:xfrm>
          <a:prstGeom prst="rect">
            <a:avLst/>
          </a:prstGeom>
          <a:noFill/>
        </p:spPr>
        <p:txBody>
          <a:bodyPr wrap="square" anchor="t" lIns="0" tIns="0" rIns="0" bIns="0">
            <a:noAutofit/>
          </a:bodyPr>
          <a:lstStyle/>
          <a:p>
            <a:pPr algn="r"/>
            <a:r>
              <a:rPr sz="1200" b="0" i="0" u="none" lang="es-PE">
                <a:solidFill>
                  <a:srgbClr val="B4BAC6"/>
                </a:solidFill>
                <a:latin typeface="Arial"/>
                <a:ea typeface="Arial"/>
                <a:cs typeface="Arial"/>
              </a:rPr>
              <a:t>Cui et al. (2026), n = 28</a:t>
            </a:r>
          </a:p>
        </p:txBody>
      </p:sp>
      <p:sp>
        <p:nvSpPr>
          <p:cNvPr id="14" name="Rho Cui"/>
          <p:cNvSpPr/>
          <p:nvPr/>
        </p:nvSpPr>
        <p:spPr>
          <a:xfrm>
            <a:off x="10791940" y="3854196"/>
            <a:ext cx="155448" cy="155448"/>
          </a:xfrm>
          <a:prstGeom prst="ellipse">
            <a:avLst/>
          </a:prstGeom>
          <a:solidFill>
            <a:srgbClr val="0B0D12"/>
          </a:solidFill>
          <a:ln w="19050">
            <a:solidFill>
              <a:srgbClr val="E8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ero"/>
          <p:cNvCxnSpPr/>
          <p:nvPr/>
        </p:nvCxnSpPr>
        <p:spPr>
          <a:xfrm>
            <a:off x="8969883" y="3017520"/>
            <a:ext cx="0" cy="1298448"/>
          </a:xfrm>
          <a:prstGeom prst="line">
            <a:avLst/>
          </a:prstGeom>
          <a:ln w="9525">
            <a:solidFill>
              <a:srgbClr val="4A5160"/>
            </a:solidFill>
          </a:ln>
        </p:spPr>
        <p:style>
          <a:lnRef idx="2">
            <a:schemeClr val="accent1"/>
          </a:lnRef>
          <a:fillRef idx="0">
            <a:schemeClr val="accent1"/>
          </a:fillRef>
          <a:effectRef idx="1">
            <a:schemeClr val="accent1"/>
          </a:effectRef>
          <a:fontRef idx="minor">
            <a:schemeClr val="tx1"/>
          </a:fontRef>
        </p:style>
      </p:cxnSp>
      <p:cxnSp>
        <p:nvCxnSpPr>
          <p:cNvPr id="16" name="Eje rho"/>
          <p:cNvCxnSpPr/>
          <p:nvPr/>
        </p:nvCxnSpPr>
        <p:spPr>
          <a:xfrm>
            <a:off x="7223759" y="4315968"/>
            <a:ext cx="4190696" cy="0"/>
          </a:xfrm>
          <a:prstGeom prst="line">
            <a:avLst/>
          </a:prstGeom>
          <a:ln w="9525">
            <a:solidFill>
              <a:srgbClr val="8C93A1"/>
            </a:solidFill>
          </a:ln>
        </p:spPr>
        <p:style>
          <a:lnRef idx="2">
            <a:schemeClr val="accent1"/>
          </a:lnRef>
          <a:fillRef idx="0">
            <a:schemeClr val="accent1"/>
          </a:fillRef>
          <a:effectRef idx="1">
            <a:schemeClr val="accent1"/>
          </a:effectRef>
          <a:fontRef idx="minor">
            <a:schemeClr val="tx1"/>
          </a:fontRef>
        </p:style>
      </p:cxnSp>
      <p:sp>
        <p:nvSpPr>
          <p:cNvPr id="17" name="Marca −0.4"/>
          <p:cNvSpPr txBox="1"/>
          <p:nvPr/>
        </p:nvSpPr>
        <p:spPr>
          <a:xfrm>
            <a:off x="7207224" y="4352544"/>
            <a:ext cx="731520" cy="228600"/>
          </a:xfrm>
          <a:prstGeom prst="rect">
            <a:avLst/>
          </a:prstGeom>
          <a:noFill/>
        </p:spPr>
        <p:txBody>
          <a:bodyPr wrap="square" anchor="t" lIns="0" tIns="0" rIns="0" bIns="0">
            <a:noAutofit/>
          </a:bodyPr>
          <a:lstStyle/>
          <a:p>
            <a:pPr algn="ctr"/>
            <a:r>
              <a:rPr sz="1100" b="0" i="0" u="none" lang="es-PE">
                <a:solidFill>
                  <a:srgbClr val="8C93A1"/>
                </a:solidFill>
                <a:latin typeface="Arial"/>
                <a:ea typeface="Arial"/>
                <a:cs typeface="Arial"/>
              </a:rPr>
              <a:t>−0.4</a:t>
            </a:r>
          </a:p>
        </p:txBody>
      </p:sp>
      <p:sp>
        <p:nvSpPr>
          <p:cNvPr id="18" name="Marca 0"/>
          <p:cNvSpPr txBox="1"/>
          <p:nvPr/>
        </p:nvSpPr>
        <p:spPr>
          <a:xfrm>
            <a:off x="8604122" y="4352544"/>
            <a:ext cx="731520" cy="228600"/>
          </a:xfrm>
          <a:prstGeom prst="rect">
            <a:avLst/>
          </a:prstGeom>
          <a:noFill/>
        </p:spPr>
        <p:txBody>
          <a:bodyPr wrap="square" anchor="t" lIns="0" tIns="0" rIns="0" bIns="0">
            <a:noAutofit/>
          </a:bodyPr>
          <a:lstStyle/>
          <a:p>
            <a:pPr algn="ctr"/>
            <a:r>
              <a:rPr sz="1100" b="0" i="0" u="none" lang="es-PE">
                <a:solidFill>
                  <a:srgbClr val="8C93A1"/>
                </a:solidFill>
                <a:latin typeface="Arial"/>
                <a:ea typeface="Arial"/>
                <a:cs typeface="Arial"/>
              </a:rPr>
              <a:t>0</a:t>
            </a:r>
          </a:p>
        </p:txBody>
      </p:sp>
      <p:sp>
        <p:nvSpPr>
          <p:cNvPr id="19" name="Marca 0.4"/>
          <p:cNvSpPr txBox="1"/>
          <p:nvPr/>
        </p:nvSpPr>
        <p:spPr>
          <a:xfrm>
            <a:off x="10001021" y="4352544"/>
            <a:ext cx="731520" cy="228600"/>
          </a:xfrm>
          <a:prstGeom prst="rect">
            <a:avLst/>
          </a:prstGeom>
          <a:noFill/>
        </p:spPr>
        <p:txBody>
          <a:bodyPr wrap="square" anchor="t" lIns="0" tIns="0" rIns="0" bIns="0">
            <a:noAutofit/>
          </a:bodyPr>
          <a:lstStyle/>
          <a:p>
            <a:pPr algn="ctr"/>
            <a:r>
              <a:rPr sz="1100" b="0" i="0" u="none" lang="es-PE">
                <a:solidFill>
                  <a:srgbClr val="8C93A1"/>
                </a:solidFill>
                <a:latin typeface="Arial"/>
                <a:ea typeface="Arial"/>
                <a:cs typeface="Arial"/>
              </a:rPr>
              <a:t>0.4</a:t>
            </a:r>
          </a:p>
        </p:txBody>
      </p:sp>
      <p:sp>
        <p:nvSpPr>
          <p:cNvPr id="20" name="Marca 0.544"/>
          <p:cNvSpPr txBox="1"/>
          <p:nvPr/>
        </p:nvSpPr>
        <p:spPr>
          <a:xfrm>
            <a:off x="10503904" y="4352544"/>
            <a:ext cx="731520" cy="228600"/>
          </a:xfrm>
          <a:prstGeom prst="rect">
            <a:avLst/>
          </a:prstGeom>
          <a:noFill/>
        </p:spPr>
        <p:txBody>
          <a:bodyPr wrap="square" anchor="t" lIns="0" tIns="0" rIns="0" bIns="0">
            <a:noAutofit/>
          </a:bodyPr>
          <a:lstStyle/>
          <a:p>
            <a:pPr algn="ctr"/>
            <a:r>
              <a:rPr sz="1100" b="0" i="0" u="none" lang="es-PE">
                <a:solidFill>
                  <a:srgbClr val="8C93A1"/>
                </a:solidFill>
                <a:latin typeface="Arial"/>
                <a:ea typeface="Arial"/>
                <a:cs typeface="Arial"/>
              </a:rPr>
              <a:t>0.544</a:t>
            </a:r>
          </a:p>
        </p:txBody>
      </p:sp>
      <p:sp>
        <p:nvSpPr>
          <p:cNvPr id="21" name="Etiqueta razones"/>
          <p:cNvSpPr txBox="1"/>
          <p:nvPr/>
        </p:nvSpPr>
        <p:spPr>
          <a:xfrm>
            <a:off x="7178040" y="4846320"/>
            <a:ext cx="4465015" cy="274320"/>
          </a:xfrm>
          <a:prstGeom prst="rect">
            <a:avLst/>
          </a:prstGeom>
          <a:noFill/>
        </p:spPr>
        <p:txBody>
          <a:bodyPr wrap="square" anchor="t" lIns="0" tIns="0" rIns="0" bIns="0">
            <a:noAutofit/>
          </a:bodyPr>
          <a:lstStyle/>
          <a:p>
            <a:pPr algn="l"/>
            <a:r>
              <a:rPr sz="1200" b="0" i="0" u="none" lang="es-PE" spc="60">
                <a:solidFill>
                  <a:srgbClr val="8C93A1"/>
                </a:solidFill>
                <a:latin typeface="Consolas"/>
                <a:ea typeface="Consolas"/>
                <a:cs typeface="Consolas"/>
              </a:rPr>
              <a:t>POR QUÉ NO REPLICA</a:t>
            </a:r>
          </a:p>
        </p:txBody>
      </p:sp>
      <p:sp>
        <p:nvSpPr>
          <p:cNvPr id="22" name="Razones"/>
          <p:cNvSpPr txBox="1"/>
          <p:nvPr/>
        </p:nvSpPr>
        <p:spPr>
          <a:xfrm>
            <a:off x="7178040" y="5138928"/>
            <a:ext cx="4465015" cy="868680"/>
          </a:xfrm>
          <a:prstGeom prst="rect">
            <a:avLst/>
          </a:prstGeom>
          <a:noFill/>
        </p:spPr>
        <p:txBody>
          <a:bodyPr wrap="square" anchor="t" lIns="0" tIns="0" rIns="0" bIns="0">
            <a:noAutofit/>
          </a:bodyPr>
          <a:lstStyle/>
          <a:p>
            <a:pPr algn="l">
              <a:spcAft>
                <a:spcPts val="600"/>
              </a:spcAft>
            </a:pPr>
            <a:r>
              <a:rPr sz="1600" b="0" i="0" u="none" lang="es-PE">
                <a:solidFill>
                  <a:srgbClr val="E8EAF0"/>
                </a:solidFill>
                <a:latin typeface="Arial"/>
                <a:ea typeface="Arial"/>
                <a:cs typeface="Arial"/>
              </a:rPr>
              <a:t>Pipeline distinto: FCz, sin ICA, 1 a 40 Hz</a:t>
            </a:r>
          </a:p>
          <a:p>
            <a:pPr algn="l"/>
            <a:r>
              <a:rPr sz="1600" b="0" i="0" u="none" lang="es-PE">
                <a:solidFill>
                  <a:srgbClr val="E8EAF0"/>
                </a:solidFill>
                <a:latin typeface="Arial"/>
                <a:ea typeface="Arial"/>
                <a:cs typeface="Arial"/>
              </a:rPr>
              <a:t>Potencia ≈ 0.35 para ρ = 0.3 con n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ítulo"/>
          <p:cNvSpPr>
            <a:spLocks noGrp="1"/>
          </p:cNvSpPr>
          <p:nvPr>
            <p:ph type="title"/>
          </p:nvPr>
        </p:nvSpPr>
        <p:spPr>
          <a:xfrm>
            <a:off x="548640" y="713232"/>
            <a:ext cx="11094415" cy="658368"/>
          </a:xfrm>
        </p:spPr>
        <p:txBody>
          <a:bodyPr wrap="square" anchor="t" lIns="0" tIns="0" rIns="0" bIns="0">
            <a:noAutofit/>
          </a:bodyPr>
          <a:lstStyle/>
          <a:p>
            <a:pPr algn="l"/>
            <a:r>
              <a:rPr sz="3000" b="0" i="0" u="none" lang="es-PE">
                <a:solidFill>
                  <a:srgbClr val="E8EAF0"/>
                </a:solidFill>
                <a:latin typeface="Arial"/>
                <a:ea typeface="Arial"/>
                <a:cs typeface="Arial"/>
              </a:rPr>
              <a:t>448 análisis frente al azar</a:t>
            </a:r>
          </a:p>
        </p:txBody>
      </p:sp>
      <p:sp>
        <p:nvSpPr>
          <p:cNvPr id="3" name="Sección"/>
          <p:cNvSpPr txBox="1"/>
          <p:nvPr/>
        </p:nvSpPr>
        <p:spPr>
          <a:xfrm>
            <a:off x="548640" y="384048"/>
            <a:ext cx="11094415" cy="274320"/>
          </a:xfrm>
          <a:prstGeom prst="rect">
            <a:avLst/>
          </a:prstGeom>
          <a:noFill/>
        </p:spPr>
        <p:txBody>
          <a:bodyPr wrap="square" anchor="t" lIns="0" tIns="0" rIns="0" bIns="0">
            <a:noAutofit/>
          </a:bodyPr>
          <a:lstStyle/>
          <a:p>
            <a:pPr algn="l"/>
            <a:r>
              <a:rPr sz="1100" b="0" i="0" u="none" lang="es-PE" spc="80">
                <a:solidFill>
                  <a:srgbClr val="8C93A1"/>
                </a:solidFill>
                <a:latin typeface="Consolas"/>
                <a:ea typeface="Consolas"/>
                <a:cs typeface="Consolas"/>
              </a:rPr>
              <a:t>DIFERENCIAL: MULTIVERSO</a:t>
            </a:r>
          </a:p>
        </p:txBody>
      </p:sp>
      <p:sp>
        <p:nvSpPr>
          <p:cNvPr id="4" name="Pie"/>
          <p:cNvSpPr txBox="1"/>
          <p:nvPr/>
        </p:nvSpPr>
        <p:spPr>
          <a:xfrm>
            <a:off x="548640" y="6400800"/>
            <a:ext cx="5486400" cy="237744"/>
          </a:xfrm>
          <a:prstGeom prst="rect">
            <a:avLst/>
          </a:prstGeom>
          <a:noFill/>
        </p:spPr>
        <p:txBody>
          <a:bodyPr wrap="square" anchor="t" lIns="0" tIns="0" rIns="0" bIns="0">
            <a:noAutofit/>
          </a:bodyPr>
          <a:lstStyle/>
          <a:p>
            <a:pPr algn="l"/>
            <a:r>
              <a:rPr sz="1000" b="0" i="0" u="none" lang="es-PE">
                <a:solidFill>
                  <a:srgbClr val="8C93A1"/>
                </a:solidFill>
                <a:latin typeface="Consolas"/>
                <a:ea typeface="Consolas"/>
                <a:cs typeface="Consolas"/>
              </a:rPr>
              <a:t>BATIMIX · Semana 12 · DS5343 UTEC 2026-2</a:t>
            </a:r>
          </a:p>
        </p:txBody>
      </p:sp>
      <p:sp>
        <p:nvSpPr>
          <p:cNvPr id="5" name="Número"/>
          <p:cNvSpPr txBox="1"/>
          <p:nvPr/>
        </p:nvSpPr>
        <p:spPr>
          <a:xfrm>
            <a:off x="9814255" y="6400800"/>
            <a:ext cx="1828800" cy="237744"/>
          </a:xfrm>
          <a:prstGeom prst="rect">
            <a:avLst/>
          </a:prstGeom>
          <a:noFill/>
        </p:spPr>
        <p:txBody>
          <a:bodyPr wrap="square" anchor="t" lIns="0" tIns="0" rIns="0" bIns="0">
            <a:noAutofit/>
          </a:bodyPr>
          <a:lstStyle/>
          <a:p>
            <a:pPr algn="r"/>
            <a:r>
              <a:rPr sz="1000" b="0" i="0" u="none" lang="es-PE">
                <a:solidFill>
                  <a:srgbClr val="8C93A1"/>
                </a:solidFill>
                <a:latin typeface="Consolas"/>
                <a:ea typeface="Consolas"/>
                <a:cs typeface="Consolas"/>
              </a:rPr>
              <a:t>8 / 11</a:t>
            </a:r>
          </a:p>
        </p:txBody>
      </p:sp>
      <p:pic>
        <p:nvPicPr>
          <p:cNvPr id="6" name="Multiverso" descr="Curva de especificación de 448 análisis ordenados por r, con la banda del 95 % del azar y la referencia de Cui et al.; debajo, las decisiones de cada análisis."/>
          <p:cNvPicPr>
            <a:picLocks noChangeAspect="1"/>
          </p:cNvPicPr>
          <p:nvPr/>
        </p:nvPicPr>
        <p:blipFill>
          <a:blip r:embed="rId2"/>
          <a:stretch>
            <a:fillRect/>
          </a:stretch>
        </p:blipFill>
        <p:spPr>
          <a:xfrm>
            <a:off x="548640" y="1737360"/>
            <a:ext cx="6400800" cy="3552444"/>
          </a:xfrm>
          <a:prstGeom prst="rect">
            <a:avLst/>
          </a:prstGeom>
          <a:ln w="9525">
            <a:solidFill>
              <a:srgbClr val="2B3140"/>
            </a:solidFill>
          </a:ln>
        </p:spPr>
      </p:pic>
      <p:sp>
        <p:nvSpPr>
          <p:cNvPr id="7" name="Pie de captura"/>
          <p:cNvSpPr txBox="1"/>
          <p:nvPr/>
        </p:nvSpPr>
        <p:spPr>
          <a:xfrm>
            <a:off x="548640" y="5399532"/>
            <a:ext cx="6400800" cy="457200"/>
          </a:xfrm>
          <a:prstGeom prst="rect">
            <a:avLst/>
          </a:prstGeom>
          <a:noFill/>
        </p:spPr>
        <p:txBody>
          <a:bodyPr wrap="square" anchor="t" lIns="0" tIns="0" rIns="0" bIns="0">
            <a:noAutofit/>
          </a:bodyPr>
          <a:lstStyle/>
          <a:p>
            <a:pPr algn="l"/>
            <a:r>
              <a:rPr sz="1200" b="0" i="0" u="none" lang="es-PE">
                <a:solidFill>
                  <a:srgbClr val="8C93A1"/>
                </a:solidFill>
                <a:latin typeface="Arial"/>
                <a:ea typeface="Arial"/>
                <a:cs typeface="Arial"/>
              </a:rPr>
              <a:t>Panel de la app: curva de 448 análisis sobre la franja del azar (95 %) y mediana de r por decisión.</a:t>
            </a:r>
          </a:p>
        </p:txBody>
      </p:sp>
      <p:sp>
        <p:nvSpPr>
          <p:cNvPr id="8" name="Etiqueta bloque 1"/>
          <p:cNvSpPr txBox="1"/>
          <p:nvPr/>
        </p:nvSpPr>
        <p:spPr>
          <a:xfrm>
            <a:off x="7452360" y="1737360"/>
            <a:ext cx="4190695" cy="274320"/>
          </a:xfrm>
          <a:prstGeom prst="rect">
            <a:avLst/>
          </a:prstGeom>
          <a:noFill/>
        </p:spPr>
        <p:txBody>
          <a:bodyPr wrap="square" anchor="t" lIns="0" tIns="0" rIns="0" bIns="0">
            <a:noAutofit/>
          </a:bodyPr>
          <a:lstStyle/>
          <a:p>
            <a:pPr algn="l"/>
            <a:r>
              <a:rPr sz="1200" b="0" i="0" u="none" lang="es-PE" spc="60">
                <a:solidFill>
                  <a:srgbClr val="8C93A1"/>
                </a:solidFill>
                <a:latin typeface="Consolas"/>
                <a:ea typeface="Consolas"/>
                <a:cs typeface="Consolas"/>
              </a:rPr>
              <a:t>SOLO σθ · 224 ANÁLISIS</a:t>
            </a:r>
          </a:p>
        </p:txBody>
      </p:sp>
      <p:sp>
        <p:nvSpPr>
          <p:cNvPr id="9" name="Cifra bloque 1"/>
          <p:cNvSpPr txBox="1"/>
          <p:nvPr/>
        </p:nvSpPr>
        <p:spPr>
          <a:xfrm>
            <a:off x="7452360" y="2011679"/>
            <a:ext cx="4190695" cy="594360"/>
          </a:xfrm>
          <a:prstGeom prst="rect">
            <a:avLst/>
          </a:prstGeom>
          <a:noFill/>
        </p:spPr>
        <p:txBody>
          <a:bodyPr wrap="square" anchor="t" lIns="0" tIns="0" rIns="0" bIns="0">
            <a:noAutofit/>
          </a:bodyPr>
          <a:lstStyle/>
          <a:p>
            <a:pPr algn="l"/>
            <a:r>
              <a:rPr sz="3200" b="0" i="0" u="none" lang="es-PE">
                <a:solidFill>
                  <a:srgbClr val="E8EAF0"/>
                </a:solidFill>
                <a:latin typeface="Arial"/>
                <a:ea typeface="Arial"/>
                <a:cs typeface="Arial"/>
              </a:rPr>
              <a:t>0 significativos</a:t>
            </a:r>
          </a:p>
        </p:txBody>
      </p:sp>
      <p:sp>
        <p:nvSpPr>
          <p:cNvPr id="10" name="Detalle bloque 1"/>
          <p:cNvSpPr txBox="1"/>
          <p:nvPr/>
        </p:nvSpPr>
        <p:spPr>
          <a:xfrm>
            <a:off x="7452360" y="2606039"/>
            <a:ext cx="4190695" cy="365760"/>
          </a:xfrm>
          <a:prstGeom prst="rect">
            <a:avLst/>
          </a:prstGeom>
          <a:noFill/>
        </p:spPr>
        <p:txBody>
          <a:bodyPr wrap="square" anchor="t" lIns="0" tIns="0" rIns="0" bIns="0">
            <a:noAutofit/>
          </a:bodyPr>
          <a:lstStyle/>
          <a:p>
            <a:pPr algn="l"/>
            <a:r>
              <a:rPr sz="1600" b="0" i="0" u="none" lang="es-PE">
                <a:solidFill>
                  <a:srgbClr val="B4BAC6"/>
                </a:solidFill>
                <a:latin typeface="Arial"/>
                <a:ea typeface="Arial"/>
                <a:cs typeface="Arial"/>
              </a:rPr>
              <a:t>mediana r = +0.035, p = 0.32</a:t>
            </a:r>
          </a:p>
        </p:txBody>
      </p:sp>
      <p:sp>
        <p:nvSpPr>
          <p:cNvPr id="11" name="Etiqueta bloque 2"/>
          <p:cNvSpPr txBox="1"/>
          <p:nvPr/>
        </p:nvSpPr>
        <p:spPr>
          <a:xfrm>
            <a:off x="7452360" y="3154680"/>
            <a:ext cx="4190695" cy="274320"/>
          </a:xfrm>
          <a:prstGeom prst="rect">
            <a:avLst/>
          </a:prstGeom>
          <a:noFill/>
        </p:spPr>
        <p:txBody>
          <a:bodyPr wrap="square" anchor="t" lIns="0" tIns="0" rIns="0" bIns="0">
            <a:noAutofit/>
          </a:bodyPr>
          <a:lstStyle/>
          <a:p>
            <a:pPr algn="l"/>
            <a:r>
              <a:rPr sz="1200" b="0" i="0" u="none" lang="es-PE" spc="60">
                <a:solidFill>
                  <a:srgbClr val="8C93A1"/>
                </a:solidFill>
                <a:latin typeface="Consolas"/>
                <a:ea typeface="Consolas"/>
                <a:cs typeface="Consolas"/>
              </a:rPr>
              <a:t>LOS 448 ANÁLISIS</a:t>
            </a:r>
          </a:p>
        </p:txBody>
      </p:sp>
      <p:sp>
        <p:nvSpPr>
          <p:cNvPr id="12" name="Cifra bloque 2"/>
          <p:cNvSpPr txBox="1"/>
          <p:nvPr/>
        </p:nvSpPr>
        <p:spPr>
          <a:xfrm>
            <a:off x="7452360" y="3429000"/>
            <a:ext cx="4190695" cy="594360"/>
          </a:xfrm>
          <a:prstGeom prst="rect">
            <a:avLst/>
          </a:prstGeom>
          <a:noFill/>
        </p:spPr>
        <p:txBody>
          <a:bodyPr wrap="square" anchor="t" lIns="0" tIns="0" rIns="0" bIns="0">
            <a:noAutofit/>
          </a:bodyPr>
          <a:lstStyle/>
          <a:p>
            <a:pPr algn="l"/>
            <a:r>
              <a:rPr sz="3200" b="0" i="0" u="none" lang="es-PE">
                <a:solidFill>
                  <a:srgbClr val="E8EAF0"/>
                </a:solidFill>
                <a:latin typeface="Arial"/>
                <a:ea typeface="Arial"/>
                <a:cs typeface="Arial"/>
              </a:rPr>
              <a:t>26 significativos</a:t>
            </a:r>
          </a:p>
        </p:txBody>
      </p:sp>
      <p:sp>
        <p:nvSpPr>
          <p:cNvPr id="13" name="Detalle bloque 2"/>
          <p:cNvSpPr txBox="1"/>
          <p:nvPr/>
        </p:nvSpPr>
        <p:spPr>
          <a:xfrm>
            <a:off x="7452360" y="4023360"/>
            <a:ext cx="4190695" cy="365760"/>
          </a:xfrm>
          <a:prstGeom prst="rect">
            <a:avLst/>
          </a:prstGeom>
          <a:noFill/>
        </p:spPr>
        <p:txBody>
          <a:bodyPr wrap="square" anchor="t" lIns="0" tIns="0" rIns="0" bIns="0">
            <a:noAutofit/>
          </a:bodyPr>
          <a:lstStyle/>
          <a:p>
            <a:pPr algn="l"/>
            <a:r>
              <a:rPr sz="1600" b="0" i="0" u="none" lang="es-PE">
                <a:solidFill>
                  <a:srgbClr val="B4BAC6"/>
                </a:solidFill>
                <a:latin typeface="Arial"/>
                <a:ea typeface="Arial"/>
                <a:cs typeface="Arial"/>
              </a:rPr>
              <a:t>el azar llega a 56; p = 0.15</a:t>
            </a:r>
          </a:p>
        </p:txBody>
      </p:sp>
      <p:sp>
        <p:nvSpPr>
          <p:cNvPr id="14" name="Pista"/>
          <p:cNvSpPr txBox="1"/>
          <p:nvPr/>
        </p:nvSpPr>
        <p:spPr>
          <a:xfrm>
            <a:off x="7452360" y="4663440"/>
            <a:ext cx="4190695" cy="868680"/>
          </a:xfrm>
          <a:prstGeom prst="rect">
            <a:avLst/>
          </a:prstGeom>
          <a:noFill/>
        </p:spPr>
        <p:txBody>
          <a:bodyPr wrap="square" anchor="t" lIns="0" tIns="0" rIns="0" bIns="0">
            <a:noAutofit/>
          </a:bodyPr>
          <a:lstStyle/>
          <a:p>
            <a:pPr algn="l">
              <a:lnSpc>
                <a:spcPct val="110000"/>
              </a:lnSpc>
            </a:pPr>
            <a:r>
              <a:rPr sz="1700" b="0" i="0" u="none" lang="es-PE">
                <a:solidFill>
                  <a:srgbClr val="E8EAF0"/>
                </a:solidFill>
                <a:latin typeface="Arial"/>
                <a:ea typeface="Arial"/>
                <a:cs typeface="Arial"/>
              </a:rPr>
              <a:t>Los 26 son PANAS+ con μθ: una pista sobre el ánimo, no un hallazgo.</a:t>
            </a:r>
          </a:p>
        </p:txBody>
      </p:sp>
      <p:sp>
        <p:nvSpPr>
          <p:cNvPr id="15" name="Método"/>
          <p:cNvSpPr txBox="1"/>
          <p:nvPr/>
        </p:nvSpPr>
        <p:spPr>
          <a:xfrm>
            <a:off x="7452360" y="5623560"/>
            <a:ext cx="4190695" cy="457200"/>
          </a:xfrm>
          <a:prstGeom prst="rect">
            <a:avLst/>
          </a:prstGeom>
          <a:noFill/>
        </p:spPr>
        <p:txBody>
          <a:bodyPr wrap="square" anchor="t" lIns="0" tIns="0" rIns="0" bIns="0">
            <a:noAutofit/>
          </a:bodyPr>
          <a:lstStyle/>
          <a:p>
            <a:pPr algn="l"/>
            <a:r>
              <a:rPr sz="1100" b="0" i="0" u="none" lang="es-PE">
                <a:solidFill>
                  <a:srgbClr val="8C93A1"/>
                </a:solidFill>
                <a:latin typeface="Arial"/>
                <a:ea typeface="Arial"/>
                <a:cs typeface="Arial"/>
              </a:rPr>
              <a:t>2000 permutaciones de las filas conductuales (adaptado de Simonsohn et al., 2020)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ítulo"/>
          <p:cNvSpPr>
            <a:spLocks noGrp="1"/>
          </p:cNvSpPr>
          <p:nvPr>
            <p:ph type="title"/>
          </p:nvPr>
        </p:nvSpPr>
        <p:spPr>
          <a:xfrm>
            <a:off x="548640" y="713232"/>
            <a:ext cx="11094415" cy="658368"/>
          </a:xfrm>
        </p:spPr>
        <p:txBody>
          <a:bodyPr wrap="square" anchor="t" lIns="0" tIns="0" rIns="0" bIns="0">
            <a:noAutofit/>
          </a:bodyPr>
          <a:lstStyle/>
          <a:p>
            <a:pPr algn="l"/>
            <a:r>
              <a:rPr sz="3000" b="0" i="0" u="none" lang="es-PE">
                <a:solidFill>
                  <a:srgbClr val="E8EAF0"/>
                </a:solidFill>
                <a:latin typeface="Arial"/>
                <a:ea typeface="Arial"/>
                <a:cs typeface="Arial"/>
              </a:rPr>
              <a:t>Qué hicimos con cada sugerencia</a:t>
            </a:r>
          </a:p>
        </p:txBody>
      </p:sp>
      <p:sp>
        <p:nvSpPr>
          <p:cNvPr id="3" name="Sección"/>
          <p:cNvSpPr txBox="1"/>
          <p:nvPr/>
        </p:nvSpPr>
        <p:spPr>
          <a:xfrm>
            <a:off x="548640" y="384048"/>
            <a:ext cx="11094415" cy="274320"/>
          </a:xfrm>
          <a:prstGeom prst="rect">
            <a:avLst/>
          </a:prstGeom>
          <a:noFill/>
        </p:spPr>
        <p:txBody>
          <a:bodyPr wrap="square" anchor="t" lIns="0" tIns="0" rIns="0" bIns="0">
            <a:noAutofit/>
          </a:bodyPr>
          <a:lstStyle/>
          <a:p>
            <a:pPr algn="l"/>
            <a:r>
              <a:rPr sz="1100" b="0" i="0" u="none" lang="es-PE" spc="80">
                <a:solidFill>
                  <a:srgbClr val="8C93A1"/>
                </a:solidFill>
                <a:latin typeface="Consolas"/>
                <a:ea typeface="Consolas"/>
                <a:cs typeface="Consolas"/>
              </a:rPr>
              <a:t>RESPUESTA A LA CRÍTICA</a:t>
            </a:r>
          </a:p>
        </p:txBody>
      </p:sp>
      <p:sp>
        <p:nvSpPr>
          <p:cNvPr id="4" name="Pie"/>
          <p:cNvSpPr txBox="1"/>
          <p:nvPr/>
        </p:nvSpPr>
        <p:spPr>
          <a:xfrm>
            <a:off x="548640" y="6400800"/>
            <a:ext cx="5486400" cy="237744"/>
          </a:xfrm>
          <a:prstGeom prst="rect">
            <a:avLst/>
          </a:prstGeom>
          <a:noFill/>
        </p:spPr>
        <p:txBody>
          <a:bodyPr wrap="square" anchor="t" lIns="0" tIns="0" rIns="0" bIns="0">
            <a:noAutofit/>
          </a:bodyPr>
          <a:lstStyle/>
          <a:p>
            <a:pPr algn="l"/>
            <a:r>
              <a:rPr sz="1000" b="0" i="0" u="none" lang="es-PE">
                <a:solidFill>
                  <a:srgbClr val="8C93A1"/>
                </a:solidFill>
                <a:latin typeface="Consolas"/>
                <a:ea typeface="Consolas"/>
                <a:cs typeface="Consolas"/>
              </a:rPr>
              <a:t>BATIMIX · Semana 12 · DS5343 UTEC 2026-2</a:t>
            </a:r>
          </a:p>
        </p:txBody>
      </p:sp>
      <p:sp>
        <p:nvSpPr>
          <p:cNvPr id="5" name="Número"/>
          <p:cNvSpPr txBox="1"/>
          <p:nvPr/>
        </p:nvSpPr>
        <p:spPr>
          <a:xfrm>
            <a:off x="9814255" y="6400800"/>
            <a:ext cx="1828800" cy="237744"/>
          </a:xfrm>
          <a:prstGeom prst="rect">
            <a:avLst/>
          </a:prstGeom>
          <a:noFill/>
        </p:spPr>
        <p:txBody>
          <a:bodyPr wrap="square" anchor="t" lIns="0" tIns="0" rIns="0" bIns="0">
            <a:noAutofit/>
          </a:bodyPr>
          <a:lstStyle/>
          <a:p>
            <a:pPr algn="r"/>
            <a:r>
              <a:rPr sz="1000" b="0" i="0" u="none" lang="es-PE">
                <a:solidFill>
                  <a:srgbClr val="8C93A1"/>
                </a:solidFill>
                <a:latin typeface="Consolas"/>
                <a:ea typeface="Consolas"/>
                <a:cs typeface="Consolas"/>
              </a:rPr>
              <a:t>9 / 11</a:t>
            </a:r>
          </a:p>
        </p:txBody>
      </p:sp>
      <p:sp>
        <p:nvSpPr>
          <p:cNvPr id="6" name="Resumen"/>
          <p:cNvSpPr txBox="1"/>
          <p:nvPr/>
        </p:nvSpPr>
        <p:spPr>
          <a:xfrm>
            <a:off x="548640" y="1691640"/>
            <a:ext cx="11094415" cy="320040"/>
          </a:xfrm>
          <a:prstGeom prst="rect">
            <a:avLst/>
          </a:prstGeom>
          <a:noFill/>
        </p:spPr>
        <p:txBody>
          <a:bodyPr wrap="square" anchor="t" lIns="0" tIns="0" rIns="0" bIns="0">
            <a:noAutofit/>
          </a:bodyPr>
          <a:lstStyle/>
          <a:p>
            <a:pPr algn="l"/>
            <a:r>
              <a:rPr sz="1600" b="0" i="0" u="none" lang="es-PE">
                <a:solidFill>
                  <a:srgbClr val="B4BAC6"/>
                </a:solidFill>
                <a:latin typeface="Arial"/>
                <a:ea typeface="Arial"/>
                <a:cs typeface="Arial"/>
              </a:rPr>
              <a:t>20 sugerencias del profesor, del equipo y de la literatura</a:t>
            </a:r>
          </a:p>
        </p:txBody>
      </p:sp>
      <p:sp>
        <p:nvSpPr>
          <p:cNvPr id="7" name="Cuenta implementadas"/>
          <p:cNvSpPr txBox="1"/>
          <p:nvPr/>
        </p:nvSpPr>
        <p:spPr>
          <a:xfrm>
            <a:off x="548640" y="2194560"/>
            <a:ext cx="2606040" cy="868680"/>
          </a:xfrm>
          <a:prstGeom prst="rect">
            <a:avLst/>
          </a:prstGeom>
          <a:noFill/>
        </p:spPr>
        <p:txBody>
          <a:bodyPr wrap="square" anchor="t" lIns="0" tIns="0" rIns="0" bIns="0">
            <a:noAutofit/>
          </a:bodyPr>
          <a:lstStyle/>
          <a:p>
            <a:pPr algn="l"/>
            <a:r>
              <a:rPr sz="5400" b="0" i="0" u="none" lang="es-PE">
                <a:solidFill>
                  <a:srgbClr val="E8EAF0"/>
                </a:solidFill>
                <a:latin typeface="Arial"/>
                <a:ea typeface="Arial"/>
                <a:cs typeface="Arial"/>
              </a:rPr>
              <a:t>15</a:t>
            </a:r>
          </a:p>
        </p:txBody>
      </p:sp>
      <p:sp>
        <p:nvSpPr>
          <p:cNvPr id="8" name="Etiqueta implementadas"/>
          <p:cNvSpPr txBox="1"/>
          <p:nvPr/>
        </p:nvSpPr>
        <p:spPr>
          <a:xfrm>
            <a:off x="548640" y="3063240"/>
            <a:ext cx="2606040" cy="292608"/>
          </a:xfrm>
          <a:prstGeom prst="rect">
            <a:avLst/>
          </a:prstGeom>
          <a:noFill/>
        </p:spPr>
        <p:txBody>
          <a:bodyPr wrap="square" anchor="t" lIns="0" tIns="0" rIns="0" bIns="0">
            <a:noAutofit/>
          </a:bodyPr>
          <a:lstStyle/>
          <a:p>
            <a:pPr algn="l"/>
            <a:r>
              <a:rPr sz="1600" b="1" i="0" u="none" lang="es-PE">
                <a:solidFill>
                  <a:srgbClr val="E8EAF0"/>
                </a:solidFill>
                <a:latin typeface="Arial"/>
                <a:ea typeface="Arial"/>
                <a:cs typeface="Arial"/>
              </a:rPr>
              <a:t>implementadas</a:t>
            </a:r>
          </a:p>
        </p:txBody>
      </p:sp>
      <p:cxnSp>
        <p:nvCxnSpPr>
          <p:cNvPr id="9" name="Regla implementadas"/>
          <p:cNvCxnSpPr/>
          <p:nvPr/>
        </p:nvCxnSpPr>
        <p:spPr>
          <a:xfrm>
            <a:off x="548640" y="3474720"/>
            <a:ext cx="2606040" cy="0"/>
          </a:xfrm>
          <a:prstGeom prst="line">
            <a:avLst/>
          </a:prstGeom>
          <a:ln w="9525">
            <a:solidFill>
              <a:srgbClr val="2B3140"/>
            </a:solidFill>
          </a:ln>
        </p:spPr>
        <p:style>
          <a:lnRef idx="2">
            <a:schemeClr val="accent1"/>
          </a:lnRef>
          <a:fillRef idx="0">
            <a:schemeClr val="accent1"/>
          </a:fillRef>
          <a:effectRef idx="1">
            <a:schemeClr val="accent1"/>
          </a:effectRef>
          <a:fontRef idx="minor">
            <a:schemeClr val="tx1"/>
          </a:fontRef>
        </p:style>
      </p:cxnSp>
      <p:sp>
        <p:nvSpPr>
          <p:cNvPr id="10" name="Ejemplos implementadas"/>
          <p:cNvSpPr txBox="1"/>
          <p:nvPr/>
        </p:nvSpPr>
        <p:spPr>
          <a:xfrm>
            <a:off x="548640" y="3611880"/>
            <a:ext cx="2606040" cy="2103120"/>
          </a:xfrm>
          <a:prstGeom prst="rect">
            <a:avLst/>
          </a:prstGeom>
          <a:noFill/>
        </p:spPr>
        <p:txBody>
          <a:bodyPr wrap="square" anchor="t" lIns="0" tIns="0" rIns="0" bIns="0">
            <a:noAutofit/>
          </a:bodyPr>
          <a:lstStyle/>
          <a:p>
            <a:pPr algn="l">
              <a:lnSpc>
                <a:spcPct val="105000"/>
              </a:lnSpc>
              <a:spcAft>
                <a:spcPts val="900"/>
              </a:spcAft>
            </a:pPr>
            <a:r>
              <a:rPr sz="1500" b="0" i="0" u="none" lang="es-PE">
                <a:solidFill>
                  <a:srgbClr val="B4BAC6"/>
                </a:solidFill>
                <a:latin typeface="Arial"/>
                <a:ea typeface="Arial"/>
                <a:cs typeface="Arial"/>
              </a:rPr>
              <a:t>Una vista, un header, sin huecos</a:t>
            </a:r>
          </a:p>
          <a:p>
            <a:pPr algn="l">
              <a:lnSpc>
                <a:spcPct val="105000"/>
              </a:lnSpc>
              <a:spcAft>
                <a:spcPts val="900"/>
              </a:spcAft>
            </a:pPr>
            <a:r>
              <a:rPr sz="1500" b="0" i="0" u="none" lang="es-PE">
                <a:solidFill>
                  <a:srgbClr val="B4BAC6"/>
                </a:solidFill>
                <a:latin typeface="Arial"/>
                <a:ea typeface="Arial"/>
                <a:cs typeface="Arial"/>
              </a:rPr>
              <a:t>Matriz 2 × 3 y personas A / B</a:t>
            </a:r>
          </a:p>
          <a:p>
            <a:pPr algn="l">
              <a:lnSpc>
                <a:spcPct val="105000"/>
              </a:lnSpc>
              <a:spcAft>
                <a:spcPts val="900"/>
              </a:spcAft>
            </a:pPr>
            <a:r>
              <a:rPr sz="1500" b="0" i="0" u="none" lang="es-PE">
                <a:solidFill>
                  <a:srgbClr val="B4BAC6"/>
                </a:solidFill>
                <a:latin typeface="Arial"/>
                <a:ea typeface="Arial"/>
                <a:cs typeface="Arial"/>
              </a:rPr>
              <a:t>Tema oscuro y multiverso limpio</a:t>
            </a:r>
          </a:p>
        </p:txBody>
      </p:sp>
      <p:sp>
        <p:nvSpPr>
          <p:cNvPr id="11" name="Cuenta parciales"/>
          <p:cNvSpPr txBox="1"/>
          <p:nvPr/>
        </p:nvSpPr>
        <p:spPr>
          <a:xfrm>
            <a:off x="3378098" y="2194560"/>
            <a:ext cx="2606040" cy="868680"/>
          </a:xfrm>
          <a:prstGeom prst="rect">
            <a:avLst/>
          </a:prstGeom>
          <a:noFill/>
        </p:spPr>
        <p:txBody>
          <a:bodyPr wrap="square" anchor="t" lIns="0" tIns="0" rIns="0" bIns="0">
            <a:noAutofit/>
          </a:bodyPr>
          <a:lstStyle/>
          <a:p>
            <a:pPr algn="l"/>
            <a:r>
              <a:rPr sz="5400" b="0" i="0" u="none" lang="es-PE">
                <a:solidFill>
                  <a:srgbClr val="E8EAF0"/>
                </a:solidFill>
                <a:latin typeface="Arial"/>
                <a:ea typeface="Arial"/>
                <a:cs typeface="Arial"/>
              </a:rPr>
              <a:t>2</a:t>
            </a:r>
          </a:p>
        </p:txBody>
      </p:sp>
      <p:sp>
        <p:nvSpPr>
          <p:cNvPr id="12" name="Etiqueta parciales"/>
          <p:cNvSpPr txBox="1"/>
          <p:nvPr/>
        </p:nvSpPr>
        <p:spPr>
          <a:xfrm>
            <a:off x="3378098" y="3063240"/>
            <a:ext cx="2606040" cy="292608"/>
          </a:xfrm>
          <a:prstGeom prst="rect">
            <a:avLst/>
          </a:prstGeom>
          <a:noFill/>
        </p:spPr>
        <p:txBody>
          <a:bodyPr wrap="square" anchor="t" lIns="0" tIns="0" rIns="0" bIns="0">
            <a:noAutofit/>
          </a:bodyPr>
          <a:lstStyle/>
          <a:p>
            <a:pPr algn="l"/>
            <a:r>
              <a:rPr sz="1600" b="1" i="0" u="none" lang="es-PE">
                <a:solidFill>
                  <a:srgbClr val="E8EAF0"/>
                </a:solidFill>
                <a:latin typeface="Arial"/>
                <a:ea typeface="Arial"/>
                <a:cs typeface="Arial"/>
              </a:rPr>
              <a:t>parciales</a:t>
            </a:r>
          </a:p>
        </p:txBody>
      </p:sp>
      <p:cxnSp>
        <p:nvCxnSpPr>
          <p:cNvPr id="13" name="Regla parciales"/>
          <p:cNvCxnSpPr/>
          <p:nvPr/>
        </p:nvCxnSpPr>
        <p:spPr>
          <a:xfrm>
            <a:off x="3378098" y="3474720"/>
            <a:ext cx="2606040" cy="0"/>
          </a:xfrm>
          <a:prstGeom prst="line">
            <a:avLst/>
          </a:prstGeom>
          <a:ln w="9525">
            <a:solidFill>
              <a:srgbClr val="2B3140"/>
            </a:solidFill>
          </a:ln>
        </p:spPr>
        <p:style>
          <a:lnRef idx="2">
            <a:schemeClr val="accent1"/>
          </a:lnRef>
          <a:fillRef idx="0">
            <a:schemeClr val="accent1"/>
          </a:fillRef>
          <a:effectRef idx="1">
            <a:schemeClr val="accent1"/>
          </a:effectRef>
          <a:fontRef idx="minor">
            <a:schemeClr val="tx1"/>
          </a:fontRef>
        </p:style>
      </p:cxnSp>
      <p:sp>
        <p:nvSpPr>
          <p:cNvPr id="14" name="Ejemplos parciales"/>
          <p:cNvSpPr txBox="1"/>
          <p:nvPr/>
        </p:nvSpPr>
        <p:spPr>
          <a:xfrm>
            <a:off x="3378098" y="3611880"/>
            <a:ext cx="2606040" cy="2103120"/>
          </a:xfrm>
          <a:prstGeom prst="rect">
            <a:avLst/>
          </a:prstGeom>
          <a:noFill/>
        </p:spPr>
        <p:txBody>
          <a:bodyPr wrap="square" anchor="t" lIns="0" tIns="0" rIns="0" bIns="0">
            <a:noAutofit/>
          </a:bodyPr>
          <a:lstStyle/>
          <a:p>
            <a:pPr algn="l">
              <a:lnSpc>
                <a:spcPct val="105000"/>
              </a:lnSpc>
              <a:spcAft>
                <a:spcPts val="900"/>
              </a:spcAft>
            </a:pPr>
            <a:r>
              <a:rPr sz="1500" b="0" i="0" u="none" lang="es-PE">
                <a:solidFill>
                  <a:srgbClr val="B4BAC6"/>
                </a:solidFill>
                <a:latin typeface="Arial"/>
                <a:ea typeface="Arial"/>
                <a:cs typeface="Arial"/>
              </a:rPr>
              <a:t>Lazo + selector de grupos</a:t>
            </a:r>
          </a:p>
          <a:p>
            <a:pPr algn="l">
              <a:lnSpc>
                <a:spcPct val="105000"/>
              </a:lnSpc>
              <a:spcAft>
                <a:spcPts val="900"/>
              </a:spcAft>
            </a:pPr>
            <a:r>
              <a:rPr sz="1500" b="0" i="0" u="none" lang="es-PE">
                <a:solidFill>
                  <a:srgbClr val="B4BAC6"/>
                </a:solidFill>
                <a:latin typeface="Arial"/>
                <a:ea typeface="Arial"/>
                <a:cs typeface="Arial"/>
              </a:rPr>
              <a:t>Mapa interpolado + electrodos</a:t>
            </a:r>
          </a:p>
        </p:txBody>
      </p:sp>
      <p:sp>
        <p:nvSpPr>
          <p:cNvPr id="15" name="Cuenta postergadas"/>
          <p:cNvSpPr txBox="1"/>
          <p:nvPr/>
        </p:nvSpPr>
        <p:spPr>
          <a:xfrm>
            <a:off x="6207556" y="2194560"/>
            <a:ext cx="2606040" cy="868680"/>
          </a:xfrm>
          <a:prstGeom prst="rect">
            <a:avLst/>
          </a:prstGeom>
          <a:noFill/>
        </p:spPr>
        <p:txBody>
          <a:bodyPr wrap="square" anchor="t" lIns="0" tIns="0" rIns="0" bIns="0">
            <a:noAutofit/>
          </a:bodyPr>
          <a:lstStyle/>
          <a:p>
            <a:pPr algn="l"/>
            <a:r>
              <a:rPr sz="5400" b="0" i="0" u="none" lang="es-PE">
                <a:solidFill>
                  <a:srgbClr val="E8EAF0"/>
                </a:solidFill>
                <a:latin typeface="Arial"/>
                <a:ea typeface="Arial"/>
                <a:cs typeface="Arial"/>
              </a:rPr>
              <a:t>2</a:t>
            </a:r>
          </a:p>
        </p:txBody>
      </p:sp>
      <p:sp>
        <p:nvSpPr>
          <p:cNvPr id="16" name="Etiqueta postergadas"/>
          <p:cNvSpPr txBox="1"/>
          <p:nvPr/>
        </p:nvSpPr>
        <p:spPr>
          <a:xfrm>
            <a:off x="6207556" y="3063240"/>
            <a:ext cx="2606040" cy="292608"/>
          </a:xfrm>
          <a:prstGeom prst="rect">
            <a:avLst/>
          </a:prstGeom>
          <a:noFill/>
        </p:spPr>
        <p:txBody>
          <a:bodyPr wrap="square" anchor="t" lIns="0" tIns="0" rIns="0" bIns="0">
            <a:noAutofit/>
          </a:bodyPr>
          <a:lstStyle/>
          <a:p>
            <a:pPr algn="l"/>
            <a:r>
              <a:rPr sz="1600" b="1" i="0" u="none" lang="es-PE">
                <a:solidFill>
                  <a:srgbClr val="E8EAF0"/>
                </a:solidFill>
                <a:latin typeface="Arial"/>
                <a:ea typeface="Arial"/>
                <a:cs typeface="Arial"/>
              </a:rPr>
              <a:t>postergadas</a:t>
            </a:r>
          </a:p>
        </p:txBody>
      </p:sp>
      <p:cxnSp>
        <p:nvCxnSpPr>
          <p:cNvPr id="17" name="Regla postergadas"/>
          <p:cNvCxnSpPr/>
          <p:nvPr/>
        </p:nvCxnSpPr>
        <p:spPr>
          <a:xfrm>
            <a:off x="6207556" y="3474720"/>
            <a:ext cx="2606040" cy="0"/>
          </a:xfrm>
          <a:prstGeom prst="line">
            <a:avLst/>
          </a:prstGeom>
          <a:ln w="9525">
            <a:solidFill>
              <a:srgbClr val="2B3140"/>
            </a:solidFill>
          </a:ln>
        </p:spPr>
        <p:style>
          <a:lnRef idx="2">
            <a:schemeClr val="accent1"/>
          </a:lnRef>
          <a:fillRef idx="0">
            <a:schemeClr val="accent1"/>
          </a:fillRef>
          <a:effectRef idx="1">
            <a:schemeClr val="accent1"/>
          </a:effectRef>
          <a:fontRef idx="minor">
            <a:schemeClr val="tx1"/>
          </a:fontRef>
        </p:style>
      </p:cxnSp>
      <p:sp>
        <p:nvSpPr>
          <p:cNvPr id="18" name="Ejemplos postergadas"/>
          <p:cNvSpPr txBox="1"/>
          <p:nvPr/>
        </p:nvSpPr>
        <p:spPr>
          <a:xfrm>
            <a:off x="6207556" y="3611880"/>
            <a:ext cx="2606040" cy="2103120"/>
          </a:xfrm>
          <a:prstGeom prst="rect">
            <a:avLst/>
          </a:prstGeom>
          <a:noFill/>
        </p:spPr>
        <p:txBody>
          <a:bodyPr wrap="square" anchor="t" lIns="0" tIns="0" rIns="0" bIns="0">
            <a:noAutofit/>
          </a:bodyPr>
          <a:lstStyle/>
          <a:p>
            <a:pPr algn="l">
              <a:lnSpc>
                <a:spcPct val="105000"/>
              </a:lnSpc>
              <a:spcAft>
                <a:spcPts val="900"/>
              </a:spcAft>
            </a:pPr>
            <a:r>
              <a:rPr sz="1500" b="0" i="0" u="none" lang="es-PE">
                <a:solidFill>
                  <a:srgbClr val="B4BAC6"/>
                </a:solidFill>
                <a:latin typeface="Arial"/>
                <a:ea typeface="Arial"/>
                <a:cs typeface="Arial"/>
              </a:rPr>
              <a:t>Referencia promedio e ICA</a:t>
            </a:r>
          </a:p>
          <a:p>
            <a:pPr algn="l">
              <a:lnSpc>
                <a:spcPct val="105000"/>
              </a:lnSpc>
              <a:spcAft>
                <a:spcPts val="900"/>
              </a:spcAft>
            </a:pPr>
            <a:r>
              <a:rPr sz="1500" b="0" i="0" u="none" lang="es-PE">
                <a:solidFill>
                  <a:srgbClr val="B4BAC6"/>
                </a:solidFill>
                <a:latin typeface="Arial"/>
                <a:ea typeface="Arial"/>
                <a:cs typeface="Arial"/>
              </a:rPr>
              <a:t>Prueba con usuarios</a:t>
            </a:r>
          </a:p>
          <a:p>
            <a:pPr algn="l">
              <a:lnSpc>
                <a:spcPct val="105000"/>
              </a:lnSpc>
              <a:spcAft>
                <a:spcPts val="900"/>
              </a:spcAft>
            </a:pPr>
            <a:r>
              <a:rPr sz="1500" b="0" i="0" u="none" lang="es-PE">
                <a:solidFill>
                  <a:srgbClr val="B4BAC6"/>
                </a:solidFill>
                <a:latin typeface="Arial"/>
                <a:ea typeface="Arial"/>
                <a:cs typeface="Arial"/>
              </a:rPr>
              <a:t>Ambas en la Semana 13</a:t>
            </a:r>
          </a:p>
        </p:txBody>
      </p:sp>
      <p:sp>
        <p:nvSpPr>
          <p:cNvPr id="19" name="Cuenta rechazada"/>
          <p:cNvSpPr txBox="1"/>
          <p:nvPr/>
        </p:nvSpPr>
        <p:spPr>
          <a:xfrm>
            <a:off x="9037015" y="2194560"/>
            <a:ext cx="2606040" cy="868680"/>
          </a:xfrm>
          <a:prstGeom prst="rect">
            <a:avLst/>
          </a:prstGeom>
          <a:noFill/>
        </p:spPr>
        <p:txBody>
          <a:bodyPr wrap="square" anchor="t" lIns="0" tIns="0" rIns="0" bIns="0">
            <a:noAutofit/>
          </a:bodyPr>
          <a:lstStyle/>
          <a:p>
            <a:pPr algn="l"/>
            <a:r>
              <a:rPr sz="5400" b="0" i="0" u="none" lang="es-PE">
                <a:solidFill>
                  <a:srgbClr val="E8EAF0"/>
                </a:solidFill>
                <a:latin typeface="Arial"/>
                <a:ea typeface="Arial"/>
                <a:cs typeface="Arial"/>
              </a:rPr>
              <a:t>1</a:t>
            </a:r>
          </a:p>
        </p:txBody>
      </p:sp>
      <p:sp>
        <p:nvSpPr>
          <p:cNvPr id="20" name="Etiqueta rechazada"/>
          <p:cNvSpPr txBox="1"/>
          <p:nvPr/>
        </p:nvSpPr>
        <p:spPr>
          <a:xfrm>
            <a:off x="9037015" y="3063240"/>
            <a:ext cx="2606040" cy="292608"/>
          </a:xfrm>
          <a:prstGeom prst="rect">
            <a:avLst/>
          </a:prstGeom>
          <a:noFill/>
        </p:spPr>
        <p:txBody>
          <a:bodyPr wrap="square" anchor="t" lIns="0" tIns="0" rIns="0" bIns="0">
            <a:noAutofit/>
          </a:bodyPr>
          <a:lstStyle/>
          <a:p>
            <a:pPr algn="l"/>
            <a:r>
              <a:rPr sz="1600" b="1" i="0" u="none" lang="es-PE">
                <a:solidFill>
                  <a:srgbClr val="E8EAF0"/>
                </a:solidFill>
                <a:latin typeface="Arial"/>
                <a:ea typeface="Arial"/>
                <a:cs typeface="Arial"/>
              </a:rPr>
              <a:t>rechazada</a:t>
            </a:r>
          </a:p>
        </p:txBody>
      </p:sp>
      <p:cxnSp>
        <p:nvCxnSpPr>
          <p:cNvPr id="21" name="Regla rechazada"/>
          <p:cNvCxnSpPr/>
          <p:nvPr/>
        </p:nvCxnSpPr>
        <p:spPr>
          <a:xfrm>
            <a:off x="9037015" y="3474720"/>
            <a:ext cx="2606040" cy="0"/>
          </a:xfrm>
          <a:prstGeom prst="line">
            <a:avLst/>
          </a:prstGeom>
          <a:ln w="9525">
            <a:solidFill>
              <a:srgbClr val="2B3140"/>
            </a:solidFill>
          </a:ln>
        </p:spPr>
        <p:style>
          <a:lnRef idx="2">
            <a:schemeClr val="accent1"/>
          </a:lnRef>
          <a:fillRef idx="0">
            <a:schemeClr val="accent1"/>
          </a:fillRef>
          <a:effectRef idx="1">
            <a:schemeClr val="accent1"/>
          </a:effectRef>
          <a:fontRef idx="minor">
            <a:schemeClr val="tx1"/>
          </a:fontRef>
        </p:style>
      </p:cxnSp>
      <p:sp>
        <p:nvSpPr>
          <p:cNvPr id="22" name="Ejemplos rechazada"/>
          <p:cNvSpPr txBox="1"/>
          <p:nvPr/>
        </p:nvSpPr>
        <p:spPr>
          <a:xfrm>
            <a:off x="9037015" y="3611880"/>
            <a:ext cx="2606040" cy="2103120"/>
          </a:xfrm>
          <a:prstGeom prst="rect">
            <a:avLst/>
          </a:prstGeom>
          <a:noFill/>
        </p:spPr>
        <p:txBody>
          <a:bodyPr wrap="square" anchor="t" lIns="0" tIns="0" rIns="0" bIns="0">
            <a:noAutofit/>
          </a:bodyPr>
          <a:lstStyle/>
          <a:p>
            <a:pPr algn="l">
              <a:lnSpc>
                <a:spcPct val="105000"/>
              </a:lnSpc>
              <a:spcAft>
                <a:spcPts val="900"/>
              </a:spcAft>
            </a:pPr>
            <a:r>
              <a:rPr sz="1500" b="0" i="0" u="none" lang="es-PE">
                <a:solidFill>
                  <a:srgbClr val="B4BAC6"/>
                </a:solidFill>
                <a:latin typeface="Arial"/>
                <a:ea typeface="Arial"/>
                <a:cs typeface="Arial"/>
              </a:rPr>
              <a:t>Conectividad funcional por ahora: 29/40 sin ella frente a 24/40</a:t>
            </a:r>
          </a:p>
        </p:txBody>
      </p:sp>
      <p:sp>
        <p:nvSpPr>
          <p:cNvPr id="23" name="Fuente"/>
          <p:cNvSpPr txBox="1"/>
          <p:nvPr/>
        </p:nvSpPr>
        <p:spPr>
          <a:xfrm>
            <a:off x="548640" y="5760720"/>
            <a:ext cx="11094415" cy="274320"/>
          </a:xfrm>
          <a:prstGeom prst="rect">
            <a:avLst/>
          </a:prstGeom>
          <a:noFill/>
        </p:spPr>
        <p:txBody>
          <a:bodyPr wrap="square" anchor="t" lIns="0" tIns="0" rIns="0" bIns="0">
            <a:noAutofit/>
          </a:bodyPr>
          <a:lstStyle/>
          <a:p>
            <a:pPr algn="l"/>
            <a:r>
              <a:rPr sz="1100" b="0" i="0" u="none" lang="es-PE">
                <a:solidFill>
                  <a:srgbClr val="8C93A1"/>
                </a:solidFill>
                <a:latin typeface="Arial"/>
                <a:ea typeface="Arial"/>
                <a:cs typeface="Arial"/>
              </a:rPr>
              <a:t>Registro completo en PeerCritiqueResponse.html; la conectividad, en research/informe_conectividad.md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ítulo"/>
          <p:cNvSpPr>
            <a:spLocks noGrp="1"/>
          </p:cNvSpPr>
          <p:nvPr>
            <p:ph type="title"/>
          </p:nvPr>
        </p:nvSpPr>
        <p:spPr>
          <a:xfrm>
            <a:off x="548640" y="713232"/>
            <a:ext cx="11094415" cy="658368"/>
          </a:xfrm>
        </p:spPr>
        <p:txBody>
          <a:bodyPr wrap="square" anchor="t" lIns="0" tIns="0" rIns="0" bIns="0">
            <a:noAutofit/>
          </a:bodyPr>
          <a:lstStyle/>
          <a:p>
            <a:pPr algn="l"/>
            <a:r>
              <a:rPr sz="3000" b="0" i="0" u="none" lang="es-PE">
                <a:solidFill>
                  <a:srgbClr val="E8EAF0"/>
                </a:solidFill>
                <a:latin typeface="Arial"/>
                <a:ea typeface="Arial"/>
                <a:cs typeface="Arial"/>
              </a:rPr>
              <a:t>Tres semanas para cerrar</a:t>
            </a:r>
          </a:p>
        </p:txBody>
      </p:sp>
      <p:sp>
        <p:nvSpPr>
          <p:cNvPr id="3" name="Sección"/>
          <p:cNvSpPr txBox="1"/>
          <p:nvPr/>
        </p:nvSpPr>
        <p:spPr>
          <a:xfrm>
            <a:off x="548640" y="384048"/>
            <a:ext cx="11094415" cy="274320"/>
          </a:xfrm>
          <a:prstGeom prst="rect">
            <a:avLst/>
          </a:prstGeom>
          <a:noFill/>
        </p:spPr>
        <p:txBody>
          <a:bodyPr wrap="square" anchor="t" lIns="0" tIns="0" rIns="0" bIns="0">
            <a:noAutofit/>
          </a:bodyPr>
          <a:lstStyle/>
          <a:p>
            <a:pPr algn="l"/>
            <a:r>
              <a:rPr sz="1100" b="0" i="0" u="none" lang="es-PE" spc="80">
                <a:solidFill>
                  <a:srgbClr val="8C93A1"/>
                </a:solidFill>
                <a:latin typeface="Consolas"/>
                <a:ea typeface="Consolas"/>
                <a:cs typeface="Consolas"/>
              </a:rPr>
              <a:t>PLAN DE LAS TRES SEMANAS FINALES</a:t>
            </a:r>
          </a:p>
        </p:txBody>
      </p:sp>
      <p:sp>
        <p:nvSpPr>
          <p:cNvPr id="4" name="Pie"/>
          <p:cNvSpPr txBox="1"/>
          <p:nvPr/>
        </p:nvSpPr>
        <p:spPr>
          <a:xfrm>
            <a:off x="548640" y="6400800"/>
            <a:ext cx="5486400" cy="237744"/>
          </a:xfrm>
          <a:prstGeom prst="rect">
            <a:avLst/>
          </a:prstGeom>
          <a:noFill/>
        </p:spPr>
        <p:txBody>
          <a:bodyPr wrap="square" anchor="t" lIns="0" tIns="0" rIns="0" bIns="0">
            <a:noAutofit/>
          </a:bodyPr>
          <a:lstStyle/>
          <a:p>
            <a:pPr algn="l"/>
            <a:r>
              <a:rPr sz="1000" b="0" i="0" u="none" lang="es-PE">
                <a:solidFill>
                  <a:srgbClr val="8C93A1"/>
                </a:solidFill>
                <a:latin typeface="Consolas"/>
                <a:ea typeface="Consolas"/>
                <a:cs typeface="Consolas"/>
              </a:rPr>
              <a:t>BATIMIX · Semana 12 · DS5343 UTEC 2026-2</a:t>
            </a:r>
          </a:p>
        </p:txBody>
      </p:sp>
      <p:sp>
        <p:nvSpPr>
          <p:cNvPr id="5" name="Número"/>
          <p:cNvSpPr txBox="1"/>
          <p:nvPr/>
        </p:nvSpPr>
        <p:spPr>
          <a:xfrm>
            <a:off x="9814255" y="6400800"/>
            <a:ext cx="1828800" cy="237744"/>
          </a:xfrm>
          <a:prstGeom prst="rect">
            <a:avLst/>
          </a:prstGeom>
          <a:noFill/>
        </p:spPr>
        <p:txBody>
          <a:bodyPr wrap="square" anchor="t" lIns="0" tIns="0" rIns="0" bIns="0">
            <a:noAutofit/>
          </a:bodyPr>
          <a:lstStyle/>
          <a:p>
            <a:pPr algn="r"/>
            <a:r>
              <a:rPr sz="1000" b="0" i="0" u="none" lang="es-PE">
                <a:solidFill>
                  <a:srgbClr val="8C93A1"/>
                </a:solidFill>
                <a:latin typeface="Consolas"/>
                <a:ea typeface="Consolas"/>
                <a:cs typeface="Consolas"/>
              </a:rPr>
              <a:t>10 / 11</a:t>
            </a:r>
          </a:p>
        </p:txBody>
      </p:sp>
      <p:cxnSp>
        <p:nvCxnSpPr>
          <p:cNvPr id="6" name="Línea de tiempo"/>
          <p:cNvCxnSpPr/>
          <p:nvPr/>
        </p:nvCxnSpPr>
        <p:spPr>
          <a:xfrm>
            <a:off x="548640" y="1874519"/>
            <a:ext cx="11094415" cy="0"/>
          </a:xfrm>
          <a:prstGeom prst="line">
            <a:avLst/>
          </a:prstGeom>
          <a:ln w="12700">
            <a:solidFill>
              <a:srgbClr val="2B3140"/>
            </a:solidFill>
          </a:ln>
        </p:spPr>
        <p:style>
          <a:lnRef idx="2">
            <a:schemeClr val="accent1"/>
          </a:lnRef>
          <a:fillRef idx="0">
            <a:schemeClr val="accent1"/>
          </a:fillRef>
          <a:effectRef idx="1">
            <a:schemeClr val="accent1"/>
          </a:effectRef>
          <a:fontRef idx="minor">
            <a:schemeClr val="tx1"/>
          </a:fontRef>
        </p:style>
      </p:cxnSp>
      <p:sp>
        <p:nvSpPr>
          <p:cNvPr id="7" name="Hito Semana 13"/>
          <p:cNvSpPr/>
          <p:nvPr/>
        </p:nvSpPr>
        <p:spPr>
          <a:xfrm>
            <a:off x="548640" y="1792223"/>
            <a:ext cx="164592" cy="164592"/>
          </a:xfrm>
          <a:prstGeom prst="ellipse">
            <a:avLst/>
          </a:prstGeom>
          <a:solidFill>
            <a:srgbClr val="E8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mana 13"/>
          <p:cNvSpPr txBox="1"/>
          <p:nvPr/>
        </p:nvSpPr>
        <p:spPr>
          <a:xfrm>
            <a:off x="548640" y="2103120"/>
            <a:ext cx="3520440" cy="457200"/>
          </a:xfrm>
          <a:prstGeom prst="rect">
            <a:avLst/>
          </a:prstGeom>
          <a:noFill/>
        </p:spPr>
        <p:txBody>
          <a:bodyPr wrap="square" anchor="t" lIns="0" tIns="0" rIns="0" bIns="0">
            <a:noAutofit/>
          </a:bodyPr>
          <a:lstStyle/>
          <a:p>
            <a:pPr algn="l"/>
            <a:r>
              <a:rPr sz="2600" b="0" i="0" u="none" lang="es-PE">
                <a:solidFill>
                  <a:srgbClr val="E8EAF0"/>
                </a:solidFill>
                <a:latin typeface="Arial"/>
                <a:ea typeface="Arial"/>
                <a:cs typeface="Arial"/>
              </a:rPr>
              <a:t>Semana 13</a:t>
            </a:r>
          </a:p>
        </p:txBody>
      </p:sp>
      <p:sp>
        <p:nvSpPr>
          <p:cNvPr id="9" name="Fechas Semana 13"/>
          <p:cNvSpPr txBox="1"/>
          <p:nvPr/>
        </p:nvSpPr>
        <p:spPr>
          <a:xfrm>
            <a:off x="548640" y="2606040"/>
            <a:ext cx="3520440" cy="274320"/>
          </a:xfrm>
          <a:prstGeom prst="rect">
            <a:avLst/>
          </a:prstGeom>
          <a:noFill/>
        </p:spPr>
        <p:txBody>
          <a:bodyPr wrap="square" anchor="t" lIns="0" tIns="0" rIns="0" bIns="0">
            <a:noAutofit/>
          </a:bodyPr>
          <a:lstStyle/>
          <a:p>
            <a:pPr algn="l"/>
            <a:r>
              <a:rPr sz="1400" b="0" i="0" u="none" lang="es-PE">
                <a:solidFill>
                  <a:srgbClr val="8C93A1"/>
                </a:solidFill>
                <a:latin typeface="Arial"/>
                <a:ea typeface="Arial"/>
                <a:cs typeface="Arial"/>
              </a:rPr>
              <a:t>29 oct a 4 nov</a:t>
            </a:r>
          </a:p>
        </p:txBody>
      </p:sp>
      <p:sp>
        <p:nvSpPr>
          <p:cNvPr id="10" name="Tareas Semana 13"/>
          <p:cNvSpPr txBox="1"/>
          <p:nvPr/>
        </p:nvSpPr>
        <p:spPr>
          <a:xfrm>
            <a:off x="548640" y="3063240"/>
            <a:ext cx="3520440" cy="2377440"/>
          </a:xfrm>
          <a:prstGeom prst="rect">
            <a:avLst/>
          </a:prstGeom>
          <a:noFill/>
        </p:spPr>
        <p:txBody>
          <a:bodyPr wrap="square" anchor="t" lIns="0" tIns="0" rIns="0" bIns="0">
            <a:noAutofit/>
          </a:bodyPr>
          <a:lstStyle/>
          <a:p>
            <a:pPr algn="l">
              <a:lnSpc>
                <a:spcPct val="105000"/>
              </a:lnSpc>
              <a:spcAft>
                <a:spcPts val="1000"/>
              </a:spcAft>
            </a:pPr>
            <a:r>
              <a:rPr sz="1500" b="1" i="0" u="none" lang="es-PE">
                <a:solidFill>
                  <a:srgbClr val="E8EAF0"/>
                </a:solidFill>
                <a:latin typeface="Arial"/>
                <a:ea typeface="Arial"/>
                <a:cs typeface="Arial"/>
              </a:rPr>
              <a:t>Jimena: </a:t>
            </a:r>
            <a:r>
              <a:rPr sz="1500" b="0" i="0" u="none" lang="es-PE">
                <a:solidFill>
                  <a:srgbClr val="B4BAC6"/>
                </a:solidFill>
                <a:latin typeface="Arial"/>
                <a:ea typeface="Arial"/>
                <a:cs typeface="Arial"/>
              </a:rPr>
              <a:t>referencia promedio e ICA</a:t>
            </a:r>
          </a:p>
          <a:p>
            <a:pPr algn="l">
              <a:lnSpc>
                <a:spcPct val="105000"/>
              </a:lnSpc>
              <a:spcAft>
                <a:spcPts val="1000"/>
              </a:spcAft>
            </a:pPr>
            <a:r>
              <a:rPr sz="1500" b="1" i="0" u="none" lang="es-PE">
                <a:solidFill>
                  <a:srgbClr val="E8EAF0"/>
                </a:solidFill>
                <a:latin typeface="Arial"/>
                <a:ea typeface="Arial"/>
                <a:cs typeface="Arial"/>
              </a:rPr>
              <a:t>Andrea: </a:t>
            </a:r>
            <a:r>
              <a:rPr sz="1500" b="0" i="0" u="none" lang="es-PE">
                <a:solidFill>
                  <a:srgbClr val="B4BAC6"/>
                </a:solidFill>
                <a:latin typeface="Arial"/>
                <a:ea typeface="Arial"/>
                <a:cs typeface="Arial"/>
              </a:rPr>
              <a:t>moderadores y guion del teaser</a:t>
            </a:r>
          </a:p>
          <a:p>
            <a:pPr algn="l">
              <a:lnSpc>
                <a:spcPct val="105000"/>
              </a:lnSpc>
              <a:spcAft>
                <a:spcPts val="1000"/>
              </a:spcAft>
            </a:pPr>
            <a:r>
              <a:rPr sz="1500" b="1" i="0" u="none" lang="es-PE">
                <a:solidFill>
                  <a:srgbClr val="E8EAF0"/>
                </a:solidFill>
                <a:latin typeface="Arial"/>
                <a:ea typeface="Arial"/>
                <a:cs typeface="Arial"/>
              </a:rPr>
              <a:t>Paolo: </a:t>
            </a:r>
            <a:r>
              <a:rPr sz="1500" b="0" i="0" u="none" lang="es-PE">
                <a:solidFill>
                  <a:srgbClr val="B4BAC6"/>
                </a:solidFill>
                <a:latin typeface="Arial"/>
                <a:ea typeface="Arial"/>
                <a:cs typeface="Arial"/>
              </a:rPr>
              <a:t>lapsos y Resultados</a:t>
            </a:r>
          </a:p>
          <a:p>
            <a:pPr algn="l">
              <a:lnSpc>
                <a:spcPct val="105000"/>
              </a:lnSpc>
              <a:spcAft>
                <a:spcPts val="1000"/>
              </a:spcAft>
            </a:pPr>
            <a:r>
              <a:rPr sz="1500" b="1" i="0" u="none" lang="es-PE">
                <a:solidFill>
                  <a:srgbClr val="E8EAF0"/>
                </a:solidFill>
                <a:latin typeface="Arial"/>
                <a:ea typeface="Arial"/>
                <a:cs typeface="Arial"/>
              </a:rPr>
              <a:t>Todos: </a:t>
            </a:r>
            <a:r>
              <a:rPr sz="1500" b="0" i="0" u="none" lang="es-PE">
                <a:solidFill>
                  <a:srgbClr val="B4BAC6"/>
                </a:solidFill>
                <a:latin typeface="Arial"/>
                <a:ea typeface="Arial"/>
                <a:cs typeface="Arial"/>
              </a:rPr>
              <a:t>GitHub Pages y prueba con usuarios</a:t>
            </a:r>
          </a:p>
        </p:txBody>
      </p:sp>
      <p:sp>
        <p:nvSpPr>
          <p:cNvPr id="11" name="Hito Semana 14"/>
          <p:cNvSpPr/>
          <p:nvPr/>
        </p:nvSpPr>
        <p:spPr>
          <a:xfrm>
            <a:off x="4335627" y="1792223"/>
            <a:ext cx="164592" cy="164592"/>
          </a:xfrm>
          <a:prstGeom prst="ellipse">
            <a:avLst/>
          </a:prstGeom>
          <a:solidFill>
            <a:srgbClr val="E8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mana 14"/>
          <p:cNvSpPr txBox="1"/>
          <p:nvPr/>
        </p:nvSpPr>
        <p:spPr>
          <a:xfrm>
            <a:off x="4335627" y="2103120"/>
            <a:ext cx="3520440" cy="457200"/>
          </a:xfrm>
          <a:prstGeom prst="rect">
            <a:avLst/>
          </a:prstGeom>
          <a:noFill/>
        </p:spPr>
        <p:txBody>
          <a:bodyPr wrap="square" anchor="t" lIns="0" tIns="0" rIns="0" bIns="0">
            <a:noAutofit/>
          </a:bodyPr>
          <a:lstStyle/>
          <a:p>
            <a:pPr algn="l"/>
            <a:r>
              <a:rPr sz="2600" b="0" i="0" u="none" lang="es-PE">
                <a:solidFill>
                  <a:srgbClr val="E8EAF0"/>
                </a:solidFill>
                <a:latin typeface="Arial"/>
                <a:ea typeface="Arial"/>
                <a:cs typeface="Arial"/>
              </a:rPr>
              <a:t>Semana 14</a:t>
            </a:r>
          </a:p>
        </p:txBody>
      </p:sp>
      <p:sp>
        <p:nvSpPr>
          <p:cNvPr id="13" name="Fechas Semana 14"/>
          <p:cNvSpPr txBox="1"/>
          <p:nvPr/>
        </p:nvSpPr>
        <p:spPr>
          <a:xfrm>
            <a:off x="4335627" y="2606040"/>
            <a:ext cx="3520440" cy="274320"/>
          </a:xfrm>
          <a:prstGeom prst="rect">
            <a:avLst/>
          </a:prstGeom>
          <a:noFill/>
        </p:spPr>
        <p:txBody>
          <a:bodyPr wrap="square" anchor="t" lIns="0" tIns="0" rIns="0" bIns="0">
            <a:noAutofit/>
          </a:bodyPr>
          <a:lstStyle/>
          <a:p>
            <a:pPr algn="l"/>
            <a:r>
              <a:rPr sz="1400" b="0" i="0" u="none" lang="es-PE">
                <a:solidFill>
                  <a:srgbClr val="8C93A1"/>
                </a:solidFill>
                <a:latin typeface="Arial"/>
                <a:ea typeface="Arial"/>
                <a:cs typeface="Arial"/>
              </a:rPr>
              <a:t>5 a 11 nov</a:t>
            </a:r>
          </a:p>
        </p:txBody>
      </p:sp>
      <p:sp>
        <p:nvSpPr>
          <p:cNvPr id="14" name="Tareas Semana 14"/>
          <p:cNvSpPr txBox="1"/>
          <p:nvPr/>
        </p:nvSpPr>
        <p:spPr>
          <a:xfrm>
            <a:off x="4335627" y="3063240"/>
            <a:ext cx="3520440" cy="2377440"/>
          </a:xfrm>
          <a:prstGeom prst="rect">
            <a:avLst/>
          </a:prstGeom>
          <a:noFill/>
        </p:spPr>
        <p:txBody>
          <a:bodyPr wrap="square" anchor="t" lIns="0" tIns="0" rIns="0" bIns="0">
            <a:noAutofit/>
          </a:bodyPr>
          <a:lstStyle/>
          <a:p>
            <a:pPr algn="l">
              <a:lnSpc>
                <a:spcPct val="105000"/>
              </a:lnSpc>
              <a:spcAft>
                <a:spcPts val="1000"/>
              </a:spcAft>
            </a:pPr>
            <a:r>
              <a:rPr sz="1500" b="1" i="0" u="none" lang="es-PE">
                <a:solidFill>
                  <a:srgbClr val="E8EAF0"/>
                </a:solidFill>
                <a:latin typeface="Arial"/>
                <a:ea typeface="Arial"/>
                <a:cs typeface="Arial"/>
              </a:rPr>
              <a:t>Todos: </a:t>
            </a:r>
            <a:r>
              <a:rPr sz="1500" b="0" i="0" u="none" lang="es-PE">
                <a:solidFill>
                  <a:srgbClr val="B4BAC6"/>
                </a:solidFill>
                <a:latin typeface="Arial"/>
                <a:ea typeface="Arial"/>
                <a:cs typeface="Arial"/>
              </a:rPr>
              <a:t>paper en plantilla IEEE VIS</a:t>
            </a:r>
          </a:p>
          <a:p>
            <a:pPr algn="l">
              <a:lnSpc>
                <a:spcPct val="105000"/>
              </a:lnSpc>
              <a:spcAft>
                <a:spcPts val="1000"/>
              </a:spcAft>
            </a:pPr>
            <a:r>
              <a:rPr sz="1500" b="0" i="0" u="none" lang="es-PE">
                <a:solidFill>
                  <a:srgbClr val="B4BAC6"/>
                </a:solidFill>
                <a:latin typeface="Arial"/>
                <a:ea typeface="Arial"/>
                <a:cs typeface="Arial"/>
              </a:rPr>
              <a:t>Póster con QR</a:t>
            </a:r>
          </a:p>
          <a:p>
            <a:pPr algn="l">
              <a:lnSpc>
                <a:spcPct val="105000"/>
              </a:lnSpc>
              <a:spcAft>
                <a:spcPts val="1000"/>
              </a:spcAft>
            </a:pPr>
            <a:r>
              <a:rPr sz="1500" b="0" i="0" u="none" lang="es-PE">
                <a:solidFill>
                  <a:srgbClr val="B4BAC6"/>
                </a:solidFill>
                <a:latin typeface="Arial"/>
                <a:ea typeface="Arial"/>
                <a:cs typeface="Arial"/>
              </a:rPr>
              <a:t>Video (5 min) y teaser (1 min)</a:t>
            </a:r>
          </a:p>
          <a:p>
            <a:pPr algn="l">
              <a:lnSpc>
                <a:spcPct val="105000"/>
              </a:lnSpc>
              <a:spcAft>
                <a:spcPts val="1000"/>
              </a:spcAft>
            </a:pPr>
            <a:r>
              <a:rPr sz="1500" b="0" i="0" u="none" lang="es-PE">
                <a:solidFill>
                  <a:srgbClr val="B4BAC6"/>
                </a:solidFill>
                <a:latin typeface="Arial"/>
                <a:ea typeface="Arial"/>
                <a:cs typeface="Arial"/>
              </a:rPr>
              <a:t>Ajustes de usabilidad</a:t>
            </a:r>
          </a:p>
        </p:txBody>
      </p:sp>
      <p:sp>
        <p:nvSpPr>
          <p:cNvPr id="15" name="Hito Semana 15"/>
          <p:cNvSpPr/>
          <p:nvPr/>
        </p:nvSpPr>
        <p:spPr>
          <a:xfrm>
            <a:off x="8122615" y="1792223"/>
            <a:ext cx="164592" cy="164592"/>
          </a:xfrm>
          <a:prstGeom prst="ellipse">
            <a:avLst/>
          </a:prstGeom>
          <a:solidFill>
            <a:srgbClr val="E8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emana 15"/>
          <p:cNvSpPr txBox="1"/>
          <p:nvPr/>
        </p:nvSpPr>
        <p:spPr>
          <a:xfrm>
            <a:off x="8122615" y="2103120"/>
            <a:ext cx="3520440" cy="457200"/>
          </a:xfrm>
          <a:prstGeom prst="rect">
            <a:avLst/>
          </a:prstGeom>
          <a:noFill/>
        </p:spPr>
        <p:txBody>
          <a:bodyPr wrap="square" anchor="t" lIns="0" tIns="0" rIns="0" bIns="0">
            <a:noAutofit/>
          </a:bodyPr>
          <a:lstStyle/>
          <a:p>
            <a:pPr algn="l"/>
            <a:r>
              <a:rPr sz="2600" b="0" i="0" u="none" lang="es-PE">
                <a:solidFill>
                  <a:srgbClr val="E8EAF0"/>
                </a:solidFill>
                <a:latin typeface="Arial"/>
                <a:ea typeface="Arial"/>
                <a:cs typeface="Arial"/>
              </a:rPr>
              <a:t>Semana 15</a:t>
            </a:r>
          </a:p>
        </p:txBody>
      </p:sp>
      <p:sp>
        <p:nvSpPr>
          <p:cNvPr id="17" name="Fechas Semana 15"/>
          <p:cNvSpPr txBox="1"/>
          <p:nvPr/>
        </p:nvSpPr>
        <p:spPr>
          <a:xfrm>
            <a:off x="8122615" y="2606040"/>
            <a:ext cx="3520440" cy="274320"/>
          </a:xfrm>
          <a:prstGeom prst="rect">
            <a:avLst/>
          </a:prstGeom>
          <a:noFill/>
        </p:spPr>
        <p:txBody>
          <a:bodyPr wrap="square" anchor="t" lIns="0" tIns="0" rIns="0" bIns="0">
            <a:noAutofit/>
          </a:bodyPr>
          <a:lstStyle/>
          <a:p>
            <a:pPr algn="l"/>
            <a:r>
              <a:rPr sz="1400" b="0" i="0" u="none" lang="es-PE">
                <a:solidFill>
                  <a:srgbClr val="8C93A1"/>
                </a:solidFill>
                <a:latin typeface="Arial"/>
                <a:ea typeface="Arial"/>
                <a:cs typeface="Arial"/>
              </a:rPr>
              <a:t>12 a 18 nov</a:t>
            </a:r>
          </a:p>
        </p:txBody>
      </p:sp>
      <p:sp>
        <p:nvSpPr>
          <p:cNvPr id="18" name="Tareas Semana 15"/>
          <p:cNvSpPr txBox="1"/>
          <p:nvPr/>
        </p:nvSpPr>
        <p:spPr>
          <a:xfrm>
            <a:off x="8122615" y="3063240"/>
            <a:ext cx="3520440" cy="2377440"/>
          </a:xfrm>
          <a:prstGeom prst="rect">
            <a:avLst/>
          </a:prstGeom>
          <a:noFill/>
        </p:spPr>
        <p:txBody>
          <a:bodyPr wrap="square" anchor="t" lIns="0" tIns="0" rIns="0" bIns="0">
            <a:noAutofit/>
          </a:bodyPr>
          <a:lstStyle/>
          <a:p>
            <a:pPr algn="l">
              <a:lnSpc>
                <a:spcPct val="105000"/>
              </a:lnSpc>
              <a:spcAft>
                <a:spcPts val="1000"/>
              </a:spcAft>
            </a:pPr>
            <a:r>
              <a:rPr sz="1500" b="1" i="0" u="none" lang="es-PE">
                <a:solidFill>
                  <a:srgbClr val="E8EAF0"/>
                </a:solidFill>
                <a:latin typeface="Arial"/>
                <a:ea typeface="Arial"/>
                <a:cs typeface="Arial"/>
              </a:rPr>
              <a:t>Todos: </a:t>
            </a:r>
            <a:r>
              <a:rPr sz="1500" b="0" i="0" u="none" lang="es-PE">
                <a:solidFill>
                  <a:srgbClr val="B4BAC6"/>
                </a:solidFill>
                <a:latin typeface="Arial"/>
                <a:ea typeface="Arial"/>
                <a:cs typeface="Arial"/>
              </a:rPr>
              <a:t>pulido final y README</a:t>
            </a:r>
          </a:p>
          <a:p>
            <a:pPr algn="l">
              <a:lnSpc>
                <a:spcPct val="105000"/>
              </a:lnSpc>
              <a:spcAft>
                <a:spcPts val="1000"/>
              </a:spcAft>
            </a:pPr>
            <a:r>
              <a:rPr sz="1500" b="0" i="0" u="none" lang="es-PE">
                <a:solidFill>
                  <a:srgbClr val="B4BAC6"/>
                </a:solidFill>
                <a:latin typeface="Arial"/>
                <a:ea typeface="Arial"/>
                <a:cs typeface="Arial"/>
              </a:rPr>
              <a:t>Contribuciones y reflexión</a:t>
            </a:r>
          </a:p>
          <a:p>
            <a:pPr algn="l">
              <a:lnSpc>
                <a:spcPct val="105000"/>
              </a:lnSpc>
              <a:spcAft>
                <a:spcPts val="1000"/>
              </a:spcAft>
            </a:pPr>
            <a:r>
              <a:rPr sz="1500" b="0" i="0" u="none" lang="es-PE">
                <a:solidFill>
                  <a:srgbClr val="B4BAC6"/>
                </a:solidFill>
                <a:latin typeface="Arial"/>
                <a:ea typeface="Arial"/>
                <a:cs typeface="Arial"/>
              </a:rPr>
              <a:t>Prueba de enlaces</a:t>
            </a:r>
          </a:p>
          <a:p>
            <a:pPr algn="l">
              <a:lnSpc>
                <a:spcPct val="105000"/>
              </a:lnSpc>
              <a:spcAft>
                <a:spcPts val="1000"/>
              </a:spcAft>
            </a:pPr>
            <a:r>
              <a:rPr sz="1500" b="0" i="0" u="none" lang="es-PE">
                <a:solidFill>
                  <a:srgbClr val="B4BAC6"/>
                </a:solidFill>
                <a:latin typeface="Arial"/>
                <a:ea typeface="Arial"/>
                <a:cs typeface="Arial"/>
              </a:rPr>
              <a:t>Exhibición y oral de 10 min</a:t>
            </a:r>
          </a:p>
        </p:txBody>
      </p:sp>
      <p:sp>
        <p:nvSpPr>
          <p:cNvPr id="19" name="Entrega final"/>
          <p:cNvSpPr txBox="1"/>
          <p:nvPr/>
        </p:nvSpPr>
        <p:spPr>
          <a:xfrm>
            <a:off x="548640" y="5669280"/>
            <a:ext cx="11094415" cy="320040"/>
          </a:xfrm>
          <a:prstGeom prst="rect">
            <a:avLst/>
          </a:prstGeom>
          <a:noFill/>
        </p:spPr>
        <p:txBody>
          <a:bodyPr wrap="square" anchor="t" lIns="0" tIns="0" rIns="0" bIns="0">
            <a:noAutofit/>
          </a:bodyPr>
          <a:lstStyle/>
          <a:p>
            <a:pPr algn="l"/>
            <a:r>
              <a:rPr sz="1500" b="1" i="0" u="none" lang="es-PE">
                <a:solidFill>
                  <a:srgbClr val="E8EAF0"/>
                </a:solidFill>
                <a:latin typeface="Arial"/>
                <a:ea typeface="Arial"/>
                <a:cs typeface="Arial"/>
              </a:rPr>
              <a:t>Entrega final: </a:t>
            </a:r>
            <a:r>
              <a:rPr sz="1500" b="0" i="0" u="none" lang="es-PE">
                <a:solidFill>
                  <a:srgbClr val="B4BAC6"/>
                </a:solidFill>
                <a:latin typeface="Arial"/>
                <a:ea typeface="Arial"/>
                <a:cs typeface="Arial"/>
              </a:rPr>
              <a:t>18 de noviembre de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D12"/>
        </a:solidFill>
        <a:effectLst/>
      </p:bgPr>
    </p:bg>
    <p:spTree>
      <p:nvGrpSpPr>
        <p:cNvPr id="1" name=""/>
        <p:cNvGrpSpPr/>
        <p:nvPr/>
      </p:nvGrpSpPr>
      <p:grpSpPr/>
      <p:sp>
        <p:nvSpPr>
          <p:cNvPr id="2" name="Título"/>
          <p:cNvSpPr>
            <a:spLocks noGrp="1"/>
          </p:cNvSpPr>
          <p:nvPr>
            <p:ph type="title"/>
          </p:nvPr>
        </p:nvSpPr>
        <p:spPr>
          <a:xfrm>
            <a:off x="548640" y="713232"/>
            <a:ext cx="11094415" cy="658368"/>
          </a:xfrm>
        </p:spPr>
        <p:txBody>
          <a:bodyPr wrap="square" anchor="t" lIns="0" tIns="0" rIns="0" bIns="0">
            <a:noAutofit/>
          </a:bodyPr>
          <a:lstStyle/>
          <a:p>
            <a:pPr algn="l"/>
            <a:r>
              <a:rPr sz="3000" b="0" i="0" u="none" lang="es-PE">
                <a:solidFill>
                  <a:srgbClr val="E8EAF0"/>
                </a:solidFill>
                <a:latin typeface="Arial"/>
                <a:ea typeface="Arial"/>
                <a:cs typeface="Arial"/>
              </a:rPr>
              <a:t>Conclusión preliminar</a:t>
            </a:r>
          </a:p>
        </p:txBody>
      </p:sp>
      <p:sp>
        <p:nvSpPr>
          <p:cNvPr id="3" name="Sección"/>
          <p:cNvSpPr txBox="1"/>
          <p:nvPr/>
        </p:nvSpPr>
        <p:spPr>
          <a:xfrm>
            <a:off x="548640" y="384048"/>
            <a:ext cx="11094415" cy="274320"/>
          </a:xfrm>
          <a:prstGeom prst="rect">
            <a:avLst/>
          </a:prstGeom>
          <a:noFill/>
        </p:spPr>
        <p:txBody>
          <a:bodyPr wrap="square" anchor="t" lIns="0" tIns="0" rIns="0" bIns="0">
            <a:noAutofit/>
          </a:bodyPr>
          <a:lstStyle/>
          <a:p>
            <a:pPr algn="l"/>
            <a:r>
              <a:rPr sz="1100" b="0" i="0" u="none" lang="es-PE" spc="80">
                <a:solidFill>
                  <a:srgbClr val="8C93A1"/>
                </a:solidFill>
                <a:latin typeface="Consolas"/>
                <a:ea typeface="Consolas"/>
                <a:cs typeface="Consolas"/>
              </a:rPr>
              <a:t>CIERRE</a:t>
            </a:r>
          </a:p>
        </p:txBody>
      </p:sp>
      <p:sp>
        <p:nvSpPr>
          <p:cNvPr id="4" name="Pie"/>
          <p:cNvSpPr txBox="1"/>
          <p:nvPr/>
        </p:nvSpPr>
        <p:spPr>
          <a:xfrm>
            <a:off x="548640" y="6400800"/>
            <a:ext cx="5486400" cy="237744"/>
          </a:xfrm>
          <a:prstGeom prst="rect">
            <a:avLst/>
          </a:prstGeom>
          <a:noFill/>
        </p:spPr>
        <p:txBody>
          <a:bodyPr wrap="square" anchor="t" lIns="0" tIns="0" rIns="0" bIns="0">
            <a:noAutofit/>
          </a:bodyPr>
          <a:lstStyle/>
          <a:p>
            <a:pPr algn="l"/>
            <a:r>
              <a:rPr sz="1000" b="0" i="0" u="none" lang="es-PE">
                <a:solidFill>
                  <a:srgbClr val="8C93A1"/>
                </a:solidFill>
                <a:latin typeface="Consolas"/>
                <a:ea typeface="Consolas"/>
                <a:cs typeface="Consolas"/>
              </a:rPr>
              <a:t>BATIMIX · Semana 12 · DS5343 UTEC 2026-2</a:t>
            </a:r>
          </a:p>
        </p:txBody>
      </p:sp>
      <p:sp>
        <p:nvSpPr>
          <p:cNvPr id="5" name="Número"/>
          <p:cNvSpPr txBox="1"/>
          <p:nvPr/>
        </p:nvSpPr>
        <p:spPr>
          <a:xfrm>
            <a:off x="9814255" y="6400800"/>
            <a:ext cx="1828800" cy="237744"/>
          </a:xfrm>
          <a:prstGeom prst="rect">
            <a:avLst/>
          </a:prstGeom>
          <a:noFill/>
        </p:spPr>
        <p:txBody>
          <a:bodyPr wrap="square" anchor="t" lIns="0" tIns="0" rIns="0" bIns="0">
            <a:noAutofit/>
          </a:bodyPr>
          <a:lstStyle/>
          <a:p>
            <a:pPr algn="r"/>
            <a:r>
              <a:rPr sz="1000" b="0" i="0" u="none" lang="es-PE">
                <a:solidFill>
                  <a:srgbClr val="8C93A1"/>
                </a:solidFill>
                <a:latin typeface="Consolas"/>
                <a:ea typeface="Consolas"/>
                <a:cs typeface="Consolas"/>
              </a:rPr>
              <a:t>11 / 11</a:t>
            </a:r>
          </a:p>
        </p:txBody>
      </p:sp>
      <p:sp>
        <p:nvSpPr>
          <p:cNvPr id="6" name="Conclusión"/>
          <p:cNvSpPr txBox="1"/>
          <p:nvPr/>
        </p:nvSpPr>
        <p:spPr>
          <a:xfrm>
            <a:off x="548640" y="1737360"/>
            <a:ext cx="6385255" cy="1874519"/>
          </a:xfrm>
          <a:prstGeom prst="rect">
            <a:avLst/>
          </a:prstGeom>
          <a:noFill/>
        </p:spPr>
        <p:txBody>
          <a:bodyPr wrap="square" anchor="t" lIns="0" tIns="0" rIns="0" bIns="0">
            <a:noAutofit/>
          </a:bodyPr>
          <a:lstStyle/>
          <a:p>
            <a:pPr algn="l">
              <a:lnSpc>
                <a:spcPct val="108000"/>
              </a:lnSpc>
            </a:pPr>
            <a:r>
              <a:rPr sz="2600" b="0" i="0" u="none" lang="es-PE">
                <a:solidFill>
                  <a:srgbClr val="E8EAF0"/>
                </a:solidFill>
                <a:latin typeface="Arial"/>
                <a:ea typeface="Arial"/>
                <a:cs typeface="Arial"/>
              </a:rPr>
              <a:t>Sin dormir, la theta de cada persona se mueve en direcciones distintas, y ese cambio no predice de forma robusta quién se deteriora.</a:t>
            </a:r>
          </a:p>
        </p:txBody>
      </p:sp>
      <p:sp>
        <p:nvSpPr>
          <p:cNvPr id="7" name="Pista"/>
          <p:cNvSpPr txBox="1"/>
          <p:nvPr/>
        </p:nvSpPr>
        <p:spPr>
          <a:xfrm>
            <a:off x="548640" y="3703320"/>
            <a:ext cx="6385255" cy="731520"/>
          </a:xfrm>
          <a:prstGeom prst="rect">
            <a:avLst/>
          </a:prstGeom>
          <a:noFill/>
        </p:spPr>
        <p:txBody>
          <a:bodyPr wrap="square" anchor="t" lIns="0" tIns="0" rIns="0" bIns="0">
            <a:noAutofit/>
          </a:bodyPr>
          <a:lstStyle/>
          <a:p>
            <a:pPr algn="l"/>
            <a:r>
              <a:rPr sz="1800" b="0" i="0" u="none" lang="es-PE">
                <a:solidFill>
                  <a:srgbClr val="B4BAC6"/>
                </a:solidFill>
                <a:latin typeface="Arial"/>
                <a:ea typeface="Arial"/>
                <a:cs typeface="Arial"/>
              </a:rPr>
              <a:t>La única pista es con el ánimo (PANAS+), no con la vigilancia (PVT).</a:t>
            </a:r>
          </a:p>
        </p:txBody>
      </p:sp>
      <p:sp>
        <p:nvSpPr>
          <p:cNvPr id="8" name="Etiqueta enlace"/>
          <p:cNvSpPr txBox="1"/>
          <p:nvPr/>
        </p:nvSpPr>
        <p:spPr>
          <a:xfrm>
            <a:off x="548640" y="4709160"/>
            <a:ext cx="11094415" cy="274320"/>
          </a:xfrm>
          <a:prstGeom prst="rect">
            <a:avLst/>
          </a:prstGeom>
          <a:noFill/>
        </p:spPr>
        <p:txBody>
          <a:bodyPr wrap="square" anchor="t" lIns="0" tIns="0" rIns="0" bIns="0">
            <a:noAutofit/>
          </a:bodyPr>
          <a:lstStyle/>
          <a:p>
            <a:pPr algn="l"/>
            <a:r>
              <a:rPr sz="1200" b="0" i="0" u="none" lang="es-PE" spc="60">
                <a:solidFill>
                  <a:srgbClr val="8C93A1"/>
                </a:solidFill>
                <a:latin typeface="Consolas"/>
                <a:ea typeface="Consolas"/>
                <a:cs typeface="Consolas"/>
              </a:rPr>
              <a:t>PRUÉBALA</a:t>
            </a:r>
          </a:p>
        </p:txBody>
      </p:sp>
      <p:sp>
        <p:nvSpPr>
          <p:cNvPr id="9" name="Enlace"/>
          <p:cNvSpPr txBox="1"/>
          <p:nvPr/>
        </p:nvSpPr>
        <p:spPr>
          <a:xfrm>
            <a:off x="548640" y="5010912"/>
            <a:ext cx="11094415" cy="365760"/>
          </a:xfrm>
          <a:prstGeom prst="rect">
            <a:avLst/>
          </a:prstGeom>
          <a:noFill/>
        </p:spPr>
        <p:txBody>
          <a:bodyPr wrap="square" anchor="t" lIns="0" tIns="0" rIns="0" bIns="0">
            <a:noAutofit/>
          </a:bodyPr>
          <a:lstStyle/>
          <a:p>
            <a:pPr algn="l"/>
            <a:r>
              <a:rPr sz="1600" b="0" i="0" u="sng" lang="es-PE">
                <a:solidFill>
                  <a:srgbClr val="E8EAF0"/>
                </a:solidFill>
                <a:latin typeface="Arial"/>
                <a:ea typeface="Arial"/>
                <a:cs typeface="Arial"/>
                <a:hlinkClick r:id="rId2"/>
              </a:rPr>
              <a:t>andrea-coa.github.io/data-visualization-project/deliveries/week12/app/</a:t>
            </a:r>
          </a:p>
        </p:txBody>
      </p:sp>
      <p:sp>
        <p:nvSpPr>
          <p:cNvPr id="10" name="Nota enlace"/>
          <p:cNvSpPr txBox="1"/>
          <p:nvPr/>
        </p:nvSpPr>
        <p:spPr>
          <a:xfrm>
            <a:off x="548640" y="5413248"/>
            <a:ext cx="11094415" cy="365760"/>
          </a:xfrm>
          <a:prstGeom prst="rect">
            <a:avLst/>
          </a:prstGeom>
          <a:noFill/>
        </p:spPr>
        <p:txBody>
          <a:bodyPr wrap="square" anchor="t" lIns="0" tIns="0" rIns="0" bIns="0">
            <a:noAutofit/>
          </a:bodyPr>
          <a:lstStyle/>
          <a:p>
            <a:pPr algn="l"/>
            <a:r>
              <a:rPr sz="1200" b="0" i="0" u="none" lang="es-PE">
                <a:solidFill>
                  <a:srgbClr val="8C93A1"/>
                </a:solidFill>
                <a:latin typeface="Arial"/>
                <a:ea typeface="Arial"/>
                <a:cs typeface="Arial"/>
              </a:rPr>
              <a:t>Despliegue previsto: verificar tras el push. En local: deliveries/week12/app/index.html</a:t>
            </a:r>
          </a:p>
        </p:txBody>
      </p:sp>
      <p:pic>
        <p:nvPicPr>
          <p:cNvPr id="11" name="Matriz de mapas" descr="Matriz de mapas del cuero cabelludo: NS, SD y Δ para σθ y μθ; el cambio es difuso y ningún electrodo sobrevive FDR."/>
          <p:cNvPicPr>
            <a:picLocks noChangeAspect="1"/>
          </p:cNvPicPr>
          <p:nvPr/>
        </p:nvPicPr>
        <p:blipFill>
          <a:blip r:embed="rId3"/>
          <a:stretch>
            <a:fillRect/>
          </a:stretch>
        </p:blipFill>
        <p:spPr>
          <a:xfrm>
            <a:off x="7436815" y="1737360"/>
            <a:ext cx="4206240" cy="2686735"/>
          </a:xfrm>
          <a:prstGeom prst="rect">
            <a:avLst/>
          </a:prstGeom>
          <a:ln w="9525">
            <a:solidFill>
              <a:srgbClr val="2B3140"/>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Una noche sin dormir no le pasa igual a todos (BATIMIX, Semana 12)</dc:title>
  <dc:subject>DS5343 Visualización de Datos, UTEC 2026-2</dc:subject>
  <dc:creator>BATIMIX: Jimena Gurbillon, Andrea Coa, Paolo Medrano</dc:creator>
  <cp:keywords>EEG; privación de sueño; theta; multiverso; ds004902</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es-PE</dc:language>
</cp:coreProperties>
</file>